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7.xml" ContentType="application/vnd.openxmlformats-officedocument.presentationml.tags+xml"/>
  <Override PartName="/ppt/notesSlides/notesSlide15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7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8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9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0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2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2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23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4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25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26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27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54.xml" ContentType="application/vnd.openxmlformats-officedocument.presentationml.tags+xml"/>
  <Override PartName="/ppt/notesSlides/notesSlide32.xml" ContentType="application/vnd.openxmlformats-officedocument.presentationml.notesSlide+xml"/>
  <Override PartName="/ppt/tags/tag55.xml" ContentType="application/vnd.openxmlformats-officedocument.presentationml.tags+xml"/>
  <Override PartName="/ppt/notesSlides/notesSlide33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34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35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36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37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40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41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42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43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44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notesSlides/notesSlide45.xml" ContentType="application/vnd.openxmlformats-officedocument.presentationml.notesSlide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46.xml" ContentType="application/vnd.openxmlformats-officedocument.presentationml.notesSlide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47.xml" ContentType="application/vnd.openxmlformats-officedocument.presentationml.notesSlide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48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51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52.xml" ContentType="application/vnd.openxmlformats-officedocument.presentationml.notesSlide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notesSlides/notesSlide53.xml" ContentType="application/vnd.openxmlformats-officedocument.presentationml.notesSlide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notesSlides/notesSlide54.xml" ContentType="application/vnd.openxmlformats-officedocument.presentationml.notesSlide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notesSlides/notesSlide55.xml" ContentType="application/vnd.openxmlformats-officedocument.presentationml.notesSlide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notesSlides/notesSlide56.xml" ContentType="application/vnd.openxmlformats-officedocument.presentationml.notesSlide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notesSlides/notesSlide57.xml" ContentType="application/vnd.openxmlformats-officedocument.presentationml.notesSlide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notesSlides/notesSlide58.xml" ContentType="application/vnd.openxmlformats-officedocument.presentationml.notesSlid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notesSlides/notesSlide59.xml" ContentType="application/vnd.openxmlformats-officedocument.presentationml.notesSlide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notesSlides/notesSlide60.xml" ContentType="application/vnd.openxmlformats-officedocument.presentationml.notesSlide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notesSlides/notesSlide61.xml" ContentType="application/vnd.openxmlformats-officedocument.presentationml.notesSlide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notesSlides/notesSlide62.xml" ContentType="application/vnd.openxmlformats-officedocument.presentationml.notesSlide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notesSlides/notesSlide63.xml" ContentType="application/vnd.openxmlformats-officedocument.presentationml.notesSlide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notesSlides/notesSlide64.xml" ContentType="application/vnd.openxmlformats-officedocument.presentationml.notesSlide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notesSlides/notesSlide65.xml" ContentType="application/vnd.openxmlformats-officedocument.presentationml.notesSlide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notesSlides/notesSlide66.xml" ContentType="application/vnd.openxmlformats-officedocument.presentationml.notesSlide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notesSlides/notesSlide67.xml" ContentType="application/vnd.openxmlformats-officedocument.presentationml.notesSlide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notesSlides/notesSlide68.xml" ContentType="application/vnd.openxmlformats-officedocument.presentationml.notesSlide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notesSlides/notesSlide72.xml" ContentType="application/vnd.openxmlformats-officedocument.presentationml.notesSlide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notesSlides/notesSlide75.xml" ContentType="application/vnd.openxmlformats-officedocument.presentationml.notesSlide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notesSlides/notesSlide76.xml" ContentType="application/vnd.openxmlformats-officedocument.presentationml.notesSlide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notesSlides/notesSlide77.xml" ContentType="application/vnd.openxmlformats-officedocument.presentationml.notesSlide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notesSlides/notesSlide78.xml" ContentType="application/vnd.openxmlformats-officedocument.presentationml.notesSlide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notesSlides/notesSlide81.xml" ContentType="application/vnd.openxmlformats-officedocument.presentationml.notesSlide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87"/>
  </p:notesMasterIdLst>
  <p:sldIdLst>
    <p:sldId id="256" r:id="rId2"/>
    <p:sldId id="260" r:id="rId3"/>
    <p:sldId id="261" r:id="rId4"/>
    <p:sldId id="292" r:id="rId5"/>
    <p:sldId id="293" r:id="rId6"/>
    <p:sldId id="294" r:id="rId7"/>
    <p:sldId id="297" r:id="rId8"/>
    <p:sldId id="296" r:id="rId9"/>
    <p:sldId id="295" r:id="rId10"/>
    <p:sldId id="298" r:id="rId11"/>
    <p:sldId id="299" r:id="rId12"/>
    <p:sldId id="300" r:id="rId13"/>
    <p:sldId id="303" r:id="rId14"/>
    <p:sldId id="306" r:id="rId15"/>
    <p:sldId id="307" r:id="rId16"/>
    <p:sldId id="309" r:id="rId17"/>
    <p:sldId id="310" r:id="rId18"/>
    <p:sldId id="308" r:id="rId19"/>
    <p:sldId id="311" r:id="rId20"/>
    <p:sldId id="312" r:id="rId21"/>
    <p:sldId id="313" r:id="rId22"/>
    <p:sldId id="315" r:id="rId23"/>
    <p:sldId id="317" r:id="rId24"/>
    <p:sldId id="316" r:id="rId25"/>
    <p:sldId id="319" r:id="rId26"/>
    <p:sldId id="318" r:id="rId27"/>
    <p:sldId id="320" r:id="rId28"/>
    <p:sldId id="321" r:id="rId29"/>
    <p:sldId id="302" r:id="rId30"/>
    <p:sldId id="322" r:id="rId31"/>
    <p:sldId id="337" r:id="rId32"/>
    <p:sldId id="325" r:id="rId33"/>
    <p:sldId id="324" r:id="rId34"/>
    <p:sldId id="330" r:id="rId35"/>
    <p:sldId id="327" r:id="rId36"/>
    <p:sldId id="328" r:id="rId37"/>
    <p:sldId id="329" r:id="rId38"/>
    <p:sldId id="334" r:id="rId39"/>
    <p:sldId id="338" r:id="rId40"/>
    <p:sldId id="339" r:id="rId41"/>
    <p:sldId id="343" r:id="rId42"/>
    <p:sldId id="340" r:id="rId43"/>
    <p:sldId id="344" r:id="rId44"/>
    <p:sldId id="346" r:id="rId45"/>
    <p:sldId id="347" r:id="rId46"/>
    <p:sldId id="348" r:id="rId47"/>
    <p:sldId id="357" r:id="rId48"/>
    <p:sldId id="359" r:id="rId49"/>
    <p:sldId id="356" r:id="rId50"/>
    <p:sldId id="349" r:id="rId51"/>
    <p:sldId id="350" r:id="rId52"/>
    <p:sldId id="360" r:id="rId53"/>
    <p:sldId id="351" r:id="rId54"/>
    <p:sldId id="361" r:id="rId55"/>
    <p:sldId id="362" r:id="rId56"/>
    <p:sldId id="365" r:id="rId57"/>
    <p:sldId id="363" r:id="rId58"/>
    <p:sldId id="366" r:id="rId59"/>
    <p:sldId id="367" r:id="rId60"/>
    <p:sldId id="368" r:id="rId61"/>
    <p:sldId id="369" r:id="rId62"/>
    <p:sldId id="370" r:id="rId63"/>
    <p:sldId id="371" r:id="rId64"/>
    <p:sldId id="372" r:id="rId65"/>
    <p:sldId id="373" r:id="rId66"/>
    <p:sldId id="374" r:id="rId67"/>
    <p:sldId id="375" r:id="rId68"/>
    <p:sldId id="379" r:id="rId69"/>
    <p:sldId id="380" r:id="rId70"/>
    <p:sldId id="381" r:id="rId71"/>
    <p:sldId id="382" r:id="rId72"/>
    <p:sldId id="383" r:id="rId73"/>
    <p:sldId id="384" r:id="rId74"/>
    <p:sldId id="385" r:id="rId75"/>
    <p:sldId id="386" r:id="rId76"/>
    <p:sldId id="387" r:id="rId77"/>
    <p:sldId id="388" r:id="rId78"/>
    <p:sldId id="389" r:id="rId79"/>
    <p:sldId id="390" r:id="rId80"/>
    <p:sldId id="391" r:id="rId81"/>
    <p:sldId id="392" r:id="rId82"/>
    <p:sldId id="396" r:id="rId83"/>
    <p:sldId id="393" r:id="rId84"/>
    <p:sldId id="394" r:id="rId85"/>
    <p:sldId id="395" r:id="rId8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67" userDrawn="1">
          <p15:clr>
            <a:srgbClr val="A4A3A4"/>
          </p15:clr>
        </p15:guide>
        <p15:guide id="2" pos="55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EE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EF0527-0634-4AFF-B03C-50418C239752}">
  <a:tblStyle styleId="{8AEF0527-0634-4AFF-B03C-50418C2397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349A11F-3E6F-439E-BAC0-356F5AEB264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29"/>
    <p:restoredTop sz="94582"/>
  </p:normalViewPr>
  <p:slideViewPr>
    <p:cSldViewPr snapToGrid="0">
      <p:cViewPr>
        <p:scale>
          <a:sx n="102" d="100"/>
          <a:sy n="102" d="100"/>
        </p:scale>
        <p:origin x="144" y="1016"/>
      </p:cViewPr>
      <p:guideLst>
        <p:guide orient="horz" pos="2867"/>
        <p:guide pos="55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8300ce3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8300ce3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3 </a:t>
            </a:r>
            <a:r>
              <a:rPr lang="pt-PT" dirty="0" err="1"/>
              <a:t>parts</a:t>
            </a: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*</a:t>
            </a:r>
            <a:r>
              <a:rPr lang="pt-PT" dirty="0" err="1"/>
              <a:t>Partial</a:t>
            </a:r>
            <a:r>
              <a:rPr lang="pt-PT" dirty="0"/>
              <a:t> </a:t>
            </a:r>
            <a:r>
              <a:rPr lang="pt-PT" dirty="0" err="1"/>
              <a:t>Proof</a:t>
            </a:r>
            <a:r>
              <a:rPr lang="pt-PT" dirty="0"/>
              <a:t> </a:t>
            </a:r>
            <a:r>
              <a:rPr lang="pt-PT" dirty="0" err="1"/>
              <a:t>Terms</a:t>
            </a:r>
            <a:r>
              <a:rPr lang="pt-PT" dirty="0"/>
              <a:t>*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7e906a12e_0_140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7e906a12e_0_140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5045E3AD-E614-2D01-F5FB-2F2BDF944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7C2FCF05-2984-F534-49EA-C6A3EB68A3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42BB3918-5C0A-DDA0-3E75-63D2FD518B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2289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37122C91-2BA2-FE27-AA92-7312ED417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8C959886-B200-563E-43E3-8028A908EB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8ADE1ECD-9588-B88C-10CC-2AA88B9FA4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134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2FD2B807-0557-5015-37E9-CDECC08F4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99058E24-C84C-2EE2-63B6-33121763A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C199E873-C9BF-299E-61EA-90158B418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2102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E9BE56D0-3386-3334-D92C-2FF2E3AB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B274040D-9BBE-09EA-C74C-687B2A5EA1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99F89832-41CA-1150-B860-67AF7B84B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460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162EFFEE-C991-86FA-9C65-B96E2FA8C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65774DB7-A82B-3F2E-ABDB-FD1D644062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D2A28BD7-FF94-70F8-8410-D63C6C4551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80986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9D6A37F3-7A0E-9BAA-1EDE-B17D6D965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56F2C3C5-13AB-8DFC-9662-626966E496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D366E74E-07E1-B080-1090-3387315D5D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112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E54AD1C1-0383-640B-028E-593C3A2DC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5A69C430-8A81-F8E1-F271-68BFEBE7A0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503EF42D-D640-E719-F0A6-01E667A007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65806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8342458B-2D10-3111-8244-6F5B8661B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F97AFDEE-3FDC-D674-1709-057E088946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BB01A195-E799-F525-0A19-E71E34ED0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Formal </a:t>
            </a:r>
            <a:r>
              <a:rPr lang="en-GB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sequents</a:t>
            </a: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- </a:t>
            </a:r>
            <a:r>
              <a:rPr lang="en-GB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sequents</a:t>
            </a: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occuring</a:t>
            </a: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as components of proof terms; </a:t>
            </a:r>
          </a:p>
          <a:p>
            <a:endParaRPr lang="en-GB" dirty="0">
              <a:effectLst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8091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FDDA0562-DD73-DAA8-6E9D-3FE3491E5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EDFE3908-E8DB-412A-A42D-5E697B6AAD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30EA4616-0982-186A-3027-95A996CF0C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9856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91A8785F-8F01-6111-1192-5935E6DF5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705233AC-5110-CF31-34EF-1AFA5BC06D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EB08DAE9-0A8E-D8F2-0DDC-735E9259A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THEORETICAL study of proof search without considerations of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GB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control,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effectiveness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implementation. </a:t>
            </a:r>
            <a:endParaRPr lang="en-GB" dirty="0">
              <a:effectLst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43782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AF5CC7F8-25E5-15D9-4E26-DA677E52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81705649-B989-A08E-7089-215892D324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7D81E643-A5CB-22F4-65DF-A1C9FCF39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8542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26DC80B8-C729-C003-533D-8DE169D7D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52B33549-9112-ED38-43F2-3F376F0F51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32A822CE-8C45-1219-673D-D180F971CF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85755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19B3A48B-0F2B-AEF9-02A5-4DF5A0FDE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A2A597EF-8261-1E4C-7947-84DD3E2EF1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9A0BACA2-91D8-F5F0-D603-533110923B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322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639C3C0D-8458-F731-F5F6-434A2C53C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DC4664E5-4901-5DC2-FE4A-0BFADF733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8C8BC5B6-70E7-C71E-27A3-C4A0B0E189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11636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DA69BC5F-4805-1698-7DCC-A3AF6378C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37148EBF-74ED-0878-EE43-A5288E3AAB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BFF4DF44-CFD5-D267-0E61-9BF93EB4BE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17241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ADDE3845-7B1A-D8DF-A97E-AA8341C7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7CF31C06-ACCF-49D3-B1D8-3A30B8EDDE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4C56A321-ED33-88EE-50A8-3B8C352124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17786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858FE33C-232A-D059-4AE3-8327E9F6A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E8D43268-0CFC-B96F-99E4-919441701B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0B295AC5-57F0-2310-B824-841B8FD812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02309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A41151CB-E000-CFA5-5E94-3C494113B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52DA1BA6-4BA3-93B8-6352-9664E3F5A0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DBB2D6F7-B06B-EA05-13E3-78400366F4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69450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09F2211C-28E1-C49D-2C10-386B67C72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31B4F0A7-B3A7-AE2F-622E-3B68E4D894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FF427F14-749E-A5FD-E3C4-7B3386A415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53506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D5876172-5B7B-6C38-B9F9-B76347EEE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61841BE2-0B88-0281-7E8B-699F5E206A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25BF0B32-1F34-8ADB-6447-8F2A166495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96498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1CBDC6CA-5747-7702-733C-EC24A583D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8A9CE0CB-7224-CA69-3165-8F85711475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32E5BA18-0C36-DBD7-2B8B-9CC16D8188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76743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3BBE8498-0672-71F3-4281-D48061CA9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724545A0-37FD-0852-C077-45548AF165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63BA5E1F-A819-F491-7A59-E6D66FDCD5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08536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73A2A99A-609C-38BE-1B78-03FBC92C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C1C15E47-B059-813A-616A-FDCA515C4B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C112E0AF-9BAF-2793-90DF-0090505731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65430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B8DB41C5-317C-6C4C-EFAC-85A454000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C8E403F7-CB00-C3CF-2295-B181FAAD42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50CA5738-3B5C-5DCF-7AC5-BC3367107C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48422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AD873D19-097B-1055-E382-51D085A0A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A84DB498-15C9-51A9-1D21-B8C1FEF020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C4994001-9B06-36CF-8E7C-36616EE219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Understand</a:t>
            </a:r>
            <a:r>
              <a:rPr lang="pt-PT" dirty="0"/>
              <a:t> </a:t>
            </a:r>
            <a:r>
              <a:rPr lang="pt-PT" dirty="0" err="1"/>
              <a:t>if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isomorphism</a:t>
            </a:r>
            <a:r>
              <a:rPr lang="pt-PT" dirty="0"/>
              <a:t> </a:t>
            </a:r>
            <a:r>
              <a:rPr lang="pt-PT" dirty="0" err="1"/>
              <a:t>extends</a:t>
            </a:r>
            <a:r>
              <a:rPr lang="pt-PT" dirty="0"/>
              <a:t> to </a:t>
            </a:r>
            <a:r>
              <a:rPr lang="pt-PT" dirty="0" err="1"/>
              <a:t>classical</a:t>
            </a:r>
            <a:r>
              <a:rPr lang="pt-PT" dirty="0"/>
              <a:t> </a:t>
            </a:r>
            <a:r>
              <a:rPr lang="pt-PT" dirty="0" err="1"/>
              <a:t>logic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75988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D8F8E141-877F-446C-CFCB-B62BDE4A0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7e906a12e_0_14008:notes">
            <a:extLst>
              <a:ext uri="{FF2B5EF4-FFF2-40B4-BE49-F238E27FC236}">
                <a16:creationId xmlns:a16="http://schemas.microsoft.com/office/drawing/2014/main" id="{E751EF1E-5465-8C17-39F5-BDF25F85D4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7e906a12e_0_14008:notes">
            <a:extLst>
              <a:ext uri="{FF2B5EF4-FFF2-40B4-BE49-F238E27FC236}">
                <a16:creationId xmlns:a16="http://schemas.microsoft.com/office/drawing/2014/main" id="{A8E1BE33-98C8-DDF0-BC5C-386583306D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46791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6EED8575-236F-3706-15C5-5271DA844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43BE6643-DA88-B4EF-6B5B-75DA5E33AF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B06FFC21-6754-F0AC-F4E8-5C79149E86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Overview</a:t>
            </a:r>
            <a:r>
              <a:rPr lang="pt-PT" dirty="0"/>
              <a:t> - </a:t>
            </a:r>
            <a:r>
              <a:rPr lang="pt-PT" dirty="0" err="1"/>
              <a:t>have</a:t>
            </a:r>
            <a:r>
              <a:rPr lang="pt-PT" dirty="0"/>
              <a:t> a </a:t>
            </a:r>
            <a:r>
              <a:rPr lang="pt-PT" dirty="0" err="1"/>
              <a:t>big</a:t>
            </a:r>
            <a:r>
              <a:rPr lang="pt-PT" dirty="0"/>
              <a:t> </a:t>
            </a:r>
            <a:r>
              <a:rPr lang="pt-PT" dirty="0" err="1"/>
              <a:t>picture</a:t>
            </a: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88145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941667F7-9931-1C0B-4885-694644008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3061A3C1-11EA-DF4A-355C-185257891B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EB40E495-6E0E-EEDD-58C3-D71D4AA0D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6984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8BFFA24B-4B6B-E5A9-A3C7-82C309304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7FCC944C-C375-F721-CBDB-D558E37E50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EC717165-8F63-70E5-DECC-3ED73FB7B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PROPOSITIONAL VARS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absurdity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96243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3CDD32F1-9738-FBBB-37CC-F46024EA1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0804FEC4-4932-AA70-3DEB-4671386D19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F36EE55D-9250-7B61-48C2-7E12615124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31396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E55124A2-BE2B-9D0F-206E-94B76A27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C533E519-A8DF-4C34-8A7F-BF06C6C9BC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77231FD6-FC61-B697-0F1E-AEE581148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Gamma</a:t>
            </a:r>
            <a:r>
              <a:rPr lang="pt-PT" dirty="0"/>
              <a:t> - set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pairs</a:t>
            </a:r>
            <a:r>
              <a:rPr lang="pt-PT" dirty="0"/>
              <a:t> (</a:t>
            </a:r>
            <a:r>
              <a:rPr lang="pt-PT" dirty="0" err="1"/>
              <a:t>variable</a:t>
            </a:r>
            <a:r>
              <a:rPr lang="pt-PT" dirty="0"/>
              <a:t>, formula)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Delta - set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pairs</a:t>
            </a:r>
            <a:r>
              <a:rPr lang="pt-PT" dirty="0"/>
              <a:t> (</a:t>
            </a:r>
            <a:r>
              <a:rPr lang="pt-PT" dirty="0" err="1"/>
              <a:t>co-variable</a:t>
            </a:r>
            <a:r>
              <a:rPr lang="pt-PT" dirty="0"/>
              <a:t>, formula)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63717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4E645B20-EAAC-A5E6-1AB3-6413E0F13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DC18B7D5-799E-CD79-E27E-15DC47068E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D0C1098F-58DE-0B22-418C-78A78CD875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Selected</a:t>
            </a:r>
            <a:r>
              <a:rPr lang="pt-PT" dirty="0"/>
              <a:t> </a:t>
            </a:r>
            <a:r>
              <a:rPr lang="pt-PT" dirty="0" err="1"/>
              <a:t>conclusion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RHS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98454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FB93E548-BB40-2D7C-3AE1-EB5F97D7C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A406E2C4-7CFD-6A31-2D58-0C521823B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C4273733-382A-EFE8-1D75-68C18C90E7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Focused</a:t>
            </a:r>
            <a:r>
              <a:rPr lang="pt-PT" dirty="0"/>
              <a:t> formula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LHS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69984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E275DA65-2E8F-F66E-1B37-89755392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E232D2AE-6C86-37FE-6183-30C82B1129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19B8DA6F-73FC-7785-9C8F-1F90EA9CB9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RCTR - A \</a:t>
            </a:r>
            <a:r>
              <a:rPr lang="pt-PT" dirty="0" err="1"/>
              <a:t>imp</a:t>
            </a:r>
            <a:r>
              <a:rPr lang="pt-PT" dirty="0"/>
              <a:t> B </a:t>
            </a:r>
            <a:r>
              <a:rPr lang="pt-PT" dirty="0" err="1"/>
              <a:t>introduced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then</a:t>
            </a:r>
            <a:r>
              <a:rPr lang="pt-PT" dirty="0"/>
              <a:t> </a:t>
            </a:r>
            <a:r>
              <a:rPr lang="pt-PT" dirty="0" err="1"/>
              <a:t>contracted</a:t>
            </a:r>
            <a:r>
              <a:rPr lang="pt-PT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16812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D20EF482-3A5A-1AFD-6BA0-9036E29E3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A22E0313-D177-6C38-22A4-3D12A8A491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21E2523D-6B8E-321F-5A2D-4666FF56F2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terms</a:t>
            </a: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commands</a:t>
            </a: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lists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44310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99DA5B67-FDD7-FEB4-3220-82CBE90DE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FBAF47F3-C640-AB2B-762F-4390794A2A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0F72D78D-6050-84DA-DC86-926CA82070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73624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8CBEAFDB-CD24-FAA5-33A2-1209BD271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04ED6917-E90C-810E-C12F-E95743C172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97DA9DF1-BA53-D7F1-BDC1-12187CF33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27189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BF131A43-EBEB-94FE-34DC-FB9E7E89A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C511E94D-0C51-902D-3D41-35338C0EAA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0DB3BB79-6EC7-615B-8814-2373767B8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31691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EFB39FAA-45E3-7568-F322-0EAAF64F4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667559BA-61B9-4C9B-2856-0DED29CEF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0B3C163E-691E-FF18-B9CC-FDE4BAAA4E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09432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3C57733E-B36B-AD2C-2544-9D104811F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ED229D57-D84D-4B76-7515-AFAA991965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DCD4A24F-35BF-0F41-46C1-B0D990FE0C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Partial</a:t>
            </a:r>
            <a:r>
              <a:rPr lang="pt-PT" dirty="0"/>
              <a:t> </a:t>
            </a:r>
            <a:r>
              <a:rPr lang="pt-PT" dirty="0" err="1"/>
              <a:t>System</a:t>
            </a:r>
            <a:r>
              <a:rPr lang="pt-PT" dirty="0"/>
              <a:t> to </a:t>
            </a:r>
            <a:r>
              <a:rPr lang="pt-PT" dirty="0" err="1"/>
              <a:t>deal</a:t>
            </a:r>
            <a:r>
              <a:rPr lang="pt-PT" dirty="0"/>
              <a:t> </a:t>
            </a:r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dirty="0" err="1"/>
              <a:t>partial</a:t>
            </a:r>
            <a:r>
              <a:rPr lang="pt-PT" dirty="0"/>
              <a:t> </a:t>
            </a:r>
            <a:r>
              <a:rPr lang="pt-PT" dirty="0" err="1"/>
              <a:t>derivations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06809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115E5CD5-D578-6989-A682-6D8412365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C5BF8F2B-D2BE-1E1F-BED1-FED5537808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73DD19F8-C29F-4824-2C84-E6A9B596EB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Partial Proof Terms: proof terms with occurrences of formal </a:t>
            </a:r>
            <a:r>
              <a:rPr lang="en-GB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sequents</a:t>
            </a: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; </a:t>
            </a:r>
            <a:endParaRPr lang="en-GB" dirty="0">
              <a:effectLst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22548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A2BA51A3-F172-E120-678D-DD7F2D9D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80BD97D6-3B73-9E2D-17E0-00227EE2C5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45228A8C-6A1A-31C0-3BEB-FF78137C85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LHS - set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proof</a:t>
            </a:r>
            <a:r>
              <a:rPr lang="pt-PT" dirty="0"/>
              <a:t> </a:t>
            </a:r>
            <a:r>
              <a:rPr lang="pt-PT" dirty="0" err="1"/>
              <a:t>obligations</a:t>
            </a: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partial</a:t>
            </a:r>
            <a:r>
              <a:rPr lang="pt-PT" dirty="0"/>
              <a:t> </a:t>
            </a:r>
            <a:r>
              <a:rPr lang="pt-PT" dirty="0" err="1"/>
              <a:t>proof</a:t>
            </a:r>
            <a:r>
              <a:rPr lang="pt-PT" dirty="0"/>
              <a:t> </a:t>
            </a:r>
            <a:r>
              <a:rPr lang="pt-PT" dirty="0" err="1"/>
              <a:t>term</a:t>
            </a:r>
            <a:r>
              <a:rPr lang="pt-PT" dirty="0"/>
              <a:t> - record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search</a:t>
            </a: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type</a:t>
            </a:r>
            <a:r>
              <a:rPr lang="pt-PT" dirty="0"/>
              <a:t> - </a:t>
            </a:r>
            <a:r>
              <a:rPr lang="pt-PT" dirty="0" err="1"/>
              <a:t>goal</a:t>
            </a:r>
            <a:r>
              <a:rPr lang="pt-PT" dirty="0"/>
              <a:t> </a:t>
            </a:r>
            <a:r>
              <a:rPr lang="pt-PT" dirty="0" err="1"/>
              <a:t>sequent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106688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38653CE5-DB9C-CB2A-0E32-40EC9E006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6E70F59F-42EA-52E3-B78A-5356E5D65B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BB38AFD2-DFE4-8C28-F015-48888CB4ED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Partial derivations - LJT∂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GB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formalize incomplete proofs found in the proof search process =&gt; need inference rules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85670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4B6C79C5-028A-0574-64FA-6288F3AF6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307C8138-22F6-E832-25CF-52613B7140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022EA264-B01E-3B12-EF49-38C22BAFCB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36011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865D1386-5739-E799-E396-32DFC1407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49D506F6-F442-0F6A-4615-755107B61C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B226ECE6-8205-AC8A-1343-384F5ED240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Proof</a:t>
            </a:r>
            <a:r>
              <a:rPr lang="pt-PT" dirty="0"/>
              <a:t> </a:t>
            </a:r>
            <a:r>
              <a:rPr lang="pt-PT" dirty="0" err="1"/>
              <a:t>obligations</a:t>
            </a:r>
            <a:r>
              <a:rPr lang="pt-PT" dirty="0"/>
              <a:t> are </a:t>
            </a:r>
            <a:r>
              <a:rPr lang="pt-PT" dirty="0" err="1"/>
              <a:t>created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467672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0078F71B-36A1-27EB-7C48-3F7A6FF82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E6DF400D-57D0-4548-D08A-1BD0EF586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DE01607E-C9C1-433F-674B-853C1041D7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162128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A6F2E0F0-7171-B23A-66B3-C529FF6B4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3AFB771F-6C00-15E8-11F4-B7DAA32B0B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95BB6188-DABA-2952-2720-271C39C886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631863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EBF7A4C3-F0D9-FC8B-27A2-03860EA11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F616B277-86E0-8D9B-35D0-E95C8E865D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D645F3B7-9469-E420-0E38-BD1E1A2DF0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GB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GB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Redexes</a:t>
            </a: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are formal </a:t>
            </a:r>
            <a:r>
              <a:rPr lang="en-GB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sequents</a:t>
            </a: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b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• Reduction builds the record of the search. </a:t>
            </a:r>
            <a:endParaRPr lang="en-GB" dirty="0">
              <a:effectLst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• One reduction rule for each inference rule;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b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• The reduction rule tells how to use the inference rule during proof search;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263557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D839B601-2806-F5AB-259F-57DC902F3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8E130574-C01A-12B3-63B9-B755A2B4C8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656BCCF9-0D33-F30E-5B78-0F053C2C18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80130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E6694DDC-BAEB-3441-7B09-93C45CD38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0CA53664-EFFF-A52A-1A32-7786A10DE9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BF29E7E2-3772-AD6C-7CCD-0E7C49CEBF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504925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223849B7-679C-1776-9A21-53DF1FF8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B30ADFA0-B002-C8F2-2C3E-79AB1908F3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0C89257E-EB19-8156-953C-460957CB26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487783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3B29849D-FC78-DBA5-C1EC-2AB2BD663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696377A0-653E-3D5B-3887-AE4640CF41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B87126F5-BB6F-060C-835E-B02FB3F294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849012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3A938EEC-E779-EB39-9608-B45F757F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E81E43DB-DD04-12B9-BFA9-DA4DA54A0B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3BB1A24F-8ADC-56DD-4851-0B0ED113F4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265122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878DE98A-A836-0760-B66E-8B9CCB373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664DA811-5680-F6BC-8A60-3D9630F972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A9651F81-D4C4-2196-1286-527A9090E5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202373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06A8D67F-53D5-1E49-134E-8A7CFCE29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766C5B16-41B5-2488-8181-67F63A188B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F2E0E6C7-B646-4091-F0E8-676033DD58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663987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9302A376-D1ED-1D66-AA5A-AE2010CCA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E4263F95-B662-856E-1216-03CAEECBB9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DB5FC932-73AC-678F-5121-A8BE188196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533478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65B0BDD9-5FF6-B067-0211-6DE96AB02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594B6B07-6177-439E-EFFA-332193CDAA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F69132C5-9EA6-CAA0-537A-5253CD6C36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45413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DD595D3E-2196-1ECB-D804-9F8AA43D3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35140DA9-DE57-62B0-DBDF-4B1D924F09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E54D2C24-19F3-0B44-281B-5D891703B3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348025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27181D70-CFE3-E18C-1D32-6BCA3B19B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C7051ED3-BF3D-C0C7-21B0-5739B0A0B3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DA818EF9-89A9-F33C-4967-F72E744ED8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81092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469C1EA8-D480-E54F-1570-A3CFBA44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10C35C5A-9B77-0E96-349F-BEB8606EE3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37EC2A7C-6EB8-8016-3A40-E4F9EDFB87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311172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BBFFC411-0016-8FBE-B6E3-FD4D242D2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55D1B386-1A62-EF64-1B11-DF1A0D257A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D2C846B9-F9A1-CE8A-508B-035FD9F8E8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800808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EA316739-C193-11F0-5D67-341845166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E0CFA5D1-2010-8B83-37C5-F71CDD242F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09B9C427-8CD8-26BB-8067-727C0248B1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005144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C54CF897-0F56-1E1A-49DC-2AC5391D4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4E9C44D2-CB11-4CE9-9F3A-8BDE4AA230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7E73A1B8-4529-3786-5D44-BF996AABF9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530426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11680A77-20C3-6163-7F28-ABB246E5A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8DDFA2C7-2C57-D177-3D97-C945478DD6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B49B0EFF-74C4-B6B0-B2BA-4EF05EFFE2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total </a:t>
            </a:r>
            <a:r>
              <a:rPr lang="pt-PT" dirty="0" err="1"/>
              <a:t>term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423362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DBD9A8DA-2652-5553-F0A8-1A0C2F75C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9D6B4366-5730-A89E-8556-A1759A013B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AC9CA4BD-70F2-5206-D9B2-20A1D2BC9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Derivability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partial</a:t>
            </a:r>
            <a:r>
              <a:rPr lang="pt-PT" dirty="0"/>
              <a:t> </a:t>
            </a:r>
            <a:r>
              <a:rPr lang="pt-PT" dirty="0" err="1"/>
              <a:t>derivability</a:t>
            </a:r>
            <a:r>
              <a:rPr lang="pt-PT" dirty="0"/>
              <a:t> </a:t>
            </a:r>
            <a:r>
              <a:rPr lang="pt-PT" dirty="0" err="1"/>
              <a:t>from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empty</a:t>
            </a:r>
            <a:r>
              <a:rPr lang="pt-PT" dirty="0"/>
              <a:t> set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proof</a:t>
            </a:r>
            <a:r>
              <a:rPr lang="pt-PT" dirty="0"/>
              <a:t> </a:t>
            </a:r>
            <a:r>
              <a:rPr lang="pt-PT" dirty="0" err="1"/>
              <a:t>obligations</a:t>
            </a:r>
            <a:r>
              <a:rPr lang="pt-PT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pt-PT" dirty="0" err="1"/>
              <a:t>If</a:t>
            </a:r>
            <a:r>
              <a:rPr lang="pt-PT" dirty="0"/>
              <a:t> a </a:t>
            </a:r>
            <a:r>
              <a:rPr lang="pt-PT" dirty="0" err="1"/>
              <a:t>sequent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derivable</a:t>
            </a:r>
            <a:r>
              <a:rPr lang="pt-PT" dirty="0"/>
              <a:t> in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partial</a:t>
            </a:r>
            <a:r>
              <a:rPr lang="pt-PT" dirty="0"/>
              <a:t> </a:t>
            </a:r>
            <a:r>
              <a:rPr lang="pt-PT" dirty="0" err="1"/>
              <a:t>system</a:t>
            </a:r>
            <a:r>
              <a:rPr lang="pt-PT" dirty="0"/>
              <a:t>, </a:t>
            </a:r>
            <a:r>
              <a:rPr lang="pt-PT" dirty="0" err="1"/>
              <a:t>then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proof</a:t>
            </a:r>
            <a:r>
              <a:rPr lang="pt-PT" dirty="0"/>
              <a:t> </a:t>
            </a:r>
            <a:r>
              <a:rPr lang="pt-PT" dirty="0" err="1"/>
              <a:t>term</a:t>
            </a:r>
            <a:r>
              <a:rPr lang="pt-PT" dirty="0"/>
              <a:t> t records a </a:t>
            </a:r>
            <a:r>
              <a:rPr lang="pt-PT" dirty="0" err="1"/>
              <a:t>run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proof</a:t>
            </a:r>
            <a:r>
              <a:rPr lang="pt-PT" dirty="0"/>
              <a:t> </a:t>
            </a:r>
            <a:r>
              <a:rPr lang="pt-PT" dirty="0" err="1"/>
              <a:t>search</a:t>
            </a:r>
            <a:r>
              <a:rPr lang="pt-PT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678505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EB489293-0EC8-AE58-CD06-950F10E89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8EEE6D47-2828-4037-8C9D-739EEA10E1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530ADF07-3750-E913-50AE-808103DE42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755915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B091B167-60B5-C1C1-C19A-BD342E3DF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7e906a12e_0_14008:notes">
            <a:extLst>
              <a:ext uri="{FF2B5EF4-FFF2-40B4-BE49-F238E27FC236}">
                <a16:creationId xmlns:a16="http://schemas.microsoft.com/office/drawing/2014/main" id="{834204FE-04A1-6DCE-4B8D-E4BEB1B45A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7e906a12e_0_14008:notes">
            <a:extLst>
              <a:ext uri="{FF2B5EF4-FFF2-40B4-BE49-F238E27FC236}">
                <a16:creationId xmlns:a16="http://schemas.microsoft.com/office/drawing/2014/main" id="{FF8EEAD0-79CA-D71D-6004-67F93653D8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164122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EA765768-B7CB-8182-FB77-E09C24321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DC198646-D321-48D9-B5B5-6CC88D6F39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ABD6304D-13CA-FA48-722B-AF6326CE26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075717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3CEE56C1-1674-6519-145E-56A0685F0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A8110AD3-F1EF-4158-B967-0CE1A9CFC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016F0DC2-2A8D-D3CC-BDC1-56E3FCF227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597394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9F4447E6-AAF6-C3BE-9599-8DAEDBFA0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49343CF5-9E63-0864-7F70-5B01D30708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CFC3DA2B-C1C2-1965-0F63-4A6A22AEB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terms</a:t>
            </a:r>
            <a:r>
              <a:rPr lang="pt-PT" dirty="0"/>
              <a:t> 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statements</a:t>
            </a:r>
            <a:r>
              <a:rPr lang="pt-PT" dirty="0"/>
              <a:t> 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neutral </a:t>
            </a:r>
            <a:r>
              <a:rPr lang="pt-PT" dirty="0" err="1"/>
              <a:t>terms</a:t>
            </a:r>
            <a:r>
              <a:rPr lang="pt-PT" dirty="0"/>
              <a:t> 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01964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714F563D-FCA6-EB7B-3E4D-8D9C6EAF7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AA1CB584-0B04-9D02-B3C8-A7EF7E2138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972166CE-19C2-1ECF-ACC6-34E86D2C92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961580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215FFA16-FD33-4CFC-6FC8-F45D0F16A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7D013B85-37C5-1656-56F6-D16FF09973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0A474838-9B0D-A055-4BB6-83BAA4231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259274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AE598086-F400-DF4D-B2BE-DE86EC8E7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5ED84611-1657-9CA6-BAA9-0638D74861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90D2389A-BBC1-B10A-3576-FE84CBB4B7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128279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0C177E7D-9481-B208-6E44-FCDD76D0F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3782BB6B-859E-4EBD-835B-FF4D5F092D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91D3131A-5BAC-46A3-0209-A955AE7516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986470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FC39E856-2D02-5E79-6D0B-6DC25736E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07D387E3-F2BA-9797-6E4E-20F2960532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5DB375E9-CD61-A6DE-34C6-BD418B2C5A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312201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C92D3767-D15D-2080-30A9-0043C36F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44FD013F-53A0-801B-611F-B62BF4875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770ED1D3-118D-E7CD-552F-6E34AD7CBC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Proof Terms - one kind of formal sequent does not constitute, by itself, a partial proof term </a:t>
            </a:r>
            <a:endParaRPr lang="en-GB" dirty="0">
              <a:effectLst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/>
              <a:t>ab</a:t>
            </a:r>
            <a:r>
              <a:rPr lang="pt-PT" dirty="0"/>
              <a:t>(H,\</a:t>
            </a:r>
            <a:r>
              <a:rPr lang="pt-PT" dirty="0" err="1"/>
              <a:t>rho</a:t>
            </a:r>
            <a:r>
              <a:rPr lang="pt-PT" dirty="0"/>
              <a:t>) gap </a:t>
            </a:r>
            <a:r>
              <a:rPr lang="pt-PT" dirty="0" err="1"/>
              <a:t>between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sequent</a:t>
            </a:r>
            <a:r>
              <a:rPr lang="pt-PT" dirty="0"/>
              <a:t> </a:t>
            </a:r>
            <a:r>
              <a:rPr lang="pt-PT" dirty="0" err="1"/>
              <a:t>rho</a:t>
            </a:r>
            <a:r>
              <a:rPr lang="pt-PT" dirty="0"/>
              <a:t> </a:t>
            </a:r>
            <a:r>
              <a:rPr lang="pt-PT" dirty="0" err="1"/>
              <a:t>obtained</a:t>
            </a:r>
            <a:r>
              <a:rPr lang="pt-PT" dirty="0"/>
              <a:t> </a:t>
            </a:r>
            <a:r>
              <a:rPr lang="pt-PT" dirty="0" err="1"/>
              <a:t>according</a:t>
            </a:r>
            <a:r>
              <a:rPr lang="pt-PT" dirty="0"/>
              <a:t> to H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sequent</a:t>
            </a:r>
            <a:r>
              <a:rPr lang="pt-PT" dirty="0"/>
              <a:t> </a:t>
            </a:r>
            <a:r>
              <a:rPr lang="pt-PT" dirty="0" err="1"/>
              <a:t>Gamma</a:t>
            </a:r>
            <a:r>
              <a:rPr lang="pt-PT" dirty="0"/>
              <a:t> \</a:t>
            </a:r>
            <a:r>
              <a:rPr lang="pt-PT" dirty="0" err="1"/>
              <a:t>vdash</a:t>
            </a:r>
            <a:r>
              <a:rPr lang="pt-PT" dirty="0"/>
              <a:t> delta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275151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39D5D387-AFB3-EE1B-BC65-74062D654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4C01A149-9EC2-2D71-EB87-38DB98273A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EAC0B75D-F888-7AE5-8DE5-5D69C0246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920077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EC8D8C14-BBCF-3AEB-7AD7-3C01B89D8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9B092A86-821C-5048-23E0-6B13FB4BEB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83400063-1CE2-7363-1803-EE923606A9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Some </a:t>
            </a:r>
            <a:r>
              <a:rPr lang="en-GB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redexes</a:t>
            </a: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are not formal </a:t>
            </a:r>
            <a:r>
              <a:rPr lang="en-GB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sequents</a:t>
            </a: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endParaRPr lang="en-GB" dirty="0">
              <a:effectLst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694266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D6FDAA45-61D8-785D-B646-FE3E200A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850D988E-29DF-A9EC-FCBA-438B7530B9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78C193E9-0A49-4B78-CB8E-E030932625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81207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E38B046D-7033-7ED3-E404-20FFB2B7F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7e906a12e_0_14008:notes">
            <a:extLst>
              <a:ext uri="{FF2B5EF4-FFF2-40B4-BE49-F238E27FC236}">
                <a16:creationId xmlns:a16="http://schemas.microsoft.com/office/drawing/2014/main" id="{85094157-DD42-5D46-6D0A-B2C270889F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7e906a12e_0_14008:notes">
            <a:extLst>
              <a:ext uri="{FF2B5EF4-FFF2-40B4-BE49-F238E27FC236}">
                <a16:creationId xmlns:a16="http://schemas.microsoft.com/office/drawing/2014/main" id="{FC0B1694-4AEF-7070-E98B-DAAD96AD76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806584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FEB667A1-AF4B-1CA7-985B-C8FADDFA4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>
            <a:extLst>
              <a:ext uri="{FF2B5EF4-FFF2-40B4-BE49-F238E27FC236}">
                <a16:creationId xmlns:a16="http://schemas.microsoft.com/office/drawing/2014/main" id="{C6C98BCA-05A7-5C60-1F32-FDEC25F90B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>
            <a:extLst>
              <a:ext uri="{FF2B5EF4-FFF2-40B4-BE49-F238E27FC236}">
                <a16:creationId xmlns:a16="http://schemas.microsoft.com/office/drawing/2014/main" id="{6E4F4C9A-749A-4692-D05A-2844780449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050231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BD23ADA5-0656-A886-3FBF-4F2BD77D0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7e906a12e_0_14008:notes">
            <a:extLst>
              <a:ext uri="{FF2B5EF4-FFF2-40B4-BE49-F238E27FC236}">
                <a16:creationId xmlns:a16="http://schemas.microsoft.com/office/drawing/2014/main" id="{E2AFB870-2E48-A106-F2FD-41F806546A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7e906a12e_0_14008:notes">
            <a:extLst>
              <a:ext uri="{FF2B5EF4-FFF2-40B4-BE49-F238E27FC236}">
                <a16:creationId xmlns:a16="http://schemas.microsoft.com/office/drawing/2014/main" id="{DFEC2BF1-76D3-DF2F-BC85-FC5211474D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3140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066800"/>
            <a:ext cx="5407800" cy="16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6" y="3395547"/>
            <a:ext cx="63501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22376" y="984098"/>
            <a:ext cx="1235700" cy="87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713225" y="448050"/>
            <a:ext cx="36813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713225" y="1744525"/>
            <a:ext cx="3681300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>
            <a:spLocks noGrp="1"/>
          </p:cNvSpPr>
          <p:nvPr>
            <p:ph type="pic" idx="2"/>
          </p:nvPr>
        </p:nvSpPr>
        <p:spPr>
          <a:xfrm>
            <a:off x="4709525" y="445775"/>
            <a:ext cx="3721200" cy="4251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88150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subTitle" idx="1"/>
          </p:nvPr>
        </p:nvSpPr>
        <p:spPr>
          <a:xfrm>
            <a:off x="1284000" y="2901800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_1">
    <p:bg>
      <p:bgPr>
        <a:solidFill>
          <a:schemeClr val="dk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713275" y="794675"/>
            <a:ext cx="7717500" cy="69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3488849" y="2398525"/>
            <a:ext cx="4941900" cy="19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1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7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7" Type="http://schemas.openxmlformats.org/officeDocument/2006/relationships/image" Target="../media/image7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notesSlide" Target="../notesSlides/notesSlide21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notesSlide" Target="../notesSlides/notesSlide22.xml"/><Relationship Id="rId10" Type="http://schemas.openxmlformats.org/officeDocument/2006/relationships/image" Target="../media/image11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notesSlide" Target="../notesSlides/notesSlide23.xml"/><Relationship Id="rId10" Type="http://schemas.openxmlformats.org/officeDocument/2006/relationships/image" Target="../media/image11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notesSlide" Target="../notesSlides/notesSlide24.xml"/><Relationship Id="rId10" Type="http://schemas.openxmlformats.org/officeDocument/2006/relationships/image" Target="../media/image11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notesSlide" Target="../notesSlides/notesSlide25.xml"/><Relationship Id="rId10" Type="http://schemas.openxmlformats.org/officeDocument/2006/relationships/image" Target="../media/image11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notesSlide" Target="../notesSlides/notesSlide26.xml"/><Relationship Id="rId10" Type="http://schemas.openxmlformats.org/officeDocument/2006/relationships/image" Target="../media/image11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notesSlide" Target="../notesSlides/notesSlide27.xml"/><Relationship Id="rId10" Type="http://schemas.openxmlformats.org/officeDocument/2006/relationships/image" Target="../media/image11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notesSlide" Target="../notesSlides/notesSlide28.xml"/><Relationship Id="rId10" Type="http://schemas.openxmlformats.org/officeDocument/2006/relationships/image" Target="../media/image9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1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4.xm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5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60.xml"/><Relationship Id="rId7" Type="http://schemas.openxmlformats.org/officeDocument/2006/relationships/image" Target="../media/image15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13.png"/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63.xml"/><Relationship Id="rId7" Type="http://schemas.openxmlformats.org/officeDocument/2006/relationships/image" Target="../media/image13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9.xml"/><Relationship Id="rId10" Type="http://schemas.openxmlformats.org/officeDocument/2006/relationships/image" Target="../media/image14.png"/><Relationship Id="rId4" Type="http://schemas.openxmlformats.org/officeDocument/2006/relationships/tags" Target="../tags/tag64.xml"/><Relationship Id="rId9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notesSlide" Target="../notesSlides/notesSlide37.xml"/><Relationship Id="rId18" Type="http://schemas.openxmlformats.org/officeDocument/2006/relationships/image" Target="../media/image17.png"/><Relationship Id="rId3" Type="http://schemas.openxmlformats.org/officeDocument/2006/relationships/tags" Target="../tags/tag67.xml"/><Relationship Id="rId21" Type="http://schemas.openxmlformats.org/officeDocument/2006/relationships/image" Target="../media/image20.png"/><Relationship Id="rId7" Type="http://schemas.openxmlformats.org/officeDocument/2006/relationships/tags" Target="../tags/tag71.xml"/><Relationship Id="rId12" Type="http://schemas.openxmlformats.org/officeDocument/2006/relationships/slideLayout" Target="../slideLayouts/slideLayout9.xml"/><Relationship Id="rId17" Type="http://schemas.openxmlformats.org/officeDocument/2006/relationships/image" Target="../media/image14.png"/><Relationship Id="rId2" Type="http://schemas.openxmlformats.org/officeDocument/2006/relationships/tags" Target="../tags/tag66.xml"/><Relationship Id="rId16" Type="http://schemas.openxmlformats.org/officeDocument/2006/relationships/image" Target="../media/image16.png"/><Relationship Id="rId20" Type="http://schemas.openxmlformats.org/officeDocument/2006/relationships/image" Target="../media/image19.png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24" Type="http://schemas.openxmlformats.org/officeDocument/2006/relationships/image" Target="../media/image23.png"/><Relationship Id="rId5" Type="http://schemas.openxmlformats.org/officeDocument/2006/relationships/tags" Target="../tags/tag69.xml"/><Relationship Id="rId15" Type="http://schemas.openxmlformats.org/officeDocument/2006/relationships/image" Target="../media/image15.png"/><Relationship Id="rId23" Type="http://schemas.openxmlformats.org/officeDocument/2006/relationships/image" Target="../media/image22.png"/><Relationship Id="rId10" Type="http://schemas.openxmlformats.org/officeDocument/2006/relationships/tags" Target="../tags/tag74.xml"/><Relationship Id="rId19" Type="http://schemas.openxmlformats.org/officeDocument/2006/relationships/image" Target="../media/image18.png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tags" Target="../tags/tag88.xml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tags" Target="../tags/tag78.xml"/><Relationship Id="rId21" Type="http://schemas.openxmlformats.org/officeDocument/2006/relationships/image" Target="../media/image29.png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tags" Target="../tags/tag77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24" Type="http://schemas.openxmlformats.org/officeDocument/2006/relationships/image" Target="../media/image32.png"/><Relationship Id="rId5" Type="http://schemas.openxmlformats.org/officeDocument/2006/relationships/tags" Target="../tags/tag80.xml"/><Relationship Id="rId15" Type="http://schemas.openxmlformats.org/officeDocument/2006/relationships/notesSlide" Target="../notesSlides/notesSlide38.xml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10" Type="http://schemas.openxmlformats.org/officeDocument/2006/relationships/tags" Target="../tags/tag85.xml"/><Relationship Id="rId19" Type="http://schemas.openxmlformats.org/officeDocument/2006/relationships/image" Target="../media/image27.png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slideLayout" Target="../slideLayouts/slideLayout9.xml"/><Relationship Id="rId22" Type="http://schemas.openxmlformats.org/officeDocument/2006/relationships/image" Target="../media/image30.png"/><Relationship Id="rId27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4" Type="http://schemas.openxmlformats.org/officeDocument/2006/relationships/notesSlide" Target="../notesSlides/notesSlide40.xml"/><Relationship Id="rId9" Type="http://schemas.openxmlformats.org/officeDocument/2006/relationships/image" Target="../media/image30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1.xml"/><Relationship Id="rId13" Type="http://schemas.openxmlformats.org/officeDocument/2006/relationships/image" Target="../media/image36.png"/><Relationship Id="rId3" Type="http://schemas.openxmlformats.org/officeDocument/2006/relationships/tags" Target="../tags/tag93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19.png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image" Target="../media/image18.png"/><Relationship Id="rId5" Type="http://schemas.openxmlformats.org/officeDocument/2006/relationships/tags" Target="../tags/tag95.xml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tags" Target="../tags/tag94.xml"/><Relationship Id="rId9" Type="http://schemas.openxmlformats.org/officeDocument/2006/relationships/image" Target="../media/image37.png"/><Relationship Id="rId14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99.xml"/><Relationship Id="rId7" Type="http://schemas.openxmlformats.org/officeDocument/2006/relationships/image" Target="../media/image17.png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image" Target="../media/image300.png"/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102.xml"/><Relationship Id="rId7" Type="http://schemas.openxmlformats.org/officeDocument/2006/relationships/image" Target="../media/image24.png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image" Target="../media/image12.png"/><Relationship Id="rId5" Type="http://schemas.openxmlformats.org/officeDocument/2006/relationships/notesSlide" Target="../notesSlides/notesSlide43.xml"/><Relationship Id="rId10" Type="http://schemas.openxmlformats.org/officeDocument/2006/relationships/image" Target="../media/image38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4.xml"/><Relationship Id="rId13" Type="http://schemas.openxmlformats.org/officeDocument/2006/relationships/image" Target="../media/image43.png"/><Relationship Id="rId3" Type="http://schemas.openxmlformats.org/officeDocument/2006/relationships/tags" Target="../tags/tag105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42.png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image" Target="../media/image41.png"/><Relationship Id="rId5" Type="http://schemas.openxmlformats.org/officeDocument/2006/relationships/tags" Target="../tags/tag107.xml"/><Relationship Id="rId15" Type="http://schemas.openxmlformats.org/officeDocument/2006/relationships/image" Target="../media/image38.png"/><Relationship Id="rId10" Type="http://schemas.openxmlformats.org/officeDocument/2006/relationships/image" Target="../media/image40.png"/><Relationship Id="rId4" Type="http://schemas.openxmlformats.org/officeDocument/2006/relationships/tags" Target="../tags/tag106.xml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5.xml"/><Relationship Id="rId13" Type="http://schemas.openxmlformats.org/officeDocument/2006/relationships/image" Target="../media/image43.png"/><Relationship Id="rId3" Type="http://schemas.openxmlformats.org/officeDocument/2006/relationships/tags" Target="../tags/tag111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42.png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image" Target="../media/image47.png"/><Relationship Id="rId5" Type="http://schemas.openxmlformats.org/officeDocument/2006/relationships/tags" Target="../tags/tag113.xml"/><Relationship Id="rId15" Type="http://schemas.openxmlformats.org/officeDocument/2006/relationships/image" Target="../media/image38.png"/><Relationship Id="rId10" Type="http://schemas.openxmlformats.org/officeDocument/2006/relationships/image" Target="../media/image46.png"/><Relationship Id="rId4" Type="http://schemas.openxmlformats.org/officeDocument/2006/relationships/tags" Target="../tags/tag112.xml"/><Relationship Id="rId9" Type="http://schemas.openxmlformats.org/officeDocument/2006/relationships/image" Target="../media/image45.png"/><Relationship Id="rId14" Type="http://schemas.openxmlformats.org/officeDocument/2006/relationships/image" Target="../media/image4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48.png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image" Target="../media/image38.png"/><Relationship Id="rId5" Type="http://schemas.openxmlformats.org/officeDocument/2006/relationships/image" Target="../media/image34.png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49.png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38.png"/><Relationship Id="rId5" Type="http://schemas.openxmlformats.org/officeDocument/2006/relationships/image" Target="../media/image50.png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tags" Target="../tags/tag121.xml"/><Relationship Id="rId7" Type="http://schemas.openxmlformats.org/officeDocument/2006/relationships/image" Target="../media/image49.png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image" Target="../media/image38.png"/><Relationship Id="rId5" Type="http://schemas.openxmlformats.org/officeDocument/2006/relationships/notesSlide" Target="../notesSlides/notesSlide48.xml"/><Relationship Id="rId10" Type="http://schemas.openxmlformats.org/officeDocument/2006/relationships/image" Target="../media/image53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5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image" Target="../media/image54.png"/><Relationship Id="rId18" Type="http://schemas.openxmlformats.org/officeDocument/2006/relationships/image" Target="../media/image55.png"/><Relationship Id="rId3" Type="http://schemas.openxmlformats.org/officeDocument/2006/relationships/tags" Target="../tags/tag124.xml"/><Relationship Id="rId21" Type="http://schemas.openxmlformats.org/officeDocument/2006/relationships/image" Target="../media/image58.png"/><Relationship Id="rId7" Type="http://schemas.openxmlformats.org/officeDocument/2006/relationships/tags" Target="../tags/tag128.xml"/><Relationship Id="rId12" Type="http://schemas.openxmlformats.org/officeDocument/2006/relationships/notesSlide" Target="../notesSlides/notesSlide49.xml"/><Relationship Id="rId17" Type="http://schemas.openxmlformats.org/officeDocument/2006/relationships/image" Target="../media/image48.png"/><Relationship Id="rId2" Type="http://schemas.openxmlformats.org/officeDocument/2006/relationships/tags" Target="../tags/tag123.xml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slideLayout" Target="../slideLayouts/slideLayout9.xml"/><Relationship Id="rId5" Type="http://schemas.openxmlformats.org/officeDocument/2006/relationships/tags" Target="../tags/tag126.xml"/><Relationship Id="rId15" Type="http://schemas.openxmlformats.org/officeDocument/2006/relationships/image" Target="../media/image52.png"/><Relationship Id="rId23" Type="http://schemas.openxmlformats.org/officeDocument/2006/relationships/image" Target="../media/image50.png"/><Relationship Id="rId10" Type="http://schemas.openxmlformats.org/officeDocument/2006/relationships/tags" Target="../tags/tag131.xml"/><Relationship Id="rId19" Type="http://schemas.openxmlformats.org/officeDocument/2006/relationships/image" Target="../media/image56.png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image" Target="../media/image51.png"/><Relationship Id="rId22" Type="http://schemas.openxmlformats.org/officeDocument/2006/relationships/image" Target="../media/image5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tags" Target="../tags/tag144.xml"/><Relationship Id="rId18" Type="http://schemas.openxmlformats.org/officeDocument/2006/relationships/notesSlide" Target="../notesSlides/notesSlide51.xml"/><Relationship Id="rId26" Type="http://schemas.openxmlformats.org/officeDocument/2006/relationships/image" Target="../media/image67.png"/><Relationship Id="rId3" Type="http://schemas.openxmlformats.org/officeDocument/2006/relationships/tags" Target="../tags/tag134.xml"/><Relationship Id="rId21" Type="http://schemas.openxmlformats.org/officeDocument/2006/relationships/image" Target="../media/image62.png"/><Relationship Id="rId34" Type="http://schemas.openxmlformats.org/officeDocument/2006/relationships/image" Target="../media/image50.png"/><Relationship Id="rId7" Type="http://schemas.openxmlformats.org/officeDocument/2006/relationships/tags" Target="../tags/tag138.xml"/><Relationship Id="rId12" Type="http://schemas.openxmlformats.org/officeDocument/2006/relationships/tags" Target="../tags/tag143.xml"/><Relationship Id="rId17" Type="http://schemas.openxmlformats.org/officeDocument/2006/relationships/slideLayout" Target="../slideLayouts/slideLayout9.xml"/><Relationship Id="rId25" Type="http://schemas.openxmlformats.org/officeDocument/2006/relationships/image" Target="../media/image66.png"/><Relationship Id="rId33" Type="http://schemas.openxmlformats.org/officeDocument/2006/relationships/image" Target="../media/image59.png"/><Relationship Id="rId2" Type="http://schemas.openxmlformats.org/officeDocument/2006/relationships/tags" Target="../tags/tag133.xml"/><Relationship Id="rId16" Type="http://schemas.openxmlformats.org/officeDocument/2006/relationships/tags" Target="../tags/tag147.xml"/><Relationship Id="rId20" Type="http://schemas.openxmlformats.org/officeDocument/2006/relationships/image" Target="../media/image61.png"/><Relationship Id="rId29" Type="http://schemas.openxmlformats.org/officeDocument/2006/relationships/image" Target="../media/image70.png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11" Type="http://schemas.openxmlformats.org/officeDocument/2006/relationships/tags" Target="../tags/tag142.xml"/><Relationship Id="rId24" Type="http://schemas.openxmlformats.org/officeDocument/2006/relationships/image" Target="../media/image65.png"/><Relationship Id="rId32" Type="http://schemas.openxmlformats.org/officeDocument/2006/relationships/image" Target="../media/image73.png"/><Relationship Id="rId5" Type="http://schemas.openxmlformats.org/officeDocument/2006/relationships/tags" Target="../tags/tag136.xml"/><Relationship Id="rId15" Type="http://schemas.openxmlformats.org/officeDocument/2006/relationships/tags" Target="../tags/tag146.xml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10" Type="http://schemas.openxmlformats.org/officeDocument/2006/relationships/tags" Target="../tags/tag141.xml"/><Relationship Id="rId19" Type="http://schemas.openxmlformats.org/officeDocument/2006/relationships/image" Target="../media/image60.png"/><Relationship Id="rId31" Type="http://schemas.openxmlformats.org/officeDocument/2006/relationships/image" Target="../media/image72.png"/><Relationship Id="rId4" Type="http://schemas.openxmlformats.org/officeDocument/2006/relationships/tags" Target="../tags/tag135.xml"/><Relationship Id="rId9" Type="http://schemas.openxmlformats.org/officeDocument/2006/relationships/tags" Target="../tags/tag140.xml"/><Relationship Id="rId14" Type="http://schemas.openxmlformats.org/officeDocument/2006/relationships/tags" Target="../tags/tag145.xml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30" Type="http://schemas.openxmlformats.org/officeDocument/2006/relationships/image" Target="../media/image71.png"/><Relationship Id="rId8" Type="http://schemas.openxmlformats.org/officeDocument/2006/relationships/tags" Target="../tags/tag13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tags" Target="../tags/tag152.xml"/><Relationship Id="rId7" Type="http://schemas.openxmlformats.org/officeDocument/2006/relationships/image" Target="../media/image76.png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notesSlide" Target="../notesSlides/notesSlide53.xml"/><Relationship Id="rId5" Type="http://schemas.openxmlformats.org/officeDocument/2006/relationships/slideLayout" Target="../slideLayouts/slideLayout9.xml"/><Relationship Id="rId10" Type="http://schemas.openxmlformats.org/officeDocument/2006/relationships/image" Target="../media/image69.png"/><Relationship Id="rId4" Type="http://schemas.openxmlformats.org/officeDocument/2006/relationships/tags" Target="../tags/tag153.xml"/><Relationship Id="rId9" Type="http://schemas.openxmlformats.org/officeDocument/2006/relationships/image" Target="../media/image7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4.xml"/><Relationship Id="rId13" Type="http://schemas.openxmlformats.org/officeDocument/2006/relationships/image" Target="../media/image79.png"/><Relationship Id="rId3" Type="http://schemas.openxmlformats.org/officeDocument/2006/relationships/tags" Target="../tags/tag156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69.png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11" Type="http://schemas.openxmlformats.org/officeDocument/2006/relationships/image" Target="../media/image77.png"/><Relationship Id="rId5" Type="http://schemas.openxmlformats.org/officeDocument/2006/relationships/tags" Target="../tags/tag158.xml"/><Relationship Id="rId10" Type="http://schemas.openxmlformats.org/officeDocument/2006/relationships/image" Target="../media/image75.png"/><Relationship Id="rId4" Type="http://schemas.openxmlformats.org/officeDocument/2006/relationships/tags" Target="../tags/tag157.xml"/><Relationship Id="rId9" Type="http://schemas.openxmlformats.org/officeDocument/2006/relationships/image" Target="../media/image78.png"/><Relationship Id="rId14" Type="http://schemas.openxmlformats.org/officeDocument/2006/relationships/image" Target="../media/image67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13" Type="http://schemas.openxmlformats.org/officeDocument/2006/relationships/image" Target="../media/image67.png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image" Target="../media/image79.png"/><Relationship Id="rId2" Type="http://schemas.openxmlformats.org/officeDocument/2006/relationships/tags" Target="../tags/tag161.xml"/><Relationship Id="rId16" Type="http://schemas.openxmlformats.org/officeDocument/2006/relationships/image" Target="../media/image69.png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image" Target="../media/image80.png"/><Relationship Id="rId5" Type="http://schemas.openxmlformats.org/officeDocument/2006/relationships/tags" Target="../tags/tag164.xml"/><Relationship Id="rId15" Type="http://schemas.openxmlformats.org/officeDocument/2006/relationships/image" Target="../media/image77.png"/><Relationship Id="rId10" Type="http://schemas.openxmlformats.org/officeDocument/2006/relationships/notesSlide" Target="../notesSlides/notesSlide55.xml"/><Relationship Id="rId4" Type="http://schemas.openxmlformats.org/officeDocument/2006/relationships/tags" Target="../tags/tag163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75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tags" Target="../tags/tag170.xml"/><Relationship Id="rId7" Type="http://schemas.openxmlformats.org/officeDocument/2006/relationships/notesSlide" Target="../notesSlides/notesSlide56.xml"/><Relationship Id="rId12" Type="http://schemas.openxmlformats.org/officeDocument/2006/relationships/image" Target="../media/image67.png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6" Type="http://schemas.openxmlformats.org/officeDocument/2006/relationships/slideLayout" Target="../slideLayouts/slideLayout9.xml"/><Relationship Id="rId11" Type="http://schemas.openxmlformats.org/officeDocument/2006/relationships/image" Target="../media/image69.png"/><Relationship Id="rId5" Type="http://schemas.openxmlformats.org/officeDocument/2006/relationships/tags" Target="../tags/tag172.xml"/><Relationship Id="rId10" Type="http://schemas.openxmlformats.org/officeDocument/2006/relationships/image" Target="../media/image82.png"/><Relationship Id="rId4" Type="http://schemas.openxmlformats.org/officeDocument/2006/relationships/tags" Target="../tags/tag171.xml"/><Relationship Id="rId9" Type="http://schemas.openxmlformats.org/officeDocument/2006/relationships/image" Target="../media/image79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69.png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12" Type="http://schemas.openxmlformats.org/officeDocument/2006/relationships/image" Target="../media/image82.png"/><Relationship Id="rId2" Type="http://schemas.openxmlformats.org/officeDocument/2006/relationships/tags" Target="../tags/tag174.xml"/><Relationship Id="rId16" Type="http://schemas.openxmlformats.org/officeDocument/2006/relationships/image" Target="../media/image67.png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image" Target="../media/image83.png"/><Relationship Id="rId5" Type="http://schemas.openxmlformats.org/officeDocument/2006/relationships/tags" Target="../tags/tag177.xml"/><Relationship Id="rId15" Type="http://schemas.openxmlformats.org/officeDocument/2006/relationships/image" Target="../media/image70.png"/><Relationship Id="rId10" Type="http://schemas.openxmlformats.org/officeDocument/2006/relationships/image" Target="../media/image79.png"/><Relationship Id="rId4" Type="http://schemas.openxmlformats.org/officeDocument/2006/relationships/tags" Target="../tags/tag176.xml"/><Relationship Id="rId9" Type="http://schemas.openxmlformats.org/officeDocument/2006/relationships/notesSlide" Target="../notesSlides/notesSlide57.xml"/><Relationship Id="rId14" Type="http://schemas.openxmlformats.org/officeDocument/2006/relationships/image" Target="../media/image84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tags" Target="../tags/tag187.xml"/><Relationship Id="rId13" Type="http://schemas.openxmlformats.org/officeDocument/2006/relationships/image" Target="../media/image85.png"/><Relationship Id="rId18" Type="http://schemas.openxmlformats.org/officeDocument/2006/relationships/image" Target="../media/image67.png"/><Relationship Id="rId3" Type="http://schemas.openxmlformats.org/officeDocument/2006/relationships/tags" Target="../tags/tag182.xml"/><Relationship Id="rId7" Type="http://schemas.openxmlformats.org/officeDocument/2006/relationships/tags" Target="../tags/tag186.xml"/><Relationship Id="rId12" Type="http://schemas.openxmlformats.org/officeDocument/2006/relationships/image" Target="../media/image84.png"/><Relationship Id="rId17" Type="http://schemas.openxmlformats.org/officeDocument/2006/relationships/image" Target="../media/image69.png"/><Relationship Id="rId2" Type="http://schemas.openxmlformats.org/officeDocument/2006/relationships/tags" Target="../tags/tag181.xml"/><Relationship Id="rId16" Type="http://schemas.openxmlformats.org/officeDocument/2006/relationships/image" Target="../media/image82.png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11" Type="http://schemas.openxmlformats.org/officeDocument/2006/relationships/notesSlide" Target="../notesSlides/notesSlide58.xml"/><Relationship Id="rId5" Type="http://schemas.openxmlformats.org/officeDocument/2006/relationships/tags" Target="../tags/tag184.xml"/><Relationship Id="rId15" Type="http://schemas.openxmlformats.org/officeDocument/2006/relationships/image" Target="../media/image79.png"/><Relationship Id="rId10" Type="http://schemas.openxmlformats.org/officeDocument/2006/relationships/slideLayout" Target="../slideLayouts/slideLayout9.xml"/><Relationship Id="rId4" Type="http://schemas.openxmlformats.org/officeDocument/2006/relationships/tags" Target="../tags/tag183.xml"/><Relationship Id="rId9" Type="http://schemas.openxmlformats.org/officeDocument/2006/relationships/tags" Target="../tags/tag188.xml"/><Relationship Id="rId14" Type="http://schemas.openxmlformats.org/officeDocument/2006/relationships/image" Target="../media/image7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tags" Target="../tags/tag191.xml"/><Relationship Id="rId7" Type="http://schemas.openxmlformats.org/officeDocument/2006/relationships/notesSlide" Target="../notesSlides/notesSlide59.xml"/><Relationship Id="rId12" Type="http://schemas.openxmlformats.org/officeDocument/2006/relationships/image" Target="../media/image87.png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slideLayout" Target="../slideLayouts/slideLayout9.xml"/><Relationship Id="rId11" Type="http://schemas.openxmlformats.org/officeDocument/2006/relationships/image" Target="../media/image71.png"/><Relationship Id="rId5" Type="http://schemas.openxmlformats.org/officeDocument/2006/relationships/tags" Target="../tags/tag193.xml"/><Relationship Id="rId10" Type="http://schemas.openxmlformats.org/officeDocument/2006/relationships/image" Target="../media/image70.png"/><Relationship Id="rId4" Type="http://schemas.openxmlformats.org/officeDocument/2006/relationships/tags" Target="../tags/tag192.xml"/><Relationship Id="rId9" Type="http://schemas.openxmlformats.org/officeDocument/2006/relationships/image" Target="../media/image84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71.png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image" Target="../media/image70.png"/><Relationship Id="rId2" Type="http://schemas.openxmlformats.org/officeDocument/2006/relationships/tags" Target="../tags/tag195.xml"/><Relationship Id="rId16" Type="http://schemas.openxmlformats.org/officeDocument/2006/relationships/image" Target="../media/image90.png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image" Target="../media/image84.png"/><Relationship Id="rId5" Type="http://schemas.openxmlformats.org/officeDocument/2006/relationships/tags" Target="../tags/tag198.xml"/><Relationship Id="rId15" Type="http://schemas.openxmlformats.org/officeDocument/2006/relationships/image" Target="../media/image89.png"/><Relationship Id="rId10" Type="http://schemas.openxmlformats.org/officeDocument/2006/relationships/image" Target="../media/image88.png"/><Relationship Id="rId4" Type="http://schemas.openxmlformats.org/officeDocument/2006/relationships/tags" Target="../tags/tag197.xml"/><Relationship Id="rId9" Type="http://schemas.openxmlformats.org/officeDocument/2006/relationships/notesSlide" Target="../notesSlides/notesSlide60.xml"/><Relationship Id="rId14" Type="http://schemas.openxmlformats.org/officeDocument/2006/relationships/image" Target="../media/image87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tags" Target="../tags/tag208.xml"/><Relationship Id="rId13" Type="http://schemas.openxmlformats.org/officeDocument/2006/relationships/image" Target="../media/image89.png"/><Relationship Id="rId18" Type="http://schemas.openxmlformats.org/officeDocument/2006/relationships/image" Target="../media/image87.png"/><Relationship Id="rId3" Type="http://schemas.openxmlformats.org/officeDocument/2006/relationships/tags" Target="../tags/tag203.xml"/><Relationship Id="rId7" Type="http://schemas.openxmlformats.org/officeDocument/2006/relationships/tags" Target="../tags/tag207.xml"/><Relationship Id="rId12" Type="http://schemas.openxmlformats.org/officeDocument/2006/relationships/image" Target="../media/image91.png"/><Relationship Id="rId17" Type="http://schemas.openxmlformats.org/officeDocument/2006/relationships/image" Target="../media/image71.png"/><Relationship Id="rId2" Type="http://schemas.openxmlformats.org/officeDocument/2006/relationships/tags" Target="../tags/tag202.xml"/><Relationship Id="rId16" Type="http://schemas.openxmlformats.org/officeDocument/2006/relationships/image" Target="../media/image70.png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1" Type="http://schemas.openxmlformats.org/officeDocument/2006/relationships/notesSlide" Target="../notesSlides/notesSlide61.xml"/><Relationship Id="rId5" Type="http://schemas.openxmlformats.org/officeDocument/2006/relationships/tags" Target="../tags/tag205.xml"/><Relationship Id="rId15" Type="http://schemas.openxmlformats.org/officeDocument/2006/relationships/image" Target="../media/image84.png"/><Relationship Id="rId10" Type="http://schemas.openxmlformats.org/officeDocument/2006/relationships/slideLayout" Target="../slideLayouts/slideLayout9.xml"/><Relationship Id="rId4" Type="http://schemas.openxmlformats.org/officeDocument/2006/relationships/tags" Target="../tags/tag204.xml"/><Relationship Id="rId9" Type="http://schemas.openxmlformats.org/officeDocument/2006/relationships/tags" Target="../tags/tag209.xml"/><Relationship Id="rId14" Type="http://schemas.openxmlformats.org/officeDocument/2006/relationships/image" Target="../media/image9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tags" Target="../tags/tag212.xml"/><Relationship Id="rId7" Type="http://schemas.openxmlformats.org/officeDocument/2006/relationships/notesSlide" Target="../notesSlides/notesSlide62.xml"/><Relationship Id="rId12" Type="http://schemas.openxmlformats.org/officeDocument/2006/relationships/image" Target="../media/image68.png"/><Relationship Id="rId2" Type="http://schemas.openxmlformats.org/officeDocument/2006/relationships/tags" Target="../tags/tag211.xml"/><Relationship Id="rId1" Type="http://schemas.openxmlformats.org/officeDocument/2006/relationships/tags" Target="../tags/tag210.xml"/><Relationship Id="rId6" Type="http://schemas.openxmlformats.org/officeDocument/2006/relationships/slideLayout" Target="../slideLayouts/slideLayout9.xml"/><Relationship Id="rId11" Type="http://schemas.openxmlformats.org/officeDocument/2006/relationships/image" Target="../media/image93.png"/><Relationship Id="rId5" Type="http://schemas.openxmlformats.org/officeDocument/2006/relationships/tags" Target="../tags/tag214.xml"/><Relationship Id="rId10" Type="http://schemas.openxmlformats.org/officeDocument/2006/relationships/image" Target="../media/image90.png"/><Relationship Id="rId4" Type="http://schemas.openxmlformats.org/officeDocument/2006/relationships/tags" Target="../tags/tag213.xml"/><Relationship Id="rId9" Type="http://schemas.openxmlformats.org/officeDocument/2006/relationships/image" Target="../media/image89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93.png"/><Relationship Id="rId3" Type="http://schemas.openxmlformats.org/officeDocument/2006/relationships/tags" Target="../tags/tag217.xml"/><Relationship Id="rId7" Type="http://schemas.openxmlformats.org/officeDocument/2006/relationships/tags" Target="../tags/tag221.xml"/><Relationship Id="rId12" Type="http://schemas.openxmlformats.org/officeDocument/2006/relationships/image" Target="../media/image90.png"/><Relationship Id="rId2" Type="http://schemas.openxmlformats.org/officeDocument/2006/relationships/tags" Target="../tags/tag216.xml"/><Relationship Id="rId16" Type="http://schemas.openxmlformats.org/officeDocument/2006/relationships/image" Target="../media/image69.png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11" Type="http://schemas.openxmlformats.org/officeDocument/2006/relationships/image" Target="../media/image89.png"/><Relationship Id="rId5" Type="http://schemas.openxmlformats.org/officeDocument/2006/relationships/tags" Target="../tags/tag219.xml"/><Relationship Id="rId15" Type="http://schemas.openxmlformats.org/officeDocument/2006/relationships/image" Target="../media/image95.png"/><Relationship Id="rId10" Type="http://schemas.openxmlformats.org/officeDocument/2006/relationships/image" Target="../media/image94.png"/><Relationship Id="rId4" Type="http://schemas.openxmlformats.org/officeDocument/2006/relationships/tags" Target="../tags/tag218.xml"/><Relationship Id="rId9" Type="http://schemas.openxmlformats.org/officeDocument/2006/relationships/notesSlide" Target="../notesSlides/notesSlide63.xml"/><Relationship Id="rId14" Type="http://schemas.openxmlformats.org/officeDocument/2006/relationships/image" Target="../media/image68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tags" Target="../tags/tag229.xml"/><Relationship Id="rId13" Type="http://schemas.openxmlformats.org/officeDocument/2006/relationships/image" Target="../media/image69.png"/><Relationship Id="rId18" Type="http://schemas.openxmlformats.org/officeDocument/2006/relationships/image" Target="../media/image68.png"/><Relationship Id="rId3" Type="http://schemas.openxmlformats.org/officeDocument/2006/relationships/tags" Target="../tags/tag224.xml"/><Relationship Id="rId7" Type="http://schemas.openxmlformats.org/officeDocument/2006/relationships/tags" Target="../tags/tag228.xml"/><Relationship Id="rId12" Type="http://schemas.openxmlformats.org/officeDocument/2006/relationships/image" Target="../media/image95.png"/><Relationship Id="rId17" Type="http://schemas.openxmlformats.org/officeDocument/2006/relationships/image" Target="../media/image93.png"/><Relationship Id="rId2" Type="http://schemas.openxmlformats.org/officeDocument/2006/relationships/tags" Target="../tags/tag223.xml"/><Relationship Id="rId16" Type="http://schemas.openxmlformats.org/officeDocument/2006/relationships/image" Target="../media/image90.png"/><Relationship Id="rId1" Type="http://schemas.openxmlformats.org/officeDocument/2006/relationships/tags" Target="../tags/tag222.xml"/><Relationship Id="rId6" Type="http://schemas.openxmlformats.org/officeDocument/2006/relationships/tags" Target="../tags/tag227.xml"/><Relationship Id="rId11" Type="http://schemas.openxmlformats.org/officeDocument/2006/relationships/notesSlide" Target="../notesSlides/notesSlide64.xml"/><Relationship Id="rId5" Type="http://schemas.openxmlformats.org/officeDocument/2006/relationships/tags" Target="../tags/tag226.xml"/><Relationship Id="rId15" Type="http://schemas.openxmlformats.org/officeDocument/2006/relationships/image" Target="../media/image89.png"/><Relationship Id="rId10" Type="http://schemas.openxmlformats.org/officeDocument/2006/relationships/slideLayout" Target="../slideLayouts/slideLayout9.xml"/><Relationship Id="rId4" Type="http://schemas.openxmlformats.org/officeDocument/2006/relationships/tags" Target="../tags/tag225.xml"/><Relationship Id="rId9" Type="http://schemas.openxmlformats.org/officeDocument/2006/relationships/tags" Target="../tags/tag230.xml"/><Relationship Id="rId14" Type="http://schemas.openxmlformats.org/officeDocument/2006/relationships/image" Target="../media/image96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tags" Target="../tags/tag233.xml"/><Relationship Id="rId7" Type="http://schemas.openxmlformats.org/officeDocument/2006/relationships/notesSlide" Target="../notesSlides/notesSlide65.xml"/><Relationship Id="rId12" Type="http://schemas.openxmlformats.org/officeDocument/2006/relationships/image" Target="../media/image70.png"/><Relationship Id="rId2" Type="http://schemas.openxmlformats.org/officeDocument/2006/relationships/tags" Target="../tags/tag232.xml"/><Relationship Id="rId1" Type="http://schemas.openxmlformats.org/officeDocument/2006/relationships/tags" Target="../tags/tag231.xml"/><Relationship Id="rId6" Type="http://schemas.openxmlformats.org/officeDocument/2006/relationships/slideLayout" Target="../slideLayouts/slideLayout9.xml"/><Relationship Id="rId11" Type="http://schemas.openxmlformats.org/officeDocument/2006/relationships/image" Target="../media/image98.png"/><Relationship Id="rId5" Type="http://schemas.openxmlformats.org/officeDocument/2006/relationships/tags" Target="../tags/tag235.xml"/><Relationship Id="rId10" Type="http://schemas.openxmlformats.org/officeDocument/2006/relationships/image" Target="../media/image97.png"/><Relationship Id="rId4" Type="http://schemas.openxmlformats.org/officeDocument/2006/relationships/tags" Target="../tags/tag234.xml"/><Relationship Id="rId9" Type="http://schemas.openxmlformats.org/officeDocument/2006/relationships/image" Target="../media/image69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98.png"/><Relationship Id="rId3" Type="http://schemas.openxmlformats.org/officeDocument/2006/relationships/tags" Target="../tags/tag238.xml"/><Relationship Id="rId7" Type="http://schemas.openxmlformats.org/officeDocument/2006/relationships/tags" Target="../tags/tag242.xml"/><Relationship Id="rId12" Type="http://schemas.openxmlformats.org/officeDocument/2006/relationships/image" Target="../media/image99.png"/><Relationship Id="rId2" Type="http://schemas.openxmlformats.org/officeDocument/2006/relationships/tags" Target="../tags/tag237.xml"/><Relationship Id="rId16" Type="http://schemas.openxmlformats.org/officeDocument/2006/relationships/image" Target="../media/image90.png"/><Relationship Id="rId1" Type="http://schemas.openxmlformats.org/officeDocument/2006/relationships/tags" Target="../tags/tag236.xml"/><Relationship Id="rId6" Type="http://schemas.openxmlformats.org/officeDocument/2006/relationships/tags" Target="../tags/tag241.xml"/><Relationship Id="rId11" Type="http://schemas.openxmlformats.org/officeDocument/2006/relationships/image" Target="../media/image69.png"/><Relationship Id="rId5" Type="http://schemas.openxmlformats.org/officeDocument/2006/relationships/tags" Target="../tags/tag240.xml"/><Relationship Id="rId15" Type="http://schemas.openxmlformats.org/officeDocument/2006/relationships/image" Target="../media/image100.png"/><Relationship Id="rId10" Type="http://schemas.openxmlformats.org/officeDocument/2006/relationships/image" Target="../media/image95.png"/><Relationship Id="rId4" Type="http://schemas.openxmlformats.org/officeDocument/2006/relationships/tags" Target="../tags/tag239.xml"/><Relationship Id="rId9" Type="http://schemas.openxmlformats.org/officeDocument/2006/relationships/notesSlide" Target="../notesSlides/notesSlide66.xml"/><Relationship Id="rId14" Type="http://schemas.openxmlformats.org/officeDocument/2006/relationships/image" Target="../media/image7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tags" Target="../tags/tag252.xml"/><Relationship Id="rId13" Type="http://schemas.openxmlformats.org/officeDocument/2006/relationships/image" Target="../media/image103.png"/><Relationship Id="rId18" Type="http://schemas.openxmlformats.org/officeDocument/2006/relationships/image" Target="../media/image107.png"/><Relationship Id="rId3" Type="http://schemas.openxmlformats.org/officeDocument/2006/relationships/tags" Target="../tags/tag247.xml"/><Relationship Id="rId21" Type="http://schemas.openxmlformats.org/officeDocument/2006/relationships/image" Target="../media/image110.png"/><Relationship Id="rId7" Type="http://schemas.openxmlformats.org/officeDocument/2006/relationships/tags" Target="../tags/tag251.xml"/><Relationship Id="rId12" Type="http://schemas.openxmlformats.org/officeDocument/2006/relationships/image" Target="../media/image27.png"/><Relationship Id="rId17" Type="http://schemas.openxmlformats.org/officeDocument/2006/relationships/image" Target="../media/image106.png"/><Relationship Id="rId2" Type="http://schemas.openxmlformats.org/officeDocument/2006/relationships/tags" Target="../tags/tag246.xml"/><Relationship Id="rId16" Type="http://schemas.openxmlformats.org/officeDocument/2006/relationships/image" Target="../media/image45.png"/><Relationship Id="rId20" Type="http://schemas.openxmlformats.org/officeDocument/2006/relationships/image" Target="../media/image109.png"/><Relationship Id="rId1" Type="http://schemas.openxmlformats.org/officeDocument/2006/relationships/tags" Target="../tags/tag245.xml"/><Relationship Id="rId6" Type="http://schemas.openxmlformats.org/officeDocument/2006/relationships/tags" Target="../tags/tag250.xml"/><Relationship Id="rId11" Type="http://schemas.openxmlformats.org/officeDocument/2006/relationships/notesSlide" Target="../notesSlides/notesSlide68.xml"/><Relationship Id="rId5" Type="http://schemas.openxmlformats.org/officeDocument/2006/relationships/tags" Target="../tags/tag249.xml"/><Relationship Id="rId15" Type="http://schemas.openxmlformats.org/officeDocument/2006/relationships/image" Target="../media/image105.png"/><Relationship Id="rId10" Type="http://schemas.openxmlformats.org/officeDocument/2006/relationships/slideLayout" Target="../slideLayouts/slideLayout9.xml"/><Relationship Id="rId19" Type="http://schemas.openxmlformats.org/officeDocument/2006/relationships/image" Target="../media/image108.png"/><Relationship Id="rId4" Type="http://schemas.openxmlformats.org/officeDocument/2006/relationships/tags" Target="../tags/tag248.xml"/><Relationship Id="rId9" Type="http://schemas.openxmlformats.org/officeDocument/2006/relationships/tags" Target="../tags/tag253.xml"/><Relationship Id="rId14" Type="http://schemas.openxmlformats.org/officeDocument/2006/relationships/image" Target="../media/image10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12.png"/><Relationship Id="rId2" Type="http://schemas.openxmlformats.org/officeDocument/2006/relationships/tags" Target="../tags/tag255.xml"/><Relationship Id="rId1" Type="http://schemas.openxmlformats.org/officeDocument/2006/relationships/tags" Target="../tags/tag254.xml"/><Relationship Id="rId6" Type="http://schemas.openxmlformats.org/officeDocument/2006/relationships/image" Target="../media/image111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15.png"/><Relationship Id="rId3" Type="http://schemas.openxmlformats.org/officeDocument/2006/relationships/tags" Target="../tags/tag258.xml"/><Relationship Id="rId7" Type="http://schemas.openxmlformats.org/officeDocument/2006/relationships/tags" Target="../tags/tag262.xml"/><Relationship Id="rId12" Type="http://schemas.openxmlformats.org/officeDocument/2006/relationships/image" Target="../media/image18.png"/><Relationship Id="rId2" Type="http://schemas.openxmlformats.org/officeDocument/2006/relationships/tags" Target="../tags/tag257.xml"/><Relationship Id="rId16" Type="http://schemas.openxmlformats.org/officeDocument/2006/relationships/image" Target="../media/image117.png"/><Relationship Id="rId1" Type="http://schemas.openxmlformats.org/officeDocument/2006/relationships/tags" Target="../tags/tag256.xml"/><Relationship Id="rId6" Type="http://schemas.openxmlformats.org/officeDocument/2006/relationships/tags" Target="../tags/tag261.xml"/><Relationship Id="rId11" Type="http://schemas.openxmlformats.org/officeDocument/2006/relationships/image" Target="../media/image115.png"/><Relationship Id="rId5" Type="http://schemas.openxmlformats.org/officeDocument/2006/relationships/tags" Target="../tags/tag260.xml"/><Relationship Id="rId15" Type="http://schemas.openxmlformats.org/officeDocument/2006/relationships/image" Target="../media/image14.png"/><Relationship Id="rId10" Type="http://schemas.openxmlformats.org/officeDocument/2006/relationships/image" Target="../media/image114.png"/><Relationship Id="rId4" Type="http://schemas.openxmlformats.org/officeDocument/2006/relationships/tags" Target="../tags/tag259.xml"/><Relationship Id="rId9" Type="http://schemas.openxmlformats.org/officeDocument/2006/relationships/notesSlide" Target="../notesSlides/notesSlide72.xml"/><Relationship Id="rId14" Type="http://schemas.openxmlformats.org/officeDocument/2006/relationships/image" Target="../media/image116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3.xml"/><Relationship Id="rId13" Type="http://schemas.openxmlformats.org/officeDocument/2006/relationships/image" Target="../media/image122.png"/><Relationship Id="rId3" Type="http://schemas.openxmlformats.org/officeDocument/2006/relationships/tags" Target="../tags/tag265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121.png"/><Relationship Id="rId2" Type="http://schemas.openxmlformats.org/officeDocument/2006/relationships/tags" Target="../tags/tag264.xml"/><Relationship Id="rId1" Type="http://schemas.openxmlformats.org/officeDocument/2006/relationships/tags" Target="../tags/tag263.xml"/><Relationship Id="rId6" Type="http://schemas.openxmlformats.org/officeDocument/2006/relationships/tags" Target="../tags/tag268.xml"/><Relationship Id="rId11" Type="http://schemas.openxmlformats.org/officeDocument/2006/relationships/image" Target="../media/image120.png"/><Relationship Id="rId5" Type="http://schemas.openxmlformats.org/officeDocument/2006/relationships/tags" Target="../tags/tag267.xml"/><Relationship Id="rId10" Type="http://schemas.openxmlformats.org/officeDocument/2006/relationships/image" Target="../media/image119.png"/><Relationship Id="rId4" Type="http://schemas.openxmlformats.org/officeDocument/2006/relationships/tags" Target="../tags/tag266.xml"/><Relationship Id="rId9" Type="http://schemas.openxmlformats.org/officeDocument/2006/relationships/image" Target="../media/image118.png"/><Relationship Id="rId14" Type="http://schemas.openxmlformats.org/officeDocument/2006/relationships/image" Target="../media/image123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8.png"/><Relationship Id="rId2" Type="http://schemas.openxmlformats.org/officeDocument/2006/relationships/tags" Target="../tags/tag270.xml"/><Relationship Id="rId1" Type="http://schemas.openxmlformats.org/officeDocument/2006/relationships/tags" Target="../tags/tag269.xml"/><Relationship Id="rId6" Type="http://schemas.openxmlformats.org/officeDocument/2006/relationships/image" Target="../media/image124.png"/><Relationship Id="rId5" Type="http://schemas.openxmlformats.org/officeDocument/2006/relationships/image" Target="../media/image115.png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6.xml"/><Relationship Id="rId13" Type="http://schemas.openxmlformats.org/officeDocument/2006/relationships/image" Target="../media/image114.png"/><Relationship Id="rId3" Type="http://schemas.openxmlformats.org/officeDocument/2006/relationships/tags" Target="../tags/tag273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18.png"/><Relationship Id="rId2" Type="http://schemas.openxmlformats.org/officeDocument/2006/relationships/tags" Target="../tags/tag272.xml"/><Relationship Id="rId16" Type="http://schemas.openxmlformats.org/officeDocument/2006/relationships/image" Target="../media/image127.png"/><Relationship Id="rId1" Type="http://schemas.openxmlformats.org/officeDocument/2006/relationships/tags" Target="../tags/tag271.xml"/><Relationship Id="rId6" Type="http://schemas.openxmlformats.org/officeDocument/2006/relationships/tags" Target="../tags/tag276.xml"/><Relationship Id="rId11" Type="http://schemas.openxmlformats.org/officeDocument/2006/relationships/image" Target="../media/image124.png"/><Relationship Id="rId5" Type="http://schemas.openxmlformats.org/officeDocument/2006/relationships/tags" Target="../tags/tag275.xml"/><Relationship Id="rId15" Type="http://schemas.openxmlformats.org/officeDocument/2006/relationships/image" Target="../media/image117.png"/><Relationship Id="rId10" Type="http://schemas.openxmlformats.org/officeDocument/2006/relationships/image" Target="../media/image115.png"/><Relationship Id="rId4" Type="http://schemas.openxmlformats.org/officeDocument/2006/relationships/tags" Target="../tags/tag274.xml"/><Relationship Id="rId9" Type="http://schemas.openxmlformats.org/officeDocument/2006/relationships/image" Target="../media/image125.png"/><Relationship Id="rId14" Type="http://schemas.openxmlformats.org/officeDocument/2006/relationships/image" Target="../media/image126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279.xml"/><Relationship Id="rId7" Type="http://schemas.openxmlformats.org/officeDocument/2006/relationships/image" Target="../media/image124.png"/><Relationship Id="rId2" Type="http://schemas.openxmlformats.org/officeDocument/2006/relationships/tags" Target="../tags/tag278.xml"/><Relationship Id="rId1" Type="http://schemas.openxmlformats.org/officeDocument/2006/relationships/tags" Target="../tags/tag277.xml"/><Relationship Id="rId6" Type="http://schemas.openxmlformats.org/officeDocument/2006/relationships/image" Target="../media/image115.png"/><Relationship Id="rId5" Type="http://schemas.openxmlformats.org/officeDocument/2006/relationships/notesSlide" Target="../notesSlides/notesSlide77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28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tags" Target="../tags/tag282.xml"/><Relationship Id="rId7" Type="http://schemas.openxmlformats.org/officeDocument/2006/relationships/image" Target="../media/image113.png"/><Relationship Id="rId2" Type="http://schemas.openxmlformats.org/officeDocument/2006/relationships/tags" Target="../tags/tag281.xml"/><Relationship Id="rId1" Type="http://schemas.openxmlformats.org/officeDocument/2006/relationships/tags" Target="../tags/tag280.xml"/><Relationship Id="rId6" Type="http://schemas.openxmlformats.org/officeDocument/2006/relationships/image" Target="../media/image129.png"/><Relationship Id="rId5" Type="http://schemas.openxmlformats.org/officeDocument/2006/relationships/notesSlide" Target="../notesSlides/notesSlide78.xml"/><Relationship Id="rId10" Type="http://schemas.openxmlformats.org/officeDocument/2006/relationships/image" Target="../media/image123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22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122.png"/><Relationship Id="rId18" Type="http://schemas.openxmlformats.org/officeDocument/2006/relationships/image" Target="../media/image135.png"/><Relationship Id="rId3" Type="http://schemas.openxmlformats.org/officeDocument/2006/relationships/tags" Target="../tags/tag285.xml"/><Relationship Id="rId7" Type="http://schemas.openxmlformats.org/officeDocument/2006/relationships/tags" Target="../tags/tag289.xml"/><Relationship Id="rId12" Type="http://schemas.openxmlformats.org/officeDocument/2006/relationships/image" Target="../media/image130.png"/><Relationship Id="rId17" Type="http://schemas.openxmlformats.org/officeDocument/2006/relationships/image" Target="../media/image134.png"/><Relationship Id="rId2" Type="http://schemas.openxmlformats.org/officeDocument/2006/relationships/tags" Target="../tags/tag284.xml"/><Relationship Id="rId16" Type="http://schemas.openxmlformats.org/officeDocument/2006/relationships/image" Target="../media/image133.png"/><Relationship Id="rId1" Type="http://schemas.openxmlformats.org/officeDocument/2006/relationships/tags" Target="../tags/tag283.xml"/><Relationship Id="rId6" Type="http://schemas.openxmlformats.org/officeDocument/2006/relationships/tags" Target="../tags/tag288.xml"/><Relationship Id="rId11" Type="http://schemas.openxmlformats.org/officeDocument/2006/relationships/image" Target="../media/image113.png"/><Relationship Id="rId5" Type="http://schemas.openxmlformats.org/officeDocument/2006/relationships/tags" Target="../tags/tag287.xml"/><Relationship Id="rId15" Type="http://schemas.openxmlformats.org/officeDocument/2006/relationships/image" Target="../media/image132.png"/><Relationship Id="rId10" Type="http://schemas.openxmlformats.org/officeDocument/2006/relationships/image" Target="../media/image129.png"/><Relationship Id="rId4" Type="http://schemas.openxmlformats.org/officeDocument/2006/relationships/tags" Target="../tags/tag286.xml"/><Relationship Id="rId9" Type="http://schemas.openxmlformats.org/officeDocument/2006/relationships/notesSlide" Target="../notesSlides/notesSlide79.xml"/><Relationship Id="rId14" Type="http://schemas.openxmlformats.org/officeDocument/2006/relationships/image" Target="../media/image131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9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tags" Target="../tags/tag297.xml"/><Relationship Id="rId13" Type="http://schemas.openxmlformats.org/officeDocument/2006/relationships/tags" Target="../tags/tag302.xml"/><Relationship Id="rId18" Type="http://schemas.openxmlformats.org/officeDocument/2006/relationships/image" Target="../media/image62.png"/><Relationship Id="rId26" Type="http://schemas.openxmlformats.org/officeDocument/2006/relationships/image" Target="../media/image140.png"/><Relationship Id="rId3" Type="http://schemas.openxmlformats.org/officeDocument/2006/relationships/tags" Target="../tags/tag292.xml"/><Relationship Id="rId21" Type="http://schemas.openxmlformats.org/officeDocument/2006/relationships/image" Target="../media/image69.png"/><Relationship Id="rId7" Type="http://schemas.openxmlformats.org/officeDocument/2006/relationships/tags" Target="../tags/tag296.xml"/><Relationship Id="rId12" Type="http://schemas.openxmlformats.org/officeDocument/2006/relationships/tags" Target="../tags/tag301.xml"/><Relationship Id="rId17" Type="http://schemas.openxmlformats.org/officeDocument/2006/relationships/image" Target="../media/image61.png"/><Relationship Id="rId25" Type="http://schemas.openxmlformats.org/officeDocument/2006/relationships/image" Target="../media/image139.png"/><Relationship Id="rId2" Type="http://schemas.openxmlformats.org/officeDocument/2006/relationships/tags" Target="../tags/tag291.xml"/><Relationship Id="rId16" Type="http://schemas.openxmlformats.org/officeDocument/2006/relationships/notesSlide" Target="../notesSlides/notesSlide81.xml"/><Relationship Id="rId20" Type="http://schemas.openxmlformats.org/officeDocument/2006/relationships/image" Target="../media/image68.png"/><Relationship Id="rId29" Type="http://schemas.openxmlformats.org/officeDocument/2006/relationships/image" Target="../media/image143.png"/><Relationship Id="rId1" Type="http://schemas.openxmlformats.org/officeDocument/2006/relationships/tags" Target="../tags/tag290.xml"/><Relationship Id="rId6" Type="http://schemas.openxmlformats.org/officeDocument/2006/relationships/tags" Target="../tags/tag295.xml"/><Relationship Id="rId11" Type="http://schemas.openxmlformats.org/officeDocument/2006/relationships/tags" Target="../tags/tag300.xml"/><Relationship Id="rId24" Type="http://schemas.openxmlformats.org/officeDocument/2006/relationships/image" Target="../media/image138.png"/><Relationship Id="rId5" Type="http://schemas.openxmlformats.org/officeDocument/2006/relationships/tags" Target="../tags/tag294.xml"/><Relationship Id="rId15" Type="http://schemas.openxmlformats.org/officeDocument/2006/relationships/slideLayout" Target="../slideLayouts/slideLayout9.xml"/><Relationship Id="rId23" Type="http://schemas.openxmlformats.org/officeDocument/2006/relationships/image" Target="../media/image137.png"/><Relationship Id="rId28" Type="http://schemas.openxmlformats.org/officeDocument/2006/relationships/image" Target="../media/image142.png"/><Relationship Id="rId10" Type="http://schemas.openxmlformats.org/officeDocument/2006/relationships/tags" Target="../tags/tag299.xml"/><Relationship Id="rId19" Type="http://schemas.openxmlformats.org/officeDocument/2006/relationships/image" Target="../media/image67.png"/><Relationship Id="rId4" Type="http://schemas.openxmlformats.org/officeDocument/2006/relationships/tags" Target="../tags/tag293.xml"/><Relationship Id="rId9" Type="http://schemas.openxmlformats.org/officeDocument/2006/relationships/tags" Target="../tags/tag298.xml"/><Relationship Id="rId14" Type="http://schemas.openxmlformats.org/officeDocument/2006/relationships/tags" Target="../tags/tag303.xml"/><Relationship Id="rId22" Type="http://schemas.openxmlformats.org/officeDocument/2006/relationships/image" Target="../media/image136.png"/><Relationship Id="rId27" Type="http://schemas.openxmlformats.org/officeDocument/2006/relationships/image" Target="../media/image141.png"/><Relationship Id="rId30" Type="http://schemas.openxmlformats.org/officeDocument/2006/relationships/image" Target="../media/image14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46.png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6" Type="http://schemas.openxmlformats.org/officeDocument/2006/relationships/image" Target="../media/image145.png"/><Relationship Id="rId5" Type="http://schemas.openxmlformats.org/officeDocument/2006/relationships/image" Target="../media/image118.png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3" Type="http://schemas.openxmlformats.org/officeDocument/2006/relationships/tags" Target="../tags/tag308.xml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2" Type="http://schemas.openxmlformats.org/officeDocument/2006/relationships/tags" Target="../tags/tag307.xml"/><Relationship Id="rId1" Type="http://schemas.openxmlformats.org/officeDocument/2006/relationships/tags" Target="../tags/tag306.xml"/><Relationship Id="rId6" Type="http://schemas.openxmlformats.org/officeDocument/2006/relationships/notesSlide" Target="../notesSlides/notesSlide84.xml"/><Relationship Id="rId11" Type="http://schemas.openxmlformats.org/officeDocument/2006/relationships/image" Target="../media/image151.png"/><Relationship Id="rId5" Type="http://schemas.openxmlformats.org/officeDocument/2006/relationships/slideLayout" Target="../slideLayouts/slideLayout9.xml"/><Relationship Id="rId10" Type="http://schemas.openxmlformats.org/officeDocument/2006/relationships/image" Target="../media/image150.png"/><Relationship Id="rId4" Type="http://schemas.openxmlformats.org/officeDocument/2006/relationships/tags" Target="../tags/tag309.xml"/><Relationship Id="rId9" Type="http://schemas.openxmlformats.org/officeDocument/2006/relationships/image" Target="../media/image149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>
            <a:spLocks noGrp="1"/>
          </p:cNvSpPr>
          <p:nvPr>
            <p:ph type="ctrTitle"/>
          </p:nvPr>
        </p:nvSpPr>
        <p:spPr>
          <a:xfrm>
            <a:off x="713226" y="683801"/>
            <a:ext cx="7858282" cy="21168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" sz="4400" dirty="0"/>
              <a:t>Proof Search in </a:t>
            </a:r>
            <a:br>
              <a:rPr lang="en" sz="4800" dirty="0"/>
            </a:br>
            <a:r>
              <a:rPr lang="en" sz="4000" dirty="0"/>
              <a:t>Classical Propositional Logic </a:t>
            </a:r>
            <a:br>
              <a:rPr lang="en" sz="4000" dirty="0"/>
            </a:br>
            <a:r>
              <a:rPr lang="en" sz="4400" dirty="0"/>
              <a:t>with Partial Proof Terms</a:t>
            </a:r>
            <a:endParaRPr sz="4400" dirty="0"/>
          </a:p>
        </p:txBody>
      </p:sp>
      <p:sp>
        <p:nvSpPr>
          <p:cNvPr id="138" name="Google Shape;138;p28"/>
          <p:cNvSpPr txBox="1">
            <a:spLocks noGrp="1"/>
          </p:cNvSpPr>
          <p:nvPr>
            <p:ph type="subTitle" idx="1"/>
          </p:nvPr>
        </p:nvSpPr>
        <p:spPr>
          <a:xfrm>
            <a:off x="713226" y="2894618"/>
            <a:ext cx="5379230" cy="7073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latin typeface="Helvetica" pitchFamily="2" charset="0"/>
              </a:rPr>
              <a:t>José Espírito Santo and </a:t>
            </a:r>
            <a:r>
              <a:rPr lang="en" sz="1300" u="sng" dirty="0">
                <a:latin typeface="Helvetica" pitchFamily="2" charset="0"/>
              </a:rPr>
              <a:t>Ana Catarina Sousa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00" u="sng" dirty="0">
              <a:latin typeface="Helvetica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latin typeface="Helvetica" pitchFamily="2" charset="0"/>
              </a:rPr>
              <a:t>CMAT– </a:t>
            </a:r>
            <a:r>
              <a:rPr lang="pt-PT" sz="1200" dirty="0" err="1">
                <a:latin typeface="Helvetica" pitchFamily="2" charset="0"/>
              </a:rPr>
              <a:t>University</a:t>
            </a:r>
            <a:r>
              <a:rPr lang="pt-PT" sz="1200" dirty="0">
                <a:latin typeface="Helvetica" pitchFamily="2" charset="0"/>
              </a:rPr>
              <a:t> </a:t>
            </a:r>
            <a:r>
              <a:rPr lang="pt-PT" sz="1200" dirty="0" err="1">
                <a:latin typeface="Helvetica" pitchFamily="2" charset="0"/>
              </a:rPr>
              <a:t>of</a:t>
            </a:r>
            <a:r>
              <a:rPr lang="pt-PT" sz="1200" dirty="0">
                <a:latin typeface="Helvetica" pitchFamily="2" charset="0"/>
              </a:rPr>
              <a:t> Minho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PT" sz="1200" dirty="0">
              <a:latin typeface="Helvetica" pitchFamily="2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PT" sz="600" dirty="0">
              <a:latin typeface="Helvetica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192171-B5AF-EC1D-A2D1-65B8CA8EA74E}"/>
              </a:ext>
            </a:extLst>
          </p:cNvPr>
          <p:cNvGrpSpPr/>
          <p:nvPr/>
        </p:nvGrpSpPr>
        <p:grpSpPr>
          <a:xfrm>
            <a:off x="6595807" y="4045284"/>
            <a:ext cx="2138110" cy="754927"/>
            <a:chOff x="6648970" y="4071860"/>
            <a:chExt cx="2138110" cy="754927"/>
          </a:xfrm>
        </p:grpSpPr>
        <p:pic>
          <p:nvPicPr>
            <p:cNvPr id="7" name="Picture 6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46A37425-0E71-3865-E95D-6226FA4645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48970" y="4071860"/>
              <a:ext cx="1342092" cy="754927"/>
            </a:xfrm>
            <a:prstGeom prst="rect">
              <a:avLst/>
            </a:prstGeom>
          </p:spPr>
        </p:pic>
        <p:pic>
          <p:nvPicPr>
            <p:cNvPr id="5" name="Picture 4" descr="A close-up of a logo&#10;&#10;AI-generated content may be incorrect.">
              <a:extLst>
                <a:ext uri="{FF2B5EF4-FFF2-40B4-BE49-F238E27FC236}">
                  <a16:creationId xmlns:a16="http://schemas.microsoft.com/office/drawing/2014/main" id="{CFF6374D-1340-C013-FEC4-31A9056DF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63840" y="4293782"/>
              <a:ext cx="923240" cy="344947"/>
            </a:xfrm>
            <a:prstGeom prst="rect">
              <a:avLst/>
            </a:prstGeom>
          </p:spPr>
        </p:pic>
      </p:grpSp>
      <p:sp>
        <p:nvSpPr>
          <p:cNvPr id="10" name="Google Shape;138;p28">
            <a:extLst>
              <a:ext uri="{FF2B5EF4-FFF2-40B4-BE49-F238E27FC236}">
                <a16:creationId xmlns:a16="http://schemas.microsoft.com/office/drawing/2014/main" id="{D04D662F-19BD-E541-2841-1DA4D22E8210}"/>
              </a:ext>
            </a:extLst>
          </p:cNvPr>
          <p:cNvSpPr txBox="1">
            <a:spLocks/>
          </p:cNvSpPr>
          <p:nvPr/>
        </p:nvSpPr>
        <p:spPr>
          <a:xfrm>
            <a:off x="713226" y="3992963"/>
            <a:ext cx="3274828" cy="51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6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/>
            <a:r>
              <a:rPr lang="en-GB" sz="1200" dirty="0" err="1">
                <a:solidFill>
                  <a:schemeClr val="bg1"/>
                </a:solidFill>
                <a:latin typeface="Helvetica" pitchFamily="2" charset="0"/>
              </a:rPr>
              <a:t>WoLLIC</a:t>
            </a:r>
            <a:r>
              <a:rPr lang="en-GB" sz="1200" dirty="0">
                <a:solidFill>
                  <a:schemeClr val="bg1"/>
                </a:solidFill>
                <a:latin typeface="Helvetica" pitchFamily="2" charset="0"/>
              </a:rPr>
              <a:t> 2025 @ Porto            </a:t>
            </a:r>
          </a:p>
          <a:p>
            <a:pPr marL="0" lvl="0" indent="0"/>
            <a:r>
              <a:rPr lang="en-GB" sz="1200" dirty="0">
                <a:solidFill>
                  <a:schemeClr val="bg1"/>
                </a:solidFill>
                <a:latin typeface="Helvetica" pitchFamily="2" charset="0"/>
              </a:rPr>
              <a:t>16</a:t>
            </a:r>
            <a:r>
              <a:rPr lang="en-GB" sz="1200" baseline="30000" dirty="0">
                <a:solidFill>
                  <a:schemeClr val="bg1"/>
                </a:solidFill>
                <a:latin typeface="Helvetica" pitchFamily="2" charset="0"/>
              </a:rPr>
              <a:t>th</a:t>
            </a:r>
            <a:r>
              <a:rPr lang="en-GB" sz="1200" dirty="0">
                <a:solidFill>
                  <a:schemeClr val="bg1"/>
                </a:solidFill>
                <a:latin typeface="Helvetica" pitchFamily="2" charset="0"/>
              </a:rPr>
              <a:t> July 2025</a:t>
            </a:r>
          </a:p>
          <a:p>
            <a:pPr marL="0" indent="0">
              <a:lnSpc>
                <a:spcPct val="150000"/>
              </a:lnSpc>
            </a:pPr>
            <a:endParaRPr lang="en-PT" sz="1200" dirty="0">
              <a:solidFill>
                <a:schemeClr val="bg1"/>
              </a:solidFill>
              <a:latin typeface="Helvetica" pitchFamily="2" charset="0"/>
            </a:endParaRPr>
          </a:p>
          <a:p>
            <a:pPr marL="0" indent="0">
              <a:lnSpc>
                <a:spcPct val="150000"/>
              </a:lnSpc>
            </a:pPr>
            <a:endParaRPr lang="en-PT" sz="600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/>
        </p:nvSpPr>
        <p:spPr>
          <a:xfrm>
            <a:off x="1343324" y="4851000"/>
            <a:ext cx="378747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Proof Search in Classical Propositional Logic with Partial Proof Terms</a:t>
            </a:r>
            <a:endParaRPr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2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  <a:endParaRPr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2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endParaRPr lang="en-GB"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r"/>
            <a:endParaRPr lang="en-GB"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2"/>
          <p:cNvSpPr txBox="1">
            <a:spLocks noGrp="1"/>
          </p:cNvSpPr>
          <p:nvPr>
            <p:ph type="title"/>
          </p:nvPr>
        </p:nvSpPr>
        <p:spPr>
          <a:xfrm>
            <a:off x="722376" y="1861301"/>
            <a:ext cx="4798748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Motivation &amp;</a:t>
            </a:r>
            <a:br>
              <a:rPr lang="en" dirty="0"/>
            </a:br>
            <a:r>
              <a:rPr lang="en" dirty="0"/>
              <a:t>Partial Proof Terms</a:t>
            </a:r>
            <a:endParaRPr dirty="0"/>
          </a:p>
        </p:txBody>
      </p:sp>
      <p:sp>
        <p:nvSpPr>
          <p:cNvPr id="192" name="Google Shape;192;p32"/>
          <p:cNvSpPr txBox="1">
            <a:spLocks noGrp="1"/>
          </p:cNvSpPr>
          <p:nvPr>
            <p:ph type="title" idx="2"/>
          </p:nvPr>
        </p:nvSpPr>
        <p:spPr>
          <a:xfrm>
            <a:off x="722376" y="984098"/>
            <a:ext cx="1235700" cy="8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>
            <a:spLocks noGrp="1"/>
          </p:cNvSpPr>
          <p:nvPr>
            <p:ph type="title"/>
          </p:nvPr>
        </p:nvSpPr>
        <p:spPr>
          <a:xfrm>
            <a:off x="713275" y="794675"/>
            <a:ext cx="3147525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Finished Proof</a:t>
            </a:r>
            <a:endParaRPr dirty="0"/>
          </a:p>
        </p:txBody>
      </p:sp>
      <p:sp>
        <p:nvSpPr>
          <p:cNvPr id="200" name="Google Shape;200;p33"/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B16889-8482-253C-167A-1FC4F35215B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13099" y="2125079"/>
            <a:ext cx="2663263" cy="11688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8E06CF72-775F-ED36-63E9-D298E76A8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>
            <a:extLst>
              <a:ext uri="{FF2B5EF4-FFF2-40B4-BE49-F238E27FC236}">
                <a16:creationId xmlns:a16="http://schemas.microsoft.com/office/drawing/2014/main" id="{979A5D7D-59CD-E50A-C718-29BC777835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794675"/>
            <a:ext cx="3147525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Finished Proof</a:t>
            </a:r>
            <a:endParaRPr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20ADB183-3404-6857-22F5-D8F81824B375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E99212E9-CF61-CC50-4771-9200A7717E2F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445C9E43-478E-6C5B-1F20-9B5A093487AA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6FB4B11-0279-5E93-F9B3-44D30D442441}"/>
              </a:ext>
            </a:extLst>
          </p:cNvPr>
          <p:cNvGrpSpPr/>
          <p:nvPr/>
        </p:nvGrpSpPr>
        <p:grpSpPr>
          <a:xfrm>
            <a:off x="3967480" y="2286391"/>
            <a:ext cx="1209040" cy="846254"/>
            <a:chOff x="3921760" y="2326300"/>
            <a:chExt cx="1209040" cy="846254"/>
          </a:xfrm>
        </p:grpSpPr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8B4D53E8-E443-F43A-010F-3C9C0C7CB9D2}"/>
                </a:ext>
              </a:extLst>
            </p:cNvPr>
            <p:cNvSpPr/>
            <p:nvPr/>
          </p:nvSpPr>
          <p:spPr>
            <a:xfrm>
              <a:off x="4033520" y="2326300"/>
              <a:ext cx="862330" cy="564169"/>
            </a:xfrm>
            <a:prstGeom prst="rightArrow">
              <a:avLst>
                <a:gd name="adj1" fmla="val 15086"/>
                <a:gd name="adj2" fmla="val 49495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PT" dirty="0"/>
            </a:p>
          </p:txBody>
        </p:sp>
        <p:sp>
          <p:nvSpPr>
            <p:cNvPr id="5" name="Google Shape;168;p30">
              <a:extLst>
                <a:ext uri="{FF2B5EF4-FFF2-40B4-BE49-F238E27FC236}">
                  <a16:creationId xmlns:a16="http://schemas.microsoft.com/office/drawing/2014/main" id="{5C9C68F6-38BF-F2AE-B7E0-E5EA9D5913A8}"/>
                </a:ext>
              </a:extLst>
            </p:cNvPr>
            <p:cNvSpPr txBox="1">
              <a:spLocks/>
            </p:cNvSpPr>
            <p:nvPr/>
          </p:nvSpPr>
          <p:spPr>
            <a:xfrm>
              <a:off x="3921760" y="2608385"/>
              <a:ext cx="1209040" cy="564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L="914400" marR="0" lvl="1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0" indent="0">
                <a:buFont typeface="Roboto"/>
                <a:buNone/>
              </a:pPr>
              <a:r>
                <a:rPr lang="en-GB" dirty="0"/>
                <a:t>Curry</a:t>
              </a:r>
            </a:p>
            <a:p>
              <a:pPr marL="0" indent="0">
                <a:buFont typeface="Roboto"/>
                <a:buNone/>
              </a:pPr>
              <a:r>
                <a:rPr lang="en-GB" dirty="0"/>
                <a:t>Howard Isomorphism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80CC211-53E9-C211-A784-CD0C889D196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13099" y="2125079"/>
            <a:ext cx="2663263" cy="116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8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24CCCB89-AF13-A838-A392-9C34C50B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>
            <a:extLst>
              <a:ext uri="{FF2B5EF4-FFF2-40B4-BE49-F238E27FC236}">
                <a16:creationId xmlns:a16="http://schemas.microsoft.com/office/drawing/2014/main" id="{BA783DB6-7326-A5E1-93CC-FE8D8AD6FB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794675"/>
            <a:ext cx="3147525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Finished Proof</a:t>
            </a:r>
            <a:endParaRPr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915CDC4D-207B-5A7A-DCE8-1F5F4BFDB79F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92652809-6767-289B-D76E-DFB3AC06FC4B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82685582-E556-4CD6-A531-32A249341844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347D9CE-67E7-46E4-B4A6-E92E3936DE32}"/>
              </a:ext>
            </a:extLst>
          </p:cNvPr>
          <p:cNvGrpSpPr/>
          <p:nvPr/>
        </p:nvGrpSpPr>
        <p:grpSpPr>
          <a:xfrm>
            <a:off x="3967480" y="2286391"/>
            <a:ext cx="1209040" cy="846254"/>
            <a:chOff x="3921760" y="2326300"/>
            <a:chExt cx="1209040" cy="846254"/>
          </a:xfrm>
        </p:grpSpPr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F705DCD8-A6FF-49B0-23EA-6E9260A891A1}"/>
                </a:ext>
              </a:extLst>
            </p:cNvPr>
            <p:cNvSpPr/>
            <p:nvPr/>
          </p:nvSpPr>
          <p:spPr>
            <a:xfrm>
              <a:off x="4033520" y="2326300"/>
              <a:ext cx="862330" cy="564169"/>
            </a:xfrm>
            <a:prstGeom prst="rightArrow">
              <a:avLst>
                <a:gd name="adj1" fmla="val 15086"/>
                <a:gd name="adj2" fmla="val 49495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PT" dirty="0"/>
            </a:p>
          </p:txBody>
        </p:sp>
        <p:sp>
          <p:nvSpPr>
            <p:cNvPr id="5" name="Google Shape;168;p30">
              <a:extLst>
                <a:ext uri="{FF2B5EF4-FFF2-40B4-BE49-F238E27FC236}">
                  <a16:creationId xmlns:a16="http://schemas.microsoft.com/office/drawing/2014/main" id="{D66E12E1-3D8D-A1B6-7410-89D1126B252C}"/>
                </a:ext>
              </a:extLst>
            </p:cNvPr>
            <p:cNvSpPr txBox="1">
              <a:spLocks/>
            </p:cNvSpPr>
            <p:nvPr/>
          </p:nvSpPr>
          <p:spPr>
            <a:xfrm>
              <a:off x="3921760" y="2608385"/>
              <a:ext cx="1209040" cy="564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L="914400" marR="0" lvl="1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0" indent="0">
                <a:buFont typeface="Roboto"/>
                <a:buNone/>
              </a:pPr>
              <a:r>
                <a:rPr lang="en-GB" dirty="0"/>
                <a:t>Curry</a:t>
              </a:r>
            </a:p>
            <a:p>
              <a:pPr marL="0" indent="0">
                <a:buFont typeface="Roboto"/>
                <a:buNone/>
              </a:pPr>
              <a:r>
                <a:rPr lang="en-GB" dirty="0"/>
                <a:t>Howard Isomorphism</a:t>
              </a:r>
            </a:p>
          </p:txBody>
        </p:sp>
      </p:grpSp>
      <p:sp>
        <p:nvSpPr>
          <p:cNvPr id="3" name="Google Shape;198;p33">
            <a:extLst>
              <a:ext uri="{FF2B5EF4-FFF2-40B4-BE49-F238E27FC236}">
                <a16:creationId xmlns:a16="http://schemas.microsoft.com/office/drawing/2014/main" id="{A43ED934-A290-16DD-19C4-8891EC5EE07F}"/>
              </a:ext>
            </a:extLst>
          </p:cNvPr>
          <p:cNvSpPr txBox="1">
            <a:spLocks/>
          </p:cNvSpPr>
          <p:nvPr/>
        </p:nvSpPr>
        <p:spPr>
          <a:xfrm>
            <a:off x="5257972" y="794675"/>
            <a:ext cx="3147525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Proof Term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816E1D-562C-7BB2-8D0E-702AC655910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620617" y="2345267"/>
            <a:ext cx="1954770" cy="446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FEC39A-DB9D-88B7-2618-EFF7F42E67B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13099" y="2125079"/>
            <a:ext cx="2663263" cy="116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503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F5A1C7AA-ED58-9D32-558E-84AD2468E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 1">
            <a:extLst>
              <a:ext uri="{FF2B5EF4-FFF2-40B4-BE49-F238E27FC236}">
                <a16:creationId xmlns:a16="http://schemas.microsoft.com/office/drawing/2014/main" id="{4AF13082-B059-0F27-BEDE-580096488C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794675"/>
            <a:ext cx="3775598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Unfinished Proof</a:t>
            </a:r>
            <a:endParaRPr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070442AD-9FFC-720A-9C32-8DAF7AE5D6F7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AFDE3E8A-4DAD-247B-8290-BCBEEB8E14F9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482C815F-F595-0EEF-59E2-F5E94BE0F6B4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062077-3435-1AB4-7ED1-2C992B35BF3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86250" y="2702120"/>
            <a:ext cx="2520236" cy="591837"/>
          </a:xfrm>
          <a:prstGeom prst="rect">
            <a:avLst/>
          </a:prstGeom>
        </p:spPr>
      </p:pic>
      <p:sp>
        <p:nvSpPr>
          <p:cNvPr id="14" name="Merge 13">
            <a:extLst>
              <a:ext uri="{FF2B5EF4-FFF2-40B4-BE49-F238E27FC236}">
                <a16:creationId xmlns:a16="http://schemas.microsoft.com/office/drawing/2014/main" id="{3A8A2332-829D-B1D2-9E3D-B06DBC4622D1}"/>
              </a:ext>
            </a:extLst>
          </p:cNvPr>
          <p:cNvSpPr/>
          <p:nvPr/>
        </p:nvSpPr>
        <p:spPr>
          <a:xfrm>
            <a:off x="1525386" y="1922317"/>
            <a:ext cx="1163781" cy="625376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9098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533EF1A6-F8BA-2E6A-A0DB-13877404A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 1">
            <a:extLst>
              <a:ext uri="{FF2B5EF4-FFF2-40B4-BE49-F238E27FC236}">
                <a16:creationId xmlns:a16="http://schemas.microsoft.com/office/drawing/2014/main" id="{2B80EFF0-3977-5E7F-ABD9-341B2A67FD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794675"/>
            <a:ext cx="3775598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Unfinished Proof</a:t>
            </a:r>
            <a:endParaRPr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20346CA9-4D44-7056-6BBD-93C08CBF15E6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180D8D10-D201-4062-72E4-552071170E72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DA5EEC90-F646-9DD6-19F7-6CAB12EE184A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3AB26AF-BE16-C8B7-CFD9-6ED7BD469604}"/>
              </a:ext>
            </a:extLst>
          </p:cNvPr>
          <p:cNvGrpSpPr/>
          <p:nvPr/>
        </p:nvGrpSpPr>
        <p:grpSpPr>
          <a:xfrm>
            <a:off x="3967480" y="2286391"/>
            <a:ext cx="1209040" cy="846254"/>
            <a:chOff x="3921760" y="2326300"/>
            <a:chExt cx="1209040" cy="846254"/>
          </a:xfrm>
        </p:grpSpPr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86C8D499-BF38-26CF-03C0-BFAB8CFC1233}"/>
                </a:ext>
              </a:extLst>
            </p:cNvPr>
            <p:cNvSpPr/>
            <p:nvPr/>
          </p:nvSpPr>
          <p:spPr>
            <a:xfrm>
              <a:off x="4033520" y="2326300"/>
              <a:ext cx="862330" cy="564169"/>
            </a:xfrm>
            <a:prstGeom prst="rightArrow">
              <a:avLst>
                <a:gd name="adj1" fmla="val 15086"/>
                <a:gd name="adj2" fmla="val 49495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PT" dirty="0"/>
            </a:p>
          </p:txBody>
        </p:sp>
        <p:sp>
          <p:nvSpPr>
            <p:cNvPr id="5" name="Google Shape;168;p30">
              <a:extLst>
                <a:ext uri="{FF2B5EF4-FFF2-40B4-BE49-F238E27FC236}">
                  <a16:creationId xmlns:a16="http://schemas.microsoft.com/office/drawing/2014/main" id="{55A60A99-BF5C-D1C8-820D-31979094D701}"/>
                </a:ext>
              </a:extLst>
            </p:cNvPr>
            <p:cNvSpPr txBox="1">
              <a:spLocks/>
            </p:cNvSpPr>
            <p:nvPr/>
          </p:nvSpPr>
          <p:spPr>
            <a:xfrm>
              <a:off x="3921760" y="2608385"/>
              <a:ext cx="1209040" cy="564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L="914400" marR="0" lvl="1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0" indent="0">
                <a:buFont typeface="Roboto"/>
                <a:buNone/>
              </a:pPr>
              <a:endParaRPr lang="en-GB" dirty="0"/>
            </a:p>
            <a:p>
              <a:pPr marL="0" indent="0">
                <a:buFont typeface="Roboto"/>
                <a:buNone/>
              </a:pPr>
              <a:endParaRPr lang="en-GB" dirty="0"/>
            </a:p>
            <a:p>
              <a:pPr marL="0" indent="0">
                <a:buFont typeface="Roboto"/>
                <a:buNone/>
              </a:pPr>
              <a:endParaRPr lang="en-GB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651DBD6-9F58-3472-0CA1-603D1289143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86250" y="2702120"/>
            <a:ext cx="2520236" cy="591837"/>
          </a:xfrm>
          <a:prstGeom prst="rect">
            <a:avLst/>
          </a:prstGeom>
        </p:spPr>
      </p:pic>
      <p:sp>
        <p:nvSpPr>
          <p:cNvPr id="4" name="Merge 3">
            <a:extLst>
              <a:ext uri="{FF2B5EF4-FFF2-40B4-BE49-F238E27FC236}">
                <a16:creationId xmlns:a16="http://schemas.microsoft.com/office/drawing/2014/main" id="{ED651F83-3188-9BA0-9443-E3E52F4E2CA3}"/>
              </a:ext>
            </a:extLst>
          </p:cNvPr>
          <p:cNvSpPr/>
          <p:nvPr/>
        </p:nvSpPr>
        <p:spPr>
          <a:xfrm>
            <a:off x="1525386" y="1922317"/>
            <a:ext cx="1163781" cy="625376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12777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A17186E2-7A6D-8AB6-3462-8A0B14A2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 1">
            <a:extLst>
              <a:ext uri="{FF2B5EF4-FFF2-40B4-BE49-F238E27FC236}">
                <a16:creationId xmlns:a16="http://schemas.microsoft.com/office/drawing/2014/main" id="{2E0E40A5-F5AA-F166-F84F-DB242F1D9A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794675"/>
            <a:ext cx="3775598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Unfinished Proof</a:t>
            </a:r>
            <a:endParaRPr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7F7E5F1F-9535-B66B-C343-75A851B6B28F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29D70519-5E50-24A9-30CE-7B3C5B3EA7F1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B5165ECE-41F3-E20E-3FF5-2C835C39EE6B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A94536A-50AF-0A5A-3790-6355D07F9F38}"/>
              </a:ext>
            </a:extLst>
          </p:cNvPr>
          <p:cNvGrpSpPr/>
          <p:nvPr/>
        </p:nvGrpSpPr>
        <p:grpSpPr>
          <a:xfrm>
            <a:off x="3967480" y="2286391"/>
            <a:ext cx="1209040" cy="846254"/>
            <a:chOff x="3921760" y="2326300"/>
            <a:chExt cx="1209040" cy="846254"/>
          </a:xfrm>
        </p:grpSpPr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5E900DC0-1294-EE29-E667-0D5675C5317E}"/>
                </a:ext>
              </a:extLst>
            </p:cNvPr>
            <p:cNvSpPr/>
            <p:nvPr/>
          </p:nvSpPr>
          <p:spPr>
            <a:xfrm>
              <a:off x="4033520" y="2326300"/>
              <a:ext cx="862330" cy="564169"/>
            </a:xfrm>
            <a:prstGeom prst="rightArrow">
              <a:avLst>
                <a:gd name="adj1" fmla="val 15086"/>
                <a:gd name="adj2" fmla="val 49495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PT" dirty="0"/>
            </a:p>
          </p:txBody>
        </p:sp>
        <p:sp>
          <p:nvSpPr>
            <p:cNvPr id="5" name="Google Shape;168;p30">
              <a:extLst>
                <a:ext uri="{FF2B5EF4-FFF2-40B4-BE49-F238E27FC236}">
                  <a16:creationId xmlns:a16="http://schemas.microsoft.com/office/drawing/2014/main" id="{067DCB22-794D-E702-B3DF-B2EBCF76F9BA}"/>
                </a:ext>
              </a:extLst>
            </p:cNvPr>
            <p:cNvSpPr txBox="1">
              <a:spLocks/>
            </p:cNvSpPr>
            <p:nvPr/>
          </p:nvSpPr>
          <p:spPr>
            <a:xfrm>
              <a:off x="3921760" y="2608385"/>
              <a:ext cx="1209040" cy="564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L="914400" marR="0" lvl="1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0" indent="0">
                <a:buFont typeface="Roboto"/>
                <a:buNone/>
              </a:pPr>
              <a:endParaRPr lang="en-GB" dirty="0"/>
            </a:p>
            <a:p>
              <a:pPr marL="0" indent="0">
                <a:buFont typeface="Roboto"/>
                <a:buNone/>
              </a:pPr>
              <a:endParaRPr lang="en-GB" dirty="0"/>
            </a:p>
            <a:p>
              <a:pPr marL="0" indent="0">
                <a:buFont typeface="Roboto"/>
                <a:buNone/>
              </a:pPr>
              <a:endParaRPr lang="en-GB" dirty="0"/>
            </a:p>
          </p:txBody>
        </p:sp>
      </p:grpSp>
      <p:sp>
        <p:nvSpPr>
          <p:cNvPr id="4" name="Google Shape;198;p33 1">
            <a:extLst>
              <a:ext uri="{FF2B5EF4-FFF2-40B4-BE49-F238E27FC236}">
                <a16:creationId xmlns:a16="http://schemas.microsoft.com/office/drawing/2014/main" id="{2234947B-A8D3-28FD-5205-193EF055D211}"/>
              </a:ext>
            </a:extLst>
          </p:cNvPr>
          <p:cNvSpPr txBox="1">
            <a:spLocks/>
          </p:cNvSpPr>
          <p:nvPr/>
        </p:nvSpPr>
        <p:spPr>
          <a:xfrm>
            <a:off x="6194483" y="1749303"/>
            <a:ext cx="1016808" cy="154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sz="9600" dirty="0"/>
              <a:t>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0BF5CF-20B9-1505-D5FC-7B01156C610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86250" y="2702120"/>
            <a:ext cx="2520236" cy="591837"/>
          </a:xfrm>
          <a:prstGeom prst="rect">
            <a:avLst/>
          </a:prstGeom>
        </p:spPr>
      </p:pic>
      <p:sp>
        <p:nvSpPr>
          <p:cNvPr id="7" name="Merge 6">
            <a:extLst>
              <a:ext uri="{FF2B5EF4-FFF2-40B4-BE49-F238E27FC236}">
                <a16:creationId xmlns:a16="http://schemas.microsoft.com/office/drawing/2014/main" id="{31691B1C-DBB6-C5A4-BC06-8BD5E1347B11}"/>
              </a:ext>
            </a:extLst>
          </p:cNvPr>
          <p:cNvSpPr/>
          <p:nvPr/>
        </p:nvSpPr>
        <p:spPr>
          <a:xfrm>
            <a:off x="1525386" y="1922317"/>
            <a:ext cx="1163781" cy="625376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91435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2A0F8113-FF62-2188-EB6D-A469272A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 1">
            <a:extLst>
              <a:ext uri="{FF2B5EF4-FFF2-40B4-BE49-F238E27FC236}">
                <a16:creationId xmlns:a16="http://schemas.microsoft.com/office/drawing/2014/main" id="{AA973E6C-5D0A-049F-F3B7-D6C2F3C23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794675"/>
            <a:ext cx="3775598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Unfinished Proof</a:t>
            </a:r>
            <a:endParaRPr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2E174826-EAB7-39F1-CC80-6714C4FF7329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F1615A7F-B5EB-15D4-D333-3D1FE7F5ABDD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CB4F8C13-80D8-3C32-4FFA-698A48340D8A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FB9B1E5-25DC-4089-75D1-992CDEB8B8FE}"/>
              </a:ext>
            </a:extLst>
          </p:cNvPr>
          <p:cNvGrpSpPr/>
          <p:nvPr/>
        </p:nvGrpSpPr>
        <p:grpSpPr>
          <a:xfrm>
            <a:off x="3925916" y="2286391"/>
            <a:ext cx="1290320" cy="846254"/>
            <a:chOff x="3880196" y="2326300"/>
            <a:chExt cx="1290320" cy="846254"/>
          </a:xfrm>
        </p:grpSpPr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1BC80A22-531F-5FBD-6F20-48CDD7473CB8}"/>
                </a:ext>
              </a:extLst>
            </p:cNvPr>
            <p:cNvSpPr/>
            <p:nvPr/>
          </p:nvSpPr>
          <p:spPr>
            <a:xfrm>
              <a:off x="4033520" y="2326300"/>
              <a:ext cx="862330" cy="564169"/>
            </a:xfrm>
            <a:prstGeom prst="rightArrow">
              <a:avLst>
                <a:gd name="adj1" fmla="val 15086"/>
                <a:gd name="adj2" fmla="val 49495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PT" dirty="0"/>
            </a:p>
          </p:txBody>
        </p:sp>
        <p:sp>
          <p:nvSpPr>
            <p:cNvPr id="5" name="Google Shape;168;p30">
              <a:extLst>
                <a:ext uri="{FF2B5EF4-FFF2-40B4-BE49-F238E27FC236}">
                  <a16:creationId xmlns:a16="http://schemas.microsoft.com/office/drawing/2014/main" id="{A565D3BC-DC95-0025-74AD-58241AB255E8}"/>
                </a:ext>
              </a:extLst>
            </p:cNvPr>
            <p:cNvSpPr txBox="1">
              <a:spLocks/>
            </p:cNvSpPr>
            <p:nvPr/>
          </p:nvSpPr>
          <p:spPr>
            <a:xfrm>
              <a:off x="3880196" y="2608385"/>
              <a:ext cx="1290320" cy="564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L="914400" marR="0" lvl="1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0" indent="0">
                <a:buFont typeface="Roboto"/>
                <a:buNone/>
              </a:pPr>
              <a:endParaRPr lang="en-GB" dirty="0"/>
            </a:p>
            <a:p>
              <a:pPr marL="0" indent="0">
                <a:buFont typeface="Roboto"/>
                <a:buNone/>
              </a:pPr>
              <a:endParaRPr lang="en-GB" dirty="0"/>
            </a:p>
            <a:p>
              <a:pPr marL="0" indent="0">
                <a:buFont typeface="Roboto"/>
                <a:buNone/>
              </a:pPr>
              <a:r>
                <a:rPr lang="en-GB" dirty="0"/>
                <a:t>CICM @ 2024</a:t>
              </a:r>
              <a:r>
                <a:rPr lang="en-GB" b="1" dirty="0"/>
                <a:t> *</a:t>
              </a:r>
            </a:p>
            <a:p>
              <a:pPr marL="0" indent="0">
                <a:buFont typeface="Roboto"/>
                <a:buNone/>
              </a:pPr>
              <a:endParaRPr lang="en-GB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EFCBCF7-8A8C-9F93-D37B-89521ACB45CB}"/>
              </a:ext>
            </a:extLst>
          </p:cNvPr>
          <p:cNvSpPr txBox="1"/>
          <p:nvPr/>
        </p:nvSpPr>
        <p:spPr>
          <a:xfrm>
            <a:off x="1527373" y="4415026"/>
            <a:ext cx="6823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GB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Espírito Santo, J., Sousa, A.C. (2024). Partial Proof Terms in the Study of Idealized Proof Search.</a:t>
            </a:r>
            <a:endParaRPr lang="en-PT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C668AC-E728-585F-80D0-27E46D2A838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86250" y="2702120"/>
            <a:ext cx="2520236" cy="591837"/>
          </a:xfrm>
          <a:prstGeom prst="rect">
            <a:avLst/>
          </a:prstGeom>
        </p:spPr>
      </p:pic>
      <p:sp>
        <p:nvSpPr>
          <p:cNvPr id="4" name="Merge 3">
            <a:extLst>
              <a:ext uri="{FF2B5EF4-FFF2-40B4-BE49-F238E27FC236}">
                <a16:creationId xmlns:a16="http://schemas.microsoft.com/office/drawing/2014/main" id="{2B07F57A-04AA-4BAE-2F92-898CF3B31E1C}"/>
              </a:ext>
            </a:extLst>
          </p:cNvPr>
          <p:cNvSpPr/>
          <p:nvPr/>
        </p:nvSpPr>
        <p:spPr>
          <a:xfrm>
            <a:off x="1525386" y="1922317"/>
            <a:ext cx="1163781" cy="625376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13342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DD727AD4-BD5E-D8E2-9AE5-9BDE94BAC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 1">
            <a:extLst>
              <a:ext uri="{FF2B5EF4-FFF2-40B4-BE49-F238E27FC236}">
                <a16:creationId xmlns:a16="http://schemas.microsoft.com/office/drawing/2014/main" id="{AC8B5E93-6148-F1E7-37B7-CAF9CB373A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794675"/>
            <a:ext cx="3775598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Unfinished Proof</a:t>
            </a:r>
            <a:endParaRPr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4B9D249E-A972-B7C8-28AD-2030E10F74EC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AB710E3D-0E27-B2FE-2BD8-DC896E6895BE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DC35BD00-E72C-5EC5-DAD7-A74F1C7A0739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2B23C77-33BF-F7DB-71BA-7FC876DCAF0E}"/>
              </a:ext>
            </a:extLst>
          </p:cNvPr>
          <p:cNvGrpSpPr/>
          <p:nvPr/>
        </p:nvGrpSpPr>
        <p:grpSpPr>
          <a:xfrm>
            <a:off x="3925916" y="2286391"/>
            <a:ext cx="1290320" cy="846254"/>
            <a:chOff x="3880196" y="2326300"/>
            <a:chExt cx="1290320" cy="846254"/>
          </a:xfrm>
        </p:grpSpPr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422EE6CC-4761-4A39-E6C4-8BE136D22D7A}"/>
                </a:ext>
              </a:extLst>
            </p:cNvPr>
            <p:cNvSpPr/>
            <p:nvPr/>
          </p:nvSpPr>
          <p:spPr>
            <a:xfrm>
              <a:off x="4033520" y="2326300"/>
              <a:ext cx="862330" cy="564169"/>
            </a:xfrm>
            <a:prstGeom prst="rightArrow">
              <a:avLst>
                <a:gd name="adj1" fmla="val 15086"/>
                <a:gd name="adj2" fmla="val 49495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PT" dirty="0"/>
            </a:p>
          </p:txBody>
        </p:sp>
        <p:sp>
          <p:nvSpPr>
            <p:cNvPr id="13" name="Google Shape;168;p30">
              <a:extLst>
                <a:ext uri="{FF2B5EF4-FFF2-40B4-BE49-F238E27FC236}">
                  <a16:creationId xmlns:a16="http://schemas.microsoft.com/office/drawing/2014/main" id="{2488E5E8-69D5-2FD4-38FD-1DC9BB13813D}"/>
                </a:ext>
              </a:extLst>
            </p:cNvPr>
            <p:cNvSpPr txBox="1">
              <a:spLocks/>
            </p:cNvSpPr>
            <p:nvPr/>
          </p:nvSpPr>
          <p:spPr>
            <a:xfrm>
              <a:off x="3880196" y="2608385"/>
              <a:ext cx="1290320" cy="564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L="914400" marR="0" lvl="1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0" indent="0">
                <a:buFont typeface="Roboto"/>
                <a:buNone/>
              </a:pPr>
              <a:endParaRPr lang="en-GB" dirty="0"/>
            </a:p>
            <a:p>
              <a:pPr marL="0" indent="0">
                <a:buFont typeface="Roboto"/>
                <a:buNone/>
              </a:pPr>
              <a:endParaRPr lang="en-GB" dirty="0"/>
            </a:p>
            <a:p>
              <a:pPr marL="0" indent="0">
                <a:buFont typeface="Roboto"/>
                <a:buNone/>
              </a:pPr>
              <a:r>
                <a:rPr lang="en-GB" dirty="0"/>
                <a:t>CICM @ 2024</a:t>
              </a:r>
              <a:r>
                <a:rPr lang="en-GB" b="1" dirty="0"/>
                <a:t> *</a:t>
              </a:r>
            </a:p>
            <a:p>
              <a:pPr marL="0" indent="0">
                <a:buFont typeface="Roboto"/>
                <a:buNone/>
              </a:pPr>
              <a:endParaRPr lang="en-GB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79829B8-622D-1D24-8664-7AB073DF63E9}"/>
              </a:ext>
            </a:extLst>
          </p:cNvPr>
          <p:cNvSpPr txBox="1"/>
          <p:nvPr/>
        </p:nvSpPr>
        <p:spPr>
          <a:xfrm>
            <a:off x="1527373" y="4415026"/>
            <a:ext cx="6823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GB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Espírito Santo, J., Sousa, A.C. (2024). Partial Proof Terms in the Study of Idealized Proof Search.</a:t>
            </a:r>
            <a:endParaRPr lang="en-PT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Google Shape;198;p33">
            <a:extLst>
              <a:ext uri="{FF2B5EF4-FFF2-40B4-BE49-F238E27FC236}">
                <a16:creationId xmlns:a16="http://schemas.microsoft.com/office/drawing/2014/main" id="{5707B8D5-F895-0E09-599C-1275B6090FBA}"/>
              </a:ext>
            </a:extLst>
          </p:cNvPr>
          <p:cNvSpPr txBox="1">
            <a:spLocks/>
          </p:cNvSpPr>
          <p:nvPr/>
        </p:nvSpPr>
        <p:spPr>
          <a:xfrm>
            <a:off x="5283200" y="794675"/>
            <a:ext cx="3147525" cy="1273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Partial</a:t>
            </a:r>
          </a:p>
          <a:p>
            <a:r>
              <a:rPr lang="en-GB" dirty="0"/>
              <a:t>Proof Term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1286C32-9DBF-21BF-E080-74A414E182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57666" y="2510557"/>
            <a:ext cx="2598592" cy="3831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AA36B8-D4D0-449F-1D5D-07FC317F119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86250" y="2702120"/>
            <a:ext cx="2520236" cy="591837"/>
          </a:xfrm>
          <a:prstGeom prst="rect">
            <a:avLst/>
          </a:prstGeom>
        </p:spPr>
      </p:pic>
      <p:sp>
        <p:nvSpPr>
          <p:cNvPr id="3" name="Merge 2">
            <a:extLst>
              <a:ext uri="{FF2B5EF4-FFF2-40B4-BE49-F238E27FC236}">
                <a16:creationId xmlns:a16="http://schemas.microsoft.com/office/drawing/2014/main" id="{749F93E6-C8AB-B3B9-3090-DD00223EE098}"/>
              </a:ext>
            </a:extLst>
          </p:cNvPr>
          <p:cNvSpPr/>
          <p:nvPr/>
        </p:nvSpPr>
        <p:spPr>
          <a:xfrm>
            <a:off x="1525386" y="1922317"/>
            <a:ext cx="1163781" cy="625376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46863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8B2028C3-BEFA-937B-6F5D-B32AA6111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 1">
            <a:extLst>
              <a:ext uri="{FF2B5EF4-FFF2-40B4-BE49-F238E27FC236}">
                <a16:creationId xmlns:a16="http://schemas.microsoft.com/office/drawing/2014/main" id="{27994A86-05D4-5523-5A9A-A611E91B85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794675"/>
            <a:ext cx="3775598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Unfinished Proof</a:t>
            </a:r>
            <a:endParaRPr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B4DDE3A6-91E0-686B-65E1-C4CFB3C56A16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BA88D766-DC27-A38E-3D78-7C9A6BDA0FCC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EA59C75E-C80C-5230-6A80-D0A4BFB69B30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4AD5BD-5CD4-BE50-3BBD-FCCCCB8D5EEB}"/>
              </a:ext>
            </a:extLst>
          </p:cNvPr>
          <p:cNvGrpSpPr/>
          <p:nvPr/>
        </p:nvGrpSpPr>
        <p:grpSpPr>
          <a:xfrm>
            <a:off x="3925916" y="2286391"/>
            <a:ext cx="1290320" cy="846254"/>
            <a:chOff x="3880196" y="2326300"/>
            <a:chExt cx="1290320" cy="846254"/>
          </a:xfrm>
        </p:grpSpPr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77D3B18E-2260-B25F-AA39-82BEC4DBDBC4}"/>
                </a:ext>
              </a:extLst>
            </p:cNvPr>
            <p:cNvSpPr/>
            <p:nvPr/>
          </p:nvSpPr>
          <p:spPr>
            <a:xfrm>
              <a:off x="4033520" y="2326300"/>
              <a:ext cx="862330" cy="564169"/>
            </a:xfrm>
            <a:prstGeom prst="rightArrow">
              <a:avLst>
                <a:gd name="adj1" fmla="val 15086"/>
                <a:gd name="adj2" fmla="val 49495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PT" dirty="0"/>
            </a:p>
          </p:txBody>
        </p:sp>
        <p:sp>
          <p:nvSpPr>
            <p:cNvPr id="13" name="Google Shape;168;p30">
              <a:extLst>
                <a:ext uri="{FF2B5EF4-FFF2-40B4-BE49-F238E27FC236}">
                  <a16:creationId xmlns:a16="http://schemas.microsoft.com/office/drawing/2014/main" id="{D9BC08DF-F033-FE00-D9E0-6448196D1F15}"/>
                </a:ext>
              </a:extLst>
            </p:cNvPr>
            <p:cNvSpPr txBox="1">
              <a:spLocks/>
            </p:cNvSpPr>
            <p:nvPr/>
          </p:nvSpPr>
          <p:spPr>
            <a:xfrm>
              <a:off x="3880196" y="2608385"/>
              <a:ext cx="1290320" cy="564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L="914400" marR="0" lvl="1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0" indent="0">
                <a:buFont typeface="Roboto"/>
                <a:buNone/>
              </a:pPr>
              <a:endParaRPr lang="en-GB" dirty="0"/>
            </a:p>
            <a:p>
              <a:pPr marL="0" indent="0">
                <a:buFont typeface="Roboto"/>
                <a:buNone/>
              </a:pPr>
              <a:endParaRPr lang="en-GB" dirty="0"/>
            </a:p>
            <a:p>
              <a:pPr marL="0" indent="0">
                <a:buFont typeface="Roboto"/>
                <a:buNone/>
              </a:pPr>
              <a:r>
                <a:rPr lang="en-GB" dirty="0"/>
                <a:t>CICM @ 2024</a:t>
              </a:r>
              <a:r>
                <a:rPr lang="en-GB" b="1" dirty="0"/>
                <a:t> *</a:t>
              </a:r>
            </a:p>
            <a:p>
              <a:pPr marL="0" indent="0">
                <a:buFont typeface="Roboto"/>
                <a:buNone/>
              </a:pPr>
              <a:endParaRPr lang="en-GB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666A23B-EBFB-52E1-B283-E8A51B2704F1}"/>
              </a:ext>
            </a:extLst>
          </p:cNvPr>
          <p:cNvSpPr txBox="1"/>
          <p:nvPr/>
        </p:nvSpPr>
        <p:spPr>
          <a:xfrm>
            <a:off x="1527373" y="4415026"/>
            <a:ext cx="6823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GB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Espírito Santo, J., Sousa, A.C. (2024). Partial Proof Terms in the Study of Idealized Proof Search.</a:t>
            </a:r>
            <a:endParaRPr lang="en-PT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Google Shape;198;p33">
            <a:extLst>
              <a:ext uri="{FF2B5EF4-FFF2-40B4-BE49-F238E27FC236}">
                <a16:creationId xmlns:a16="http://schemas.microsoft.com/office/drawing/2014/main" id="{AA8CEB16-0967-5951-1EA1-522A3EC6458A}"/>
              </a:ext>
            </a:extLst>
          </p:cNvPr>
          <p:cNvSpPr txBox="1">
            <a:spLocks/>
          </p:cNvSpPr>
          <p:nvPr/>
        </p:nvSpPr>
        <p:spPr>
          <a:xfrm>
            <a:off x="5283200" y="794675"/>
            <a:ext cx="3147525" cy="1273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Partial</a:t>
            </a:r>
          </a:p>
          <a:p>
            <a:r>
              <a:rPr lang="en-GB" dirty="0"/>
              <a:t>Proof Term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52BB18-C207-9829-895A-121B5F7A604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57666" y="2510557"/>
            <a:ext cx="2598592" cy="383126"/>
          </a:xfrm>
          <a:prstGeom prst="rect">
            <a:avLst/>
          </a:prstGeom>
        </p:spPr>
      </p:pic>
      <p:sp>
        <p:nvSpPr>
          <p:cNvPr id="4" name="Google Shape;199;p33">
            <a:extLst>
              <a:ext uri="{FF2B5EF4-FFF2-40B4-BE49-F238E27FC236}">
                <a16:creationId xmlns:a16="http://schemas.microsoft.com/office/drawing/2014/main" id="{1F009A24-D103-9587-CFC0-19B8891C8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57667" y="3193200"/>
            <a:ext cx="3004442" cy="9828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sz="1400" b="1" dirty="0"/>
              <a:t>Formal </a:t>
            </a:r>
            <a:r>
              <a:rPr lang="pt-PT" sz="1400" b="1" dirty="0" err="1"/>
              <a:t>Sequents</a:t>
            </a:r>
            <a:endParaRPr lang="pt-PT" sz="1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C6D3FF-14FA-EF9F-7822-BAFC6C6F159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86250" y="2702120"/>
            <a:ext cx="2520236" cy="591837"/>
          </a:xfrm>
          <a:prstGeom prst="rect">
            <a:avLst/>
          </a:prstGeom>
        </p:spPr>
      </p:pic>
      <p:sp>
        <p:nvSpPr>
          <p:cNvPr id="3" name="Merge 2">
            <a:extLst>
              <a:ext uri="{FF2B5EF4-FFF2-40B4-BE49-F238E27FC236}">
                <a16:creationId xmlns:a16="http://schemas.microsoft.com/office/drawing/2014/main" id="{0DA0A74D-F563-9A87-C11E-8013565C600A}"/>
              </a:ext>
            </a:extLst>
          </p:cNvPr>
          <p:cNvSpPr/>
          <p:nvPr/>
        </p:nvSpPr>
        <p:spPr>
          <a:xfrm>
            <a:off x="1525386" y="1922317"/>
            <a:ext cx="1163781" cy="625376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70331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9A0BB8BC-8A03-DBC2-F2D4-D0C2C97E7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 1">
            <a:extLst>
              <a:ext uri="{FF2B5EF4-FFF2-40B4-BE49-F238E27FC236}">
                <a16:creationId xmlns:a16="http://schemas.microsoft.com/office/drawing/2014/main" id="{DE787250-24EE-4E31-25A3-13F0DC2162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794675"/>
            <a:ext cx="3775598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Unfinished Proof</a:t>
            </a:r>
            <a:endParaRPr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59F1CEBA-EE5A-A03C-1990-8C01EF0781BA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C59CEFD5-7689-7346-1328-8AB9ECEA6E00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684BAC39-0E72-7E29-1D46-3EE5DFC728A7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E40BD0-4F88-DA35-7A6A-93AA177F1D3D}"/>
              </a:ext>
            </a:extLst>
          </p:cNvPr>
          <p:cNvGrpSpPr/>
          <p:nvPr/>
        </p:nvGrpSpPr>
        <p:grpSpPr>
          <a:xfrm>
            <a:off x="3925916" y="2286391"/>
            <a:ext cx="1290320" cy="846254"/>
            <a:chOff x="3880196" y="2326300"/>
            <a:chExt cx="1290320" cy="846254"/>
          </a:xfrm>
        </p:grpSpPr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48DF8B18-6DEE-3507-EF02-BA185DE7C147}"/>
                </a:ext>
              </a:extLst>
            </p:cNvPr>
            <p:cNvSpPr/>
            <p:nvPr/>
          </p:nvSpPr>
          <p:spPr>
            <a:xfrm>
              <a:off x="4033520" y="2326300"/>
              <a:ext cx="862330" cy="564169"/>
            </a:xfrm>
            <a:prstGeom prst="rightArrow">
              <a:avLst>
                <a:gd name="adj1" fmla="val 15086"/>
                <a:gd name="adj2" fmla="val 49495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PT" dirty="0"/>
            </a:p>
          </p:txBody>
        </p:sp>
        <p:sp>
          <p:nvSpPr>
            <p:cNvPr id="13" name="Google Shape;168;p30">
              <a:extLst>
                <a:ext uri="{FF2B5EF4-FFF2-40B4-BE49-F238E27FC236}">
                  <a16:creationId xmlns:a16="http://schemas.microsoft.com/office/drawing/2014/main" id="{5F6B69D1-9B7A-38AB-EBF0-919B6325AE65}"/>
                </a:ext>
              </a:extLst>
            </p:cNvPr>
            <p:cNvSpPr txBox="1">
              <a:spLocks/>
            </p:cNvSpPr>
            <p:nvPr/>
          </p:nvSpPr>
          <p:spPr>
            <a:xfrm>
              <a:off x="3880196" y="2608385"/>
              <a:ext cx="1290320" cy="5641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L="914400" marR="0" lvl="1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○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■"/>
                <a:defRPr sz="12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0" indent="0">
                <a:buFont typeface="Roboto"/>
                <a:buNone/>
              </a:pPr>
              <a:endParaRPr lang="en-GB" dirty="0"/>
            </a:p>
            <a:p>
              <a:pPr marL="0" indent="0">
                <a:buFont typeface="Roboto"/>
                <a:buNone/>
              </a:pPr>
              <a:endParaRPr lang="en-GB" dirty="0"/>
            </a:p>
            <a:p>
              <a:pPr marL="0" indent="0">
                <a:buFont typeface="Roboto"/>
                <a:buNone/>
              </a:pPr>
              <a:r>
                <a:rPr lang="en-GB" dirty="0"/>
                <a:t>CICM @ 2024</a:t>
              </a:r>
              <a:r>
                <a:rPr lang="en-GB" b="1" dirty="0"/>
                <a:t> *</a:t>
              </a:r>
            </a:p>
            <a:p>
              <a:pPr marL="0" indent="0">
                <a:buFont typeface="Roboto"/>
                <a:buNone/>
              </a:pPr>
              <a:endParaRPr lang="en-GB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66959D6-DA85-6AEC-BD21-39215A0E2822}"/>
              </a:ext>
            </a:extLst>
          </p:cNvPr>
          <p:cNvSpPr txBox="1"/>
          <p:nvPr/>
        </p:nvSpPr>
        <p:spPr>
          <a:xfrm>
            <a:off x="1527373" y="4415026"/>
            <a:ext cx="6823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GB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Espírito Santo, J., Sousa, A.C. (2024). Partial Proof Terms in the Study of Idealized Proof Search.</a:t>
            </a:r>
            <a:endParaRPr lang="en-PT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Google Shape;198;p33">
            <a:extLst>
              <a:ext uri="{FF2B5EF4-FFF2-40B4-BE49-F238E27FC236}">
                <a16:creationId xmlns:a16="http://schemas.microsoft.com/office/drawing/2014/main" id="{F0E751AD-3E53-38FE-E4F7-7D92D3D38051}"/>
              </a:ext>
            </a:extLst>
          </p:cNvPr>
          <p:cNvSpPr txBox="1">
            <a:spLocks/>
          </p:cNvSpPr>
          <p:nvPr/>
        </p:nvSpPr>
        <p:spPr>
          <a:xfrm>
            <a:off x="5283200" y="794675"/>
            <a:ext cx="3147525" cy="1273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Partial</a:t>
            </a:r>
          </a:p>
          <a:p>
            <a:r>
              <a:rPr lang="en-GB" dirty="0"/>
              <a:t>Proof Term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B37732D-DBDE-42FB-13AA-9D9AC2EB0DB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57666" y="2510557"/>
            <a:ext cx="2598592" cy="383126"/>
          </a:xfrm>
          <a:prstGeom prst="rect">
            <a:avLst/>
          </a:prstGeom>
        </p:spPr>
      </p:pic>
      <p:sp>
        <p:nvSpPr>
          <p:cNvPr id="5" name="Google Shape;199;p33">
            <a:extLst>
              <a:ext uri="{FF2B5EF4-FFF2-40B4-BE49-F238E27FC236}">
                <a16:creationId xmlns:a16="http://schemas.microsoft.com/office/drawing/2014/main" id="{4C615A22-87C7-9511-F205-7C22C572D671}"/>
              </a:ext>
            </a:extLst>
          </p:cNvPr>
          <p:cNvSpPr txBox="1">
            <a:spLocks/>
          </p:cNvSpPr>
          <p:nvPr/>
        </p:nvSpPr>
        <p:spPr>
          <a:xfrm>
            <a:off x="5557667" y="3193200"/>
            <a:ext cx="3004442" cy="982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pt-PT" sz="1400" dirty="0"/>
              <a:t>Formal </a:t>
            </a:r>
            <a:r>
              <a:rPr lang="pt-PT" sz="1400" dirty="0" err="1"/>
              <a:t>Sequents</a:t>
            </a:r>
            <a:endParaRPr lang="pt-PT" sz="1400" dirty="0"/>
          </a:p>
          <a:p>
            <a:r>
              <a:rPr lang="pt-PT" sz="1400" b="1" dirty="0" err="1"/>
              <a:t>Proof</a:t>
            </a:r>
            <a:r>
              <a:rPr lang="pt-PT" sz="1400" b="1" dirty="0"/>
              <a:t> </a:t>
            </a:r>
            <a:r>
              <a:rPr lang="pt-PT" sz="1400" b="1" dirty="0" err="1"/>
              <a:t>Search</a:t>
            </a:r>
            <a:r>
              <a:rPr lang="pt-PT" sz="1400" b="1" dirty="0"/>
              <a:t> as </a:t>
            </a:r>
            <a:r>
              <a:rPr lang="pt-PT" sz="1400" b="1" dirty="0" err="1"/>
              <a:t>Rewriting</a:t>
            </a:r>
            <a:endParaRPr lang="pt-PT" sz="1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8DEB14-B678-33EA-F0A4-47575DB3944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86250" y="2702120"/>
            <a:ext cx="2520236" cy="591837"/>
          </a:xfrm>
          <a:prstGeom prst="rect">
            <a:avLst/>
          </a:prstGeom>
        </p:spPr>
      </p:pic>
      <p:sp>
        <p:nvSpPr>
          <p:cNvPr id="3" name="Merge 2">
            <a:extLst>
              <a:ext uri="{FF2B5EF4-FFF2-40B4-BE49-F238E27FC236}">
                <a16:creationId xmlns:a16="http://schemas.microsoft.com/office/drawing/2014/main" id="{999685E9-3333-DC53-9619-DD4E8577172C}"/>
              </a:ext>
            </a:extLst>
          </p:cNvPr>
          <p:cNvSpPr/>
          <p:nvPr/>
        </p:nvSpPr>
        <p:spPr>
          <a:xfrm>
            <a:off x="1525386" y="1922317"/>
            <a:ext cx="1163781" cy="625376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82341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9B44C880-497A-4EDE-E91C-32D345FB2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 1">
            <a:extLst>
              <a:ext uri="{FF2B5EF4-FFF2-40B4-BE49-F238E27FC236}">
                <a16:creationId xmlns:a16="http://schemas.microsoft.com/office/drawing/2014/main" id="{18075A8E-CA95-F818-A6BB-F5CA12970B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794675"/>
            <a:ext cx="3775598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Unfinished Proof</a:t>
            </a:r>
            <a:endParaRPr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E0E92E03-3D6F-C5CA-B75C-19F1C5396392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412483B6-CDF3-0B93-0818-198FA66F055B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06748E5F-D60F-5D12-A035-E3083D5C314A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CFB752C2-8A04-4CAA-810F-5BC8BF41742E}"/>
              </a:ext>
            </a:extLst>
          </p:cNvPr>
          <p:cNvSpPr/>
          <p:nvPr/>
        </p:nvSpPr>
        <p:spPr>
          <a:xfrm>
            <a:off x="4079240" y="2286391"/>
            <a:ext cx="862330" cy="564169"/>
          </a:xfrm>
          <a:prstGeom prst="rightArrow">
            <a:avLst>
              <a:gd name="adj1" fmla="val 15086"/>
              <a:gd name="adj2" fmla="val 49495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T" dirty="0"/>
          </a:p>
        </p:txBody>
      </p:sp>
      <p:sp>
        <p:nvSpPr>
          <p:cNvPr id="13" name="Google Shape;168;p30">
            <a:extLst>
              <a:ext uri="{FF2B5EF4-FFF2-40B4-BE49-F238E27FC236}">
                <a16:creationId xmlns:a16="http://schemas.microsoft.com/office/drawing/2014/main" id="{B26B5FEF-5E5F-AFB2-D844-BEAF1BB826B6}"/>
              </a:ext>
            </a:extLst>
          </p:cNvPr>
          <p:cNvSpPr txBox="1">
            <a:spLocks/>
          </p:cNvSpPr>
          <p:nvPr/>
        </p:nvSpPr>
        <p:spPr>
          <a:xfrm>
            <a:off x="3925916" y="2568476"/>
            <a:ext cx="1290320" cy="56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endParaRPr lang="en-GB" dirty="0"/>
          </a:p>
          <a:p>
            <a:pPr marL="0" indent="0">
              <a:buFont typeface="Roboto"/>
              <a:buNone/>
            </a:pPr>
            <a:endParaRPr lang="en-GB" dirty="0"/>
          </a:p>
          <a:p>
            <a:pPr marL="0" indent="0">
              <a:buFont typeface="Roboto"/>
              <a:buNone/>
            </a:pPr>
            <a:r>
              <a:rPr lang="en-GB" dirty="0"/>
              <a:t>CICM @ 2024</a:t>
            </a:r>
            <a:r>
              <a:rPr lang="en-GB" b="1" dirty="0"/>
              <a:t> *</a:t>
            </a:r>
          </a:p>
          <a:p>
            <a:pPr marL="0" indent="0">
              <a:buFont typeface="Roboto"/>
              <a:buNone/>
            </a:pP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3FB0A4-0C36-0506-3869-593EA392FA09}"/>
              </a:ext>
            </a:extLst>
          </p:cNvPr>
          <p:cNvSpPr txBox="1"/>
          <p:nvPr/>
        </p:nvSpPr>
        <p:spPr>
          <a:xfrm>
            <a:off x="1527373" y="4415026"/>
            <a:ext cx="6823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GB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Espírito Santo, J., Sousa, A.C. (2024). Partial Proof Terms in the Study of Idealized Proof Search.</a:t>
            </a:r>
            <a:endParaRPr lang="en-PT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Google Shape;198;p33">
            <a:extLst>
              <a:ext uri="{FF2B5EF4-FFF2-40B4-BE49-F238E27FC236}">
                <a16:creationId xmlns:a16="http://schemas.microsoft.com/office/drawing/2014/main" id="{1190949E-3523-458D-A83A-204AB409AB49}"/>
              </a:ext>
            </a:extLst>
          </p:cNvPr>
          <p:cNvSpPr txBox="1">
            <a:spLocks/>
          </p:cNvSpPr>
          <p:nvPr/>
        </p:nvSpPr>
        <p:spPr>
          <a:xfrm>
            <a:off x="5283200" y="794675"/>
            <a:ext cx="3147525" cy="1273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Partial</a:t>
            </a:r>
          </a:p>
          <a:p>
            <a:r>
              <a:rPr lang="en-GB" dirty="0"/>
              <a:t>Proof Term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BA8FD33-EE06-CD04-41BB-9E76E0C7D5F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57666" y="2510557"/>
            <a:ext cx="2598592" cy="383126"/>
          </a:xfrm>
          <a:prstGeom prst="rect">
            <a:avLst/>
          </a:prstGeom>
        </p:spPr>
      </p:pic>
      <p:sp>
        <p:nvSpPr>
          <p:cNvPr id="5" name="Google Shape;199;p33">
            <a:extLst>
              <a:ext uri="{FF2B5EF4-FFF2-40B4-BE49-F238E27FC236}">
                <a16:creationId xmlns:a16="http://schemas.microsoft.com/office/drawing/2014/main" id="{D7BDD533-B3A5-EE17-1B7A-7A4B90068A4D}"/>
              </a:ext>
            </a:extLst>
          </p:cNvPr>
          <p:cNvSpPr txBox="1">
            <a:spLocks/>
          </p:cNvSpPr>
          <p:nvPr/>
        </p:nvSpPr>
        <p:spPr>
          <a:xfrm>
            <a:off x="5557667" y="3193200"/>
            <a:ext cx="3004442" cy="982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pt-PT" sz="1400" dirty="0"/>
              <a:t>Formal </a:t>
            </a:r>
            <a:r>
              <a:rPr lang="pt-PT" sz="1400" dirty="0" err="1"/>
              <a:t>Sequents</a:t>
            </a:r>
            <a:endParaRPr lang="pt-PT" sz="1400" dirty="0"/>
          </a:p>
          <a:p>
            <a:r>
              <a:rPr lang="pt-PT" sz="1400" dirty="0" err="1"/>
              <a:t>Proof</a:t>
            </a:r>
            <a:r>
              <a:rPr lang="pt-PT" sz="1400" dirty="0"/>
              <a:t> </a:t>
            </a:r>
            <a:r>
              <a:rPr lang="pt-PT" sz="1400" dirty="0" err="1"/>
              <a:t>Search</a:t>
            </a:r>
            <a:r>
              <a:rPr lang="pt-PT" sz="1400" dirty="0"/>
              <a:t> as </a:t>
            </a:r>
            <a:r>
              <a:rPr lang="pt-PT" sz="1400" dirty="0" err="1"/>
              <a:t>Rewriting</a:t>
            </a:r>
            <a:endParaRPr lang="pt-PT" sz="1400" dirty="0"/>
          </a:p>
          <a:p>
            <a:r>
              <a:rPr lang="pt-PT" sz="1400" b="1" dirty="0" err="1"/>
              <a:t>Idealized</a:t>
            </a:r>
            <a:r>
              <a:rPr lang="pt-PT" sz="1400" b="1" dirty="0"/>
              <a:t> </a:t>
            </a:r>
            <a:r>
              <a:rPr lang="pt-PT" sz="1400" b="1" dirty="0" err="1"/>
              <a:t>Proof</a:t>
            </a:r>
            <a:r>
              <a:rPr lang="pt-PT" sz="1400" b="1" dirty="0"/>
              <a:t> </a:t>
            </a:r>
            <a:r>
              <a:rPr lang="pt-PT" sz="1400" b="1" dirty="0" err="1"/>
              <a:t>Search</a:t>
            </a:r>
            <a:endParaRPr lang="pt-PT" sz="1400" b="1" dirty="0"/>
          </a:p>
          <a:p>
            <a:endParaRPr lang="pt-PT" sz="1400" b="1" dirty="0"/>
          </a:p>
        </p:txBody>
      </p:sp>
      <p:sp>
        <p:nvSpPr>
          <p:cNvPr id="2" name="Google Shape;198;p33 1">
            <a:extLst>
              <a:ext uri="{FF2B5EF4-FFF2-40B4-BE49-F238E27FC236}">
                <a16:creationId xmlns:a16="http://schemas.microsoft.com/office/drawing/2014/main" id="{CE1D3B4F-49CF-41BA-80FA-932F89DCD5C2}"/>
              </a:ext>
            </a:extLst>
          </p:cNvPr>
          <p:cNvSpPr txBox="1">
            <a:spLocks/>
          </p:cNvSpPr>
          <p:nvPr/>
        </p:nvSpPr>
        <p:spPr>
          <a:xfrm>
            <a:off x="713275" y="794596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CICM @ 2024 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C9E43-0AD8-8D61-8EFE-6EF5D1EA4A3D}"/>
              </a:ext>
            </a:extLst>
          </p:cNvPr>
          <p:cNvSpPr txBox="1"/>
          <p:nvPr/>
        </p:nvSpPr>
        <p:spPr>
          <a:xfrm>
            <a:off x="3795252" y="318565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T"/>
          </a:p>
        </p:txBody>
      </p:sp>
      <p:sp>
        <p:nvSpPr>
          <p:cNvPr id="6" name="Merge 5">
            <a:extLst>
              <a:ext uri="{FF2B5EF4-FFF2-40B4-BE49-F238E27FC236}">
                <a16:creationId xmlns:a16="http://schemas.microsoft.com/office/drawing/2014/main" id="{2DF0C7CE-0586-3F14-B785-13D3C97FEE03}"/>
              </a:ext>
            </a:extLst>
          </p:cNvPr>
          <p:cNvSpPr/>
          <p:nvPr/>
        </p:nvSpPr>
        <p:spPr>
          <a:xfrm>
            <a:off x="1525386" y="1922317"/>
            <a:ext cx="1163781" cy="625376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7FC256-8421-2FCE-8C0F-A8EFDCEB3A4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86250" y="2702120"/>
            <a:ext cx="2520236" cy="59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87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66 0.37222 L 5E-6 -2.22222E-6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30" y="-18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  <p:bldP spid="11" grpId="0" animBg="1"/>
      <p:bldP spid="13" grpId="0"/>
      <p:bldP spid="16" grpId="0"/>
      <p:bldP spid="5" grpId="0"/>
      <p:bldP spid="2" grpId="0"/>
      <p:bldP spid="2" grpId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3396792A-477A-D417-8AF7-F39EC563F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8;p33 1">
            <a:extLst>
              <a:ext uri="{FF2B5EF4-FFF2-40B4-BE49-F238E27FC236}">
                <a16:creationId xmlns:a16="http://schemas.microsoft.com/office/drawing/2014/main" id="{709957ED-5FB6-8E26-84EC-C9976BF6C1B2}"/>
              </a:ext>
            </a:extLst>
          </p:cNvPr>
          <p:cNvSpPr txBox="1">
            <a:spLocks/>
          </p:cNvSpPr>
          <p:nvPr/>
        </p:nvSpPr>
        <p:spPr>
          <a:xfrm>
            <a:off x="713275" y="794596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CICM @ 2024 *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6A135F28-29A6-5D02-79C3-7ACED219B82A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5601FD82-2085-1A94-272A-950BCD12F873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1C24EA6A-6D20-BA71-9532-0611F7C0DE79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D116EE-0A7D-263D-7A0E-FDCABEA41F4D}"/>
              </a:ext>
            </a:extLst>
          </p:cNvPr>
          <p:cNvSpPr txBox="1"/>
          <p:nvPr/>
        </p:nvSpPr>
        <p:spPr>
          <a:xfrm>
            <a:off x="1527373" y="4415026"/>
            <a:ext cx="6823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GB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Espírito Santo, J., Sousa, A.C. (2024). Partial Proof Terms in the Study of Idealized Proof Search.</a:t>
            </a:r>
            <a:endParaRPr lang="en-PT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B1D1FB3-0BB0-2FC7-BEE3-2973197919EE}"/>
              </a:ext>
            </a:extLst>
          </p:cNvPr>
          <p:cNvSpPr/>
          <p:nvPr/>
        </p:nvSpPr>
        <p:spPr>
          <a:xfrm>
            <a:off x="860612" y="1640541"/>
            <a:ext cx="5298141" cy="2581835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Google Shape;168;p30">
            <a:extLst>
              <a:ext uri="{FF2B5EF4-FFF2-40B4-BE49-F238E27FC236}">
                <a16:creationId xmlns:a16="http://schemas.microsoft.com/office/drawing/2014/main" id="{F0909943-CBEF-E53A-4EED-6DDE42AEBFDE}"/>
              </a:ext>
            </a:extLst>
          </p:cNvPr>
          <p:cNvSpPr txBox="1">
            <a:spLocks/>
          </p:cNvSpPr>
          <p:nvPr/>
        </p:nvSpPr>
        <p:spPr>
          <a:xfrm>
            <a:off x="4250660" y="1222746"/>
            <a:ext cx="1908093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Intuitionistic Logic</a:t>
            </a:r>
          </a:p>
        </p:txBody>
      </p:sp>
    </p:spTree>
    <p:extLst>
      <p:ext uri="{BB962C8B-B14F-4D97-AF65-F5344CB8AC3E}">
        <p14:creationId xmlns:p14="http://schemas.microsoft.com/office/powerpoint/2010/main" val="971684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32F51D18-BA8C-E03C-43C2-94ABFFC36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8;p33 1">
            <a:extLst>
              <a:ext uri="{FF2B5EF4-FFF2-40B4-BE49-F238E27FC236}">
                <a16:creationId xmlns:a16="http://schemas.microsoft.com/office/drawing/2014/main" id="{293B2A33-F2AB-D0CC-5D14-3E3AB335BA41}"/>
              </a:ext>
            </a:extLst>
          </p:cNvPr>
          <p:cNvSpPr txBox="1">
            <a:spLocks/>
          </p:cNvSpPr>
          <p:nvPr/>
        </p:nvSpPr>
        <p:spPr>
          <a:xfrm>
            <a:off x="713275" y="794596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CICM @ 2024 *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CDF4153A-62B0-BD2E-225C-018D464E0F3F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B53C957C-4828-FAA4-5D89-394F10706D0E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33DE4C73-C10B-3990-41BE-E73BFC19BDB1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841014-BDB0-E31D-95AE-06366D8A6D8D}"/>
              </a:ext>
            </a:extLst>
          </p:cNvPr>
          <p:cNvSpPr txBox="1"/>
          <p:nvPr/>
        </p:nvSpPr>
        <p:spPr>
          <a:xfrm>
            <a:off x="1527373" y="4415026"/>
            <a:ext cx="6823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GB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Espírito Santo, J., Sousa, A.C. (2024). Partial Proof Terms in the Study of Idealized Proof Search.</a:t>
            </a:r>
            <a:endParaRPr lang="en-PT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CE32E2-6ADD-F2C2-A6CE-A649752F2835}"/>
              </a:ext>
            </a:extLst>
          </p:cNvPr>
          <p:cNvSpPr/>
          <p:nvPr/>
        </p:nvSpPr>
        <p:spPr>
          <a:xfrm>
            <a:off x="860612" y="1640541"/>
            <a:ext cx="5298141" cy="2581835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Google Shape;168;p30 1">
            <a:extLst>
              <a:ext uri="{FF2B5EF4-FFF2-40B4-BE49-F238E27FC236}">
                <a16:creationId xmlns:a16="http://schemas.microsoft.com/office/drawing/2014/main" id="{D75CC5A7-DF8D-7C49-78DD-AADCAF46361E}"/>
              </a:ext>
            </a:extLst>
          </p:cNvPr>
          <p:cNvSpPr txBox="1">
            <a:spLocks/>
          </p:cNvSpPr>
          <p:nvPr/>
        </p:nvSpPr>
        <p:spPr>
          <a:xfrm>
            <a:off x="4250660" y="1222746"/>
            <a:ext cx="1908093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Intuitionistic Logic</a:t>
            </a:r>
          </a:p>
        </p:txBody>
      </p:sp>
      <p:sp>
        <p:nvSpPr>
          <p:cNvPr id="3" name="Google Shape;168;p30 2">
            <a:extLst>
              <a:ext uri="{FF2B5EF4-FFF2-40B4-BE49-F238E27FC236}">
                <a16:creationId xmlns:a16="http://schemas.microsoft.com/office/drawing/2014/main" id="{482F2780-ACB1-FA57-BC48-DFD46D9CA97B}"/>
              </a:ext>
            </a:extLst>
          </p:cNvPr>
          <p:cNvSpPr txBox="1">
            <a:spLocks/>
          </p:cNvSpPr>
          <p:nvPr/>
        </p:nvSpPr>
        <p:spPr>
          <a:xfrm>
            <a:off x="1053816" y="3202714"/>
            <a:ext cx="2279587" cy="56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dirty="0"/>
              <a:t>Sequent Calculus </a:t>
            </a:r>
            <a:r>
              <a:rPr lang="en-GB" sz="1600" b="1" dirty="0"/>
              <a:t>LJT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5BF826-325C-5527-0666-5DAE5E79E1C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30555" y="2793744"/>
            <a:ext cx="634283" cy="3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42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DAA62D63-9C02-60C9-FDC7-A1923437C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8;p33 1">
            <a:extLst>
              <a:ext uri="{FF2B5EF4-FFF2-40B4-BE49-F238E27FC236}">
                <a16:creationId xmlns:a16="http://schemas.microsoft.com/office/drawing/2014/main" id="{3AACB067-8B8A-C1C4-C3A7-37BAF84C3DA2}"/>
              </a:ext>
            </a:extLst>
          </p:cNvPr>
          <p:cNvSpPr txBox="1">
            <a:spLocks/>
          </p:cNvSpPr>
          <p:nvPr/>
        </p:nvSpPr>
        <p:spPr>
          <a:xfrm>
            <a:off x="713275" y="794596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CICM @ 2024 *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93E006BC-4E2B-A7F0-4BB6-409E757ECAA4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88974593-BAB0-D716-ED38-E3A2E85CE38A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B6480451-B056-97B9-F9C9-C8AD4A6ED152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69CA2F-3C93-3E44-F784-55366CBE5C28}"/>
              </a:ext>
            </a:extLst>
          </p:cNvPr>
          <p:cNvSpPr txBox="1"/>
          <p:nvPr/>
        </p:nvSpPr>
        <p:spPr>
          <a:xfrm>
            <a:off x="1527373" y="4415026"/>
            <a:ext cx="6823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GB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Espírito Santo, J., Sousa, A.C. (2024). Partial Proof Terms in the Study of Idealized Proof Search.</a:t>
            </a:r>
            <a:endParaRPr lang="en-PT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6835B1E-86B1-0F64-7097-3C1C64E1FD36}"/>
              </a:ext>
            </a:extLst>
          </p:cNvPr>
          <p:cNvSpPr/>
          <p:nvPr/>
        </p:nvSpPr>
        <p:spPr>
          <a:xfrm>
            <a:off x="860612" y="1640541"/>
            <a:ext cx="5298141" cy="2581835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Google Shape;168;p30 1">
            <a:extLst>
              <a:ext uri="{FF2B5EF4-FFF2-40B4-BE49-F238E27FC236}">
                <a16:creationId xmlns:a16="http://schemas.microsoft.com/office/drawing/2014/main" id="{2E9C90EB-BF0A-235E-D911-7C59B3B816AA}"/>
              </a:ext>
            </a:extLst>
          </p:cNvPr>
          <p:cNvSpPr txBox="1">
            <a:spLocks/>
          </p:cNvSpPr>
          <p:nvPr/>
        </p:nvSpPr>
        <p:spPr>
          <a:xfrm>
            <a:off x="4250660" y="1222746"/>
            <a:ext cx="1908093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Intuitionistic Logic</a:t>
            </a:r>
          </a:p>
        </p:txBody>
      </p:sp>
      <p:sp>
        <p:nvSpPr>
          <p:cNvPr id="3" name="Google Shape;168;p30 2 1">
            <a:extLst>
              <a:ext uri="{FF2B5EF4-FFF2-40B4-BE49-F238E27FC236}">
                <a16:creationId xmlns:a16="http://schemas.microsoft.com/office/drawing/2014/main" id="{59C54C82-4C92-88A9-F570-541099569913}"/>
              </a:ext>
            </a:extLst>
          </p:cNvPr>
          <p:cNvSpPr txBox="1">
            <a:spLocks/>
          </p:cNvSpPr>
          <p:nvPr/>
        </p:nvSpPr>
        <p:spPr>
          <a:xfrm>
            <a:off x="1053816" y="3202714"/>
            <a:ext cx="2279587" cy="56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dirty="0"/>
              <a:t>Sequent Calculus </a:t>
            </a:r>
            <a:r>
              <a:rPr lang="en-GB" sz="1600" b="1" dirty="0"/>
              <a:t>LJT</a:t>
            </a:r>
          </a:p>
        </p:txBody>
      </p:sp>
      <p:sp>
        <p:nvSpPr>
          <p:cNvPr id="5" name="Google Shape;168;p30 2 2">
            <a:extLst>
              <a:ext uri="{FF2B5EF4-FFF2-40B4-BE49-F238E27FC236}">
                <a16:creationId xmlns:a16="http://schemas.microsoft.com/office/drawing/2014/main" id="{33CB4065-45DA-D0E7-7BD6-48694287441A}"/>
              </a:ext>
            </a:extLst>
          </p:cNvPr>
          <p:cNvSpPr txBox="1">
            <a:spLocks/>
          </p:cNvSpPr>
          <p:nvPr/>
        </p:nvSpPr>
        <p:spPr>
          <a:xfrm>
            <a:off x="3526607" y="3177264"/>
            <a:ext cx="2279587" cy="56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dirty="0"/>
              <a:t>Natural Deduction </a:t>
            </a:r>
            <a:r>
              <a:rPr lang="en-GB" sz="1600" b="1" dirty="0"/>
              <a:t>NJT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7CAFD4-3F29-78D3-44C7-A5125DD9245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8760" y="2793744"/>
            <a:ext cx="634283" cy="383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C212C6-10C2-0024-D9DA-3870B34DC45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30555" y="2793744"/>
            <a:ext cx="634283" cy="3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989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F28B4A86-1F2F-91AA-4CF8-48E18298A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8;p33 1">
            <a:extLst>
              <a:ext uri="{FF2B5EF4-FFF2-40B4-BE49-F238E27FC236}">
                <a16:creationId xmlns:a16="http://schemas.microsoft.com/office/drawing/2014/main" id="{3B25570E-9F59-D3B1-EC7E-F8400846D2A2}"/>
              </a:ext>
            </a:extLst>
          </p:cNvPr>
          <p:cNvSpPr txBox="1">
            <a:spLocks/>
          </p:cNvSpPr>
          <p:nvPr/>
        </p:nvSpPr>
        <p:spPr>
          <a:xfrm>
            <a:off x="713275" y="794596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CICM @ 2024 *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D4BA8E2B-EC3F-9758-1F31-07F56EA76580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E4403C0C-A402-D03E-37CC-2E1A6984BCF6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83CEDA4F-EA2D-852E-C5F4-D366FB502D91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23D47-71D8-08CC-9455-C749D21F226D}"/>
              </a:ext>
            </a:extLst>
          </p:cNvPr>
          <p:cNvSpPr txBox="1"/>
          <p:nvPr/>
        </p:nvSpPr>
        <p:spPr>
          <a:xfrm>
            <a:off x="1527373" y="4415026"/>
            <a:ext cx="6823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GB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Espírito Santo, J., Sousa, A.C. (2024). Partial Proof Terms in the Study of Idealized Proof Search.</a:t>
            </a:r>
            <a:endParaRPr lang="en-PT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242D891-66A7-0864-2822-CCBAA3D37AA1}"/>
              </a:ext>
            </a:extLst>
          </p:cNvPr>
          <p:cNvSpPr/>
          <p:nvPr/>
        </p:nvSpPr>
        <p:spPr>
          <a:xfrm>
            <a:off x="860612" y="1640541"/>
            <a:ext cx="5298141" cy="2581835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Google Shape;168;p30 1">
            <a:extLst>
              <a:ext uri="{FF2B5EF4-FFF2-40B4-BE49-F238E27FC236}">
                <a16:creationId xmlns:a16="http://schemas.microsoft.com/office/drawing/2014/main" id="{EE927BCA-06A0-6B85-6A72-670DC0E1B3BF}"/>
              </a:ext>
            </a:extLst>
          </p:cNvPr>
          <p:cNvSpPr txBox="1">
            <a:spLocks/>
          </p:cNvSpPr>
          <p:nvPr/>
        </p:nvSpPr>
        <p:spPr>
          <a:xfrm>
            <a:off x="4250660" y="1222746"/>
            <a:ext cx="1908093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Intuitionistic Logic</a:t>
            </a:r>
          </a:p>
        </p:txBody>
      </p:sp>
      <p:sp>
        <p:nvSpPr>
          <p:cNvPr id="3" name="Google Shape;168;p30 2">
            <a:extLst>
              <a:ext uri="{FF2B5EF4-FFF2-40B4-BE49-F238E27FC236}">
                <a16:creationId xmlns:a16="http://schemas.microsoft.com/office/drawing/2014/main" id="{7C9A6C75-1A92-0B14-E024-0CE683AEC3D3}"/>
              </a:ext>
            </a:extLst>
          </p:cNvPr>
          <p:cNvSpPr txBox="1">
            <a:spLocks/>
          </p:cNvSpPr>
          <p:nvPr/>
        </p:nvSpPr>
        <p:spPr>
          <a:xfrm>
            <a:off x="1053816" y="3202714"/>
            <a:ext cx="2279587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dirty="0"/>
              <a:t>Sequent Calculus </a:t>
            </a:r>
            <a:r>
              <a:rPr lang="en-GB" sz="1600" b="1" dirty="0"/>
              <a:t>LJT</a:t>
            </a:r>
          </a:p>
        </p:txBody>
      </p:sp>
      <p:sp>
        <p:nvSpPr>
          <p:cNvPr id="7" name="Merge 6">
            <a:extLst>
              <a:ext uri="{FF2B5EF4-FFF2-40B4-BE49-F238E27FC236}">
                <a16:creationId xmlns:a16="http://schemas.microsoft.com/office/drawing/2014/main" id="{B36819D1-E947-295C-DC88-5B0633760C5C}"/>
              </a:ext>
            </a:extLst>
          </p:cNvPr>
          <p:cNvSpPr/>
          <p:nvPr/>
        </p:nvSpPr>
        <p:spPr>
          <a:xfrm>
            <a:off x="1830554" y="2306166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sp>
        <p:nvSpPr>
          <p:cNvPr id="5" name="Google Shape;168;p30 2 2">
            <a:extLst>
              <a:ext uri="{FF2B5EF4-FFF2-40B4-BE49-F238E27FC236}">
                <a16:creationId xmlns:a16="http://schemas.microsoft.com/office/drawing/2014/main" id="{251ADB95-64FA-E417-F90F-8DD71723FE26}"/>
              </a:ext>
            </a:extLst>
          </p:cNvPr>
          <p:cNvSpPr txBox="1">
            <a:spLocks/>
          </p:cNvSpPr>
          <p:nvPr/>
        </p:nvSpPr>
        <p:spPr>
          <a:xfrm>
            <a:off x="3526607" y="3177264"/>
            <a:ext cx="2279587" cy="56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dirty="0"/>
              <a:t>Natural Deduction </a:t>
            </a:r>
            <a:r>
              <a:rPr lang="en-GB" sz="1600" b="1" dirty="0"/>
              <a:t>NJT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0C41B8-1EDB-88CF-BC19-EB183289C64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8760" y="2793744"/>
            <a:ext cx="634283" cy="383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751CEE-D2DB-44D9-57DF-6988AA39794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30555" y="2793744"/>
            <a:ext cx="634283" cy="3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95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1DB006E2-25C8-E906-E7C7-6C36CDE80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8;p33 1">
            <a:extLst>
              <a:ext uri="{FF2B5EF4-FFF2-40B4-BE49-F238E27FC236}">
                <a16:creationId xmlns:a16="http://schemas.microsoft.com/office/drawing/2014/main" id="{CB0E56DB-16B4-0377-E094-0AFD72CB8974}"/>
              </a:ext>
            </a:extLst>
          </p:cNvPr>
          <p:cNvSpPr txBox="1">
            <a:spLocks/>
          </p:cNvSpPr>
          <p:nvPr/>
        </p:nvSpPr>
        <p:spPr>
          <a:xfrm>
            <a:off x="713275" y="794596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CICM @ 2024 *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B83D1489-B782-F371-0A69-03C120603777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8FE14276-7B99-0779-9ECF-B55AE24DEB8F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7E807DC0-B699-DF6A-B55D-54FEB79EF7B5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F59A8C-9CB1-EC0E-B6DB-6BD1E3CBE2C2}"/>
              </a:ext>
            </a:extLst>
          </p:cNvPr>
          <p:cNvSpPr txBox="1"/>
          <p:nvPr/>
        </p:nvSpPr>
        <p:spPr>
          <a:xfrm>
            <a:off x="1527373" y="4415026"/>
            <a:ext cx="6823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GB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Espírito Santo, J., Sousa, A.C. (2024). Partial Proof Terms in the Study of Idealized Proof Search.</a:t>
            </a:r>
            <a:endParaRPr lang="en-PT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2BE4614-23D4-60BB-4832-BD7ABE1E010A}"/>
              </a:ext>
            </a:extLst>
          </p:cNvPr>
          <p:cNvSpPr/>
          <p:nvPr/>
        </p:nvSpPr>
        <p:spPr>
          <a:xfrm>
            <a:off x="860612" y="1640541"/>
            <a:ext cx="5298141" cy="2581835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Google Shape;168;p30 1">
            <a:extLst>
              <a:ext uri="{FF2B5EF4-FFF2-40B4-BE49-F238E27FC236}">
                <a16:creationId xmlns:a16="http://schemas.microsoft.com/office/drawing/2014/main" id="{9FBC4FEA-3A8B-243D-D37A-8684ECE2EAC7}"/>
              </a:ext>
            </a:extLst>
          </p:cNvPr>
          <p:cNvSpPr txBox="1">
            <a:spLocks/>
          </p:cNvSpPr>
          <p:nvPr/>
        </p:nvSpPr>
        <p:spPr>
          <a:xfrm>
            <a:off x="4250660" y="1222746"/>
            <a:ext cx="1908093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Intuitionistic Logic</a:t>
            </a:r>
          </a:p>
        </p:txBody>
      </p:sp>
      <p:sp>
        <p:nvSpPr>
          <p:cNvPr id="3" name="Google Shape;168;p30 2">
            <a:extLst>
              <a:ext uri="{FF2B5EF4-FFF2-40B4-BE49-F238E27FC236}">
                <a16:creationId xmlns:a16="http://schemas.microsoft.com/office/drawing/2014/main" id="{86CD2D78-ED31-A816-A120-A7E70EC37690}"/>
              </a:ext>
            </a:extLst>
          </p:cNvPr>
          <p:cNvSpPr txBox="1">
            <a:spLocks/>
          </p:cNvSpPr>
          <p:nvPr/>
        </p:nvSpPr>
        <p:spPr>
          <a:xfrm>
            <a:off x="1053816" y="3202714"/>
            <a:ext cx="2279587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dirty="0"/>
              <a:t>Sequent Calculus </a:t>
            </a:r>
            <a:r>
              <a:rPr lang="en-GB" sz="1600" b="1" dirty="0"/>
              <a:t>LJT</a:t>
            </a:r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FOCUSING</a:t>
            </a:r>
          </a:p>
        </p:txBody>
      </p:sp>
      <p:sp>
        <p:nvSpPr>
          <p:cNvPr id="7" name="Merge 6">
            <a:extLst>
              <a:ext uri="{FF2B5EF4-FFF2-40B4-BE49-F238E27FC236}">
                <a16:creationId xmlns:a16="http://schemas.microsoft.com/office/drawing/2014/main" id="{68E52DE6-B307-3CAD-E2E9-6DB7DF2B1F22}"/>
              </a:ext>
            </a:extLst>
          </p:cNvPr>
          <p:cNvSpPr/>
          <p:nvPr/>
        </p:nvSpPr>
        <p:spPr>
          <a:xfrm>
            <a:off x="1830554" y="2306166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sp>
        <p:nvSpPr>
          <p:cNvPr id="5" name="Google Shape;168;p30 2 2">
            <a:extLst>
              <a:ext uri="{FF2B5EF4-FFF2-40B4-BE49-F238E27FC236}">
                <a16:creationId xmlns:a16="http://schemas.microsoft.com/office/drawing/2014/main" id="{F479386D-3BD3-CDB0-A8D0-9F96204D1F48}"/>
              </a:ext>
            </a:extLst>
          </p:cNvPr>
          <p:cNvSpPr txBox="1">
            <a:spLocks/>
          </p:cNvSpPr>
          <p:nvPr/>
        </p:nvSpPr>
        <p:spPr>
          <a:xfrm>
            <a:off x="3526607" y="3177264"/>
            <a:ext cx="2279587" cy="56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dirty="0"/>
              <a:t>Natural Deduction </a:t>
            </a:r>
            <a:r>
              <a:rPr lang="en-GB" sz="1600" b="1" dirty="0"/>
              <a:t>NJT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D4BA52-44BB-6FAF-A74C-0701895A9B0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8760" y="2793744"/>
            <a:ext cx="634283" cy="3835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D13130-6037-4FFD-1D7F-CC3BB10035F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30555" y="2793744"/>
            <a:ext cx="634283" cy="3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28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A270787C-689F-5130-44AB-17FDF6A3C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8;p33 1">
            <a:extLst>
              <a:ext uri="{FF2B5EF4-FFF2-40B4-BE49-F238E27FC236}">
                <a16:creationId xmlns:a16="http://schemas.microsoft.com/office/drawing/2014/main" id="{2FB7B197-07D6-4205-2B12-AE5C838950B5}"/>
              </a:ext>
            </a:extLst>
          </p:cNvPr>
          <p:cNvSpPr txBox="1">
            <a:spLocks/>
          </p:cNvSpPr>
          <p:nvPr/>
        </p:nvSpPr>
        <p:spPr>
          <a:xfrm>
            <a:off x="713275" y="794596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CICM @ 2024 *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BF614A4B-4751-6695-45C3-4EC48306932B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2507CA80-009F-147D-18C0-42F2B6CDF70A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56AB82E3-BC7A-B678-2308-0DE63ADA63A7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E7F17D-9742-3015-BA0C-7BA477E03566}"/>
              </a:ext>
            </a:extLst>
          </p:cNvPr>
          <p:cNvSpPr txBox="1"/>
          <p:nvPr/>
        </p:nvSpPr>
        <p:spPr>
          <a:xfrm>
            <a:off x="1527373" y="4415026"/>
            <a:ext cx="6823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GB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Espírito Santo, J., Sousa, A.C. (2024). Partial Proof Terms in the Study of Idealized Proof Search.</a:t>
            </a:r>
            <a:endParaRPr lang="en-PT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DC414B2-1AAC-E2E6-AACE-844AF65CA473}"/>
              </a:ext>
            </a:extLst>
          </p:cNvPr>
          <p:cNvSpPr/>
          <p:nvPr/>
        </p:nvSpPr>
        <p:spPr>
          <a:xfrm>
            <a:off x="860612" y="1640541"/>
            <a:ext cx="5298141" cy="2581835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Google Shape;168;p30 1">
            <a:extLst>
              <a:ext uri="{FF2B5EF4-FFF2-40B4-BE49-F238E27FC236}">
                <a16:creationId xmlns:a16="http://schemas.microsoft.com/office/drawing/2014/main" id="{93AC98A6-E0DB-56ED-A70A-E6AE9197C052}"/>
              </a:ext>
            </a:extLst>
          </p:cNvPr>
          <p:cNvSpPr txBox="1">
            <a:spLocks/>
          </p:cNvSpPr>
          <p:nvPr/>
        </p:nvSpPr>
        <p:spPr>
          <a:xfrm>
            <a:off x="4250660" y="1222746"/>
            <a:ext cx="1908093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Intuitionistic Logic</a:t>
            </a:r>
          </a:p>
        </p:txBody>
      </p:sp>
      <p:sp>
        <p:nvSpPr>
          <p:cNvPr id="3" name="Google Shape;168;p30 2">
            <a:extLst>
              <a:ext uri="{FF2B5EF4-FFF2-40B4-BE49-F238E27FC236}">
                <a16:creationId xmlns:a16="http://schemas.microsoft.com/office/drawing/2014/main" id="{E4A3418E-9B7D-CB1A-FC50-09D4E3AAA68E}"/>
              </a:ext>
            </a:extLst>
          </p:cNvPr>
          <p:cNvSpPr txBox="1">
            <a:spLocks/>
          </p:cNvSpPr>
          <p:nvPr/>
        </p:nvSpPr>
        <p:spPr>
          <a:xfrm>
            <a:off x="1053816" y="3202714"/>
            <a:ext cx="2279587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dirty="0"/>
              <a:t>Sequent Calculus </a:t>
            </a:r>
            <a:r>
              <a:rPr lang="en-GB" sz="1600" b="1" dirty="0"/>
              <a:t>LJT</a:t>
            </a:r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FOCUSING</a:t>
            </a:r>
          </a:p>
        </p:txBody>
      </p:sp>
      <p:sp>
        <p:nvSpPr>
          <p:cNvPr id="7" name="Merge 6">
            <a:extLst>
              <a:ext uri="{FF2B5EF4-FFF2-40B4-BE49-F238E27FC236}">
                <a16:creationId xmlns:a16="http://schemas.microsoft.com/office/drawing/2014/main" id="{C2E39B20-C588-A6CD-B77C-9C8A700B27BB}"/>
              </a:ext>
            </a:extLst>
          </p:cNvPr>
          <p:cNvSpPr/>
          <p:nvPr/>
        </p:nvSpPr>
        <p:spPr>
          <a:xfrm>
            <a:off x="1830554" y="2306166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sp>
        <p:nvSpPr>
          <p:cNvPr id="5" name="Google Shape;168;p30 2 2">
            <a:extLst>
              <a:ext uri="{FF2B5EF4-FFF2-40B4-BE49-F238E27FC236}">
                <a16:creationId xmlns:a16="http://schemas.microsoft.com/office/drawing/2014/main" id="{B7E3B91A-FE27-20D7-B0E5-C36E75DBA4F0}"/>
              </a:ext>
            </a:extLst>
          </p:cNvPr>
          <p:cNvSpPr txBox="1">
            <a:spLocks/>
          </p:cNvSpPr>
          <p:nvPr/>
        </p:nvSpPr>
        <p:spPr>
          <a:xfrm>
            <a:off x="3526607" y="3177264"/>
            <a:ext cx="2279587" cy="56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dirty="0"/>
              <a:t>Natural Deduction </a:t>
            </a:r>
            <a:r>
              <a:rPr lang="en-GB" sz="1600" b="1" dirty="0"/>
              <a:t>NJT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2951B8-2D02-3E20-13CE-F1EB530BBDB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46485" y="1933010"/>
            <a:ext cx="737539" cy="211428"/>
          </a:xfrm>
          <a:prstGeom prst="rect">
            <a:avLst/>
          </a:prstGeom>
        </p:spPr>
      </p:pic>
      <p:sp>
        <p:nvSpPr>
          <p:cNvPr id="28" name="Decision 27">
            <a:extLst>
              <a:ext uri="{FF2B5EF4-FFF2-40B4-BE49-F238E27FC236}">
                <a16:creationId xmlns:a16="http://schemas.microsoft.com/office/drawing/2014/main" id="{73F96F53-1017-87D4-C0B2-C658836DEB1E}"/>
              </a:ext>
            </a:extLst>
          </p:cNvPr>
          <p:cNvSpPr/>
          <p:nvPr/>
        </p:nvSpPr>
        <p:spPr>
          <a:xfrm flipV="1">
            <a:off x="4307744" y="2222785"/>
            <a:ext cx="715797" cy="498549"/>
          </a:xfrm>
          <a:prstGeom prst="flowChartDecisi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272134-3B84-07C0-6119-581EC76A3B3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288760" y="2793744"/>
            <a:ext cx="634283" cy="383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B9313E-3C87-91B4-38BD-5F3569D4614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30555" y="2793744"/>
            <a:ext cx="634283" cy="3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051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49C3F919-D021-D162-0642-37608F7AF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8;p33 1">
            <a:extLst>
              <a:ext uri="{FF2B5EF4-FFF2-40B4-BE49-F238E27FC236}">
                <a16:creationId xmlns:a16="http://schemas.microsoft.com/office/drawing/2014/main" id="{9CCA7C16-48B2-AF68-D6FD-FD79F0F02CAC}"/>
              </a:ext>
            </a:extLst>
          </p:cNvPr>
          <p:cNvSpPr txBox="1">
            <a:spLocks/>
          </p:cNvSpPr>
          <p:nvPr/>
        </p:nvSpPr>
        <p:spPr>
          <a:xfrm>
            <a:off x="713275" y="794596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CICM @ 2024 *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38F8E3EF-0C5B-5662-1364-942C4E5A6C57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00CEA563-1F89-46D6-0546-77A39F525CFC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03D54A89-BCF5-1DE6-4EBF-BC3D8102E5E6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E0E82E-B8C7-1707-F893-FB78893DCCD9}"/>
              </a:ext>
            </a:extLst>
          </p:cNvPr>
          <p:cNvSpPr txBox="1"/>
          <p:nvPr/>
        </p:nvSpPr>
        <p:spPr>
          <a:xfrm>
            <a:off x="1527373" y="4415026"/>
            <a:ext cx="6823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GB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Espírito Santo, J., Sousa, A.C. (2024). Partial Proof Terms in the Study of Idealized Proof Search.</a:t>
            </a:r>
            <a:endParaRPr lang="en-PT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269378F-4C34-BB40-BA64-82A326E053B4}"/>
              </a:ext>
            </a:extLst>
          </p:cNvPr>
          <p:cNvSpPr/>
          <p:nvPr/>
        </p:nvSpPr>
        <p:spPr>
          <a:xfrm>
            <a:off x="860612" y="1640541"/>
            <a:ext cx="5298141" cy="2581835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Google Shape;168;p30 1">
            <a:extLst>
              <a:ext uri="{FF2B5EF4-FFF2-40B4-BE49-F238E27FC236}">
                <a16:creationId xmlns:a16="http://schemas.microsoft.com/office/drawing/2014/main" id="{6CC70EBC-0C98-61B0-F927-7D93286ED3C6}"/>
              </a:ext>
            </a:extLst>
          </p:cNvPr>
          <p:cNvSpPr txBox="1">
            <a:spLocks/>
          </p:cNvSpPr>
          <p:nvPr/>
        </p:nvSpPr>
        <p:spPr>
          <a:xfrm>
            <a:off x="4250660" y="1222746"/>
            <a:ext cx="1908093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Intuitionistic Logic</a:t>
            </a:r>
          </a:p>
        </p:txBody>
      </p:sp>
      <p:sp>
        <p:nvSpPr>
          <p:cNvPr id="3" name="Google Shape;168;p30 2">
            <a:extLst>
              <a:ext uri="{FF2B5EF4-FFF2-40B4-BE49-F238E27FC236}">
                <a16:creationId xmlns:a16="http://schemas.microsoft.com/office/drawing/2014/main" id="{0B7ABD3E-6042-F1B6-CB13-9F402004A77B}"/>
              </a:ext>
            </a:extLst>
          </p:cNvPr>
          <p:cNvSpPr txBox="1">
            <a:spLocks/>
          </p:cNvSpPr>
          <p:nvPr/>
        </p:nvSpPr>
        <p:spPr>
          <a:xfrm>
            <a:off x="1053816" y="3202714"/>
            <a:ext cx="2279587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dirty="0"/>
              <a:t>Sequent Calculus </a:t>
            </a:r>
            <a:r>
              <a:rPr lang="en-GB" sz="1600" b="1" dirty="0"/>
              <a:t>LJT</a:t>
            </a:r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FOCUSING</a:t>
            </a:r>
          </a:p>
        </p:txBody>
      </p:sp>
      <p:sp>
        <p:nvSpPr>
          <p:cNvPr id="5" name="Google Shape;168;p30 2 2">
            <a:extLst>
              <a:ext uri="{FF2B5EF4-FFF2-40B4-BE49-F238E27FC236}">
                <a16:creationId xmlns:a16="http://schemas.microsoft.com/office/drawing/2014/main" id="{51A44A01-9874-6277-DFCB-1ED85DEC9C1C}"/>
              </a:ext>
            </a:extLst>
          </p:cNvPr>
          <p:cNvSpPr txBox="1">
            <a:spLocks/>
          </p:cNvSpPr>
          <p:nvPr/>
        </p:nvSpPr>
        <p:spPr>
          <a:xfrm>
            <a:off x="3526607" y="3177264"/>
            <a:ext cx="2279587" cy="56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dirty="0"/>
              <a:t>Natural Deduction </a:t>
            </a:r>
            <a:r>
              <a:rPr lang="en-GB" sz="1600" b="1" dirty="0"/>
              <a:t>NJT</a:t>
            </a:r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INTERCALATION</a:t>
            </a:r>
          </a:p>
        </p:txBody>
      </p:sp>
      <p:sp>
        <p:nvSpPr>
          <p:cNvPr id="9" name="Merge 8">
            <a:extLst>
              <a:ext uri="{FF2B5EF4-FFF2-40B4-BE49-F238E27FC236}">
                <a16:creationId xmlns:a16="http://schemas.microsoft.com/office/drawing/2014/main" id="{F166DB64-15AD-CA61-D34D-FA4CEABFA796}"/>
              </a:ext>
            </a:extLst>
          </p:cNvPr>
          <p:cNvSpPr/>
          <p:nvPr/>
        </p:nvSpPr>
        <p:spPr>
          <a:xfrm>
            <a:off x="1830554" y="2306166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02C9EC-0227-8F48-63B7-26155558B9D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46485" y="1933010"/>
            <a:ext cx="737539" cy="211428"/>
          </a:xfrm>
          <a:prstGeom prst="rect">
            <a:avLst/>
          </a:prstGeom>
        </p:spPr>
      </p:pic>
      <p:sp>
        <p:nvSpPr>
          <p:cNvPr id="11" name="Decision 10">
            <a:extLst>
              <a:ext uri="{FF2B5EF4-FFF2-40B4-BE49-F238E27FC236}">
                <a16:creationId xmlns:a16="http://schemas.microsoft.com/office/drawing/2014/main" id="{EA69413F-22BE-6884-3FFA-0BCF381032A2}"/>
              </a:ext>
            </a:extLst>
          </p:cNvPr>
          <p:cNvSpPr/>
          <p:nvPr/>
        </p:nvSpPr>
        <p:spPr>
          <a:xfrm flipV="1">
            <a:off x="4307744" y="2222785"/>
            <a:ext cx="715797" cy="498549"/>
          </a:xfrm>
          <a:prstGeom prst="flowChartDecisi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9689F7-D5FA-024A-31E8-77A8DCD4D94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288760" y="2793744"/>
            <a:ext cx="634283" cy="3835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EE5792-889E-5594-D12B-CEE84ADB680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30555" y="2793744"/>
            <a:ext cx="634283" cy="3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862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D2A0BB6B-6ADE-AEBA-1EAB-72A9A8030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8;p33 1">
            <a:extLst>
              <a:ext uri="{FF2B5EF4-FFF2-40B4-BE49-F238E27FC236}">
                <a16:creationId xmlns:a16="http://schemas.microsoft.com/office/drawing/2014/main" id="{9CCC68CB-C1D6-774D-6AE5-081F08DFF2E5}"/>
              </a:ext>
            </a:extLst>
          </p:cNvPr>
          <p:cNvSpPr txBox="1">
            <a:spLocks/>
          </p:cNvSpPr>
          <p:nvPr/>
        </p:nvSpPr>
        <p:spPr>
          <a:xfrm>
            <a:off x="713275" y="794596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/>
              <a:t>CICM @ 2024 *</a:t>
            </a:r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9497932C-3A65-A8D8-E460-6BB8F7256579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228473AA-8920-EFF3-3236-D5C9F8151DEE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E35B88D6-A80A-2BBE-8EDD-C63B7B9C5078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BC1FA9-568C-2CD3-D687-452AB7F01091}"/>
              </a:ext>
            </a:extLst>
          </p:cNvPr>
          <p:cNvSpPr txBox="1"/>
          <p:nvPr/>
        </p:nvSpPr>
        <p:spPr>
          <a:xfrm>
            <a:off x="1527373" y="4415026"/>
            <a:ext cx="6823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*</a:t>
            </a:r>
            <a:r>
              <a:rPr lang="en-GB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sz="1200" b="0" i="0" u="none" strike="noStrike" dirty="0">
                <a:solidFill>
                  <a:srgbClr val="2222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Espírito Santo, J., Sousa, A.C. (2024). Partial Proof Terms in the Study of Idealized Proof Search.</a:t>
            </a:r>
            <a:endParaRPr lang="en-PT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7FAEB8-4F60-9E1E-29D1-06E1362C13C2}"/>
              </a:ext>
            </a:extLst>
          </p:cNvPr>
          <p:cNvSpPr/>
          <p:nvPr/>
        </p:nvSpPr>
        <p:spPr>
          <a:xfrm>
            <a:off x="860612" y="1640541"/>
            <a:ext cx="5298141" cy="2581835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Google Shape;168;p30 1">
            <a:extLst>
              <a:ext uri="{FF2B5EF4-FFF2-40B4-BE49-F238E27FC236}">
                <a16:creationId xmlns:a16="http://schemas.microsoft.com/office/drawing/2014/main" id="{72CFE10F-088F-A91D-E3B2-C5D415A18170}"/>
              </a:ext>
            </a:extLst>
          </p:cNvPr>
          <p:cNvSpPr txBox="1">
            <a:spLocks/>
          </p:cNvSpPr>
          <p:nvPr/>
        </p:nvSpPr>
        <p:spPr>
          <a:xfrm>
            <a:off x="4250660" y="1222746"/>
            <a:ext cx="1908093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Intuitionistic Logic</a:t>
            </a:r>
          </a:p>
        </p:txBody>
      </p:sp>
      <p:sp>
        <p:nvSpPr>
          <p:cNvPr id="3" name="Google Shape;168;p30 2">
            <a:extLst>
              <a:ext uri="{FF2B5EF4-FFF2-40B4-BE49-F238E27FC236}">
                <a16:creationId xmlns:a16="http://schemas.microsoft.com/office/drawing/2014/main" id="{C093A237-6DCC-02BE-4BE7-08994FF2A2CB}"/>
              </a:ext>
            </a:extLst>
          </p:cNvPr>
          <p:cNvSpPr txBox="1">
            <a:spLocks/>
          </p:cNvSpPr>
          <p:nvPr/>
        </p:nvSpPr>
        <p:spPr>
          <a:xfrm>
            <a:off x="1053816" y="3202714"/>
            <a:ext cx="2279587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dirty="0"/>
              <a:t>Sequent Calculus </a:t>
            </a:r>
            <a:r>
              <a:rPr lang="en-GB" sz="1600" b="1" dirty="0"/>
              <a:t>LJT</a:t>
            </a:r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FOCUSING</a:t>
            </a:r>
          </a:p>
        </p:txBody>
      </p:sp>
      <p:sp>
        <p:nvSpPr>
          <p:cNvPr id="5" name="Google Shape;168;p30 2 2">
            <a:extLst>
              <a:ext uri="{FF2B5EF4-FFF2-40B4-BE49-F238E27FC236}">
                <a16:creationId xmlns:a16="http://schemas.microsoft.com/office/drawing/2014/main" id="{3E414766-F13F-6B56-F9B0-25A32ACE94E4}"/>
              </a:ext>
            </a:extLst>
          </p:cNvPr>
          <p:cNvSpPr txBox="1">
            <a:spLocks/>
          </p:cNvSpPr>
          <p:nvPr/>
        </p:nvSpPr>
        <p:spPr>
          <a:xfrm>
            <a:off x="3526607" y="3177264"/>
            <a:ext cx="2279587" cy="56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dirty="0"/>
              <a:t>Natural Deduction </a:t>
            </a:r>
            <a:r>
              <a:rPr lang="en-GB" sz="1600" b="1" dirty="0"/>
              <a:t>NJT</a:t>
            </a:r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INTERCALATION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7E2937-52C1-B6D8-FA8F-A2EB4B5F02ED}"/>
                  </a:ext>
                </a:extLst>
              </p:cNvPr>
              <p:cNvSpPr txBox="1"/>
              <p:nvPr/>
            </p:nvSpPr>
            <p:spPr>
              <a:xfrm>
                <a:off x="3181276" y="3616242"/>
                <a:ext cx="3574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T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PT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7E2937-52C1-B6D8-FA8F-A2EB4B5F0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276" y="3616242"/>
                <a:ext cx="357470" cy="430887"/>
              </a:xfrm>
              <a:prstGeom prst="rect">
                <a:avLst/>
              </a:prstGeom>
              <a:blipFill>
                <a:blip r:embed="rId8"/>
                <a:stretch>
                  <a:fillRect l="-17241" r="-17241" b="-5714"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Merge 8">
            <a:extLst>
              <a:ext uri="{FF2B5EF4-FFF2-40B4-BE49-F238E27FC236}">
                <a16:creationId xmlns:a16="http://schemas.microsoft.com/office/drawing/2014/main" id="{7D2BAEF0-7ACC-8316-439F-FF2946DB0E0E}"/>
              </a:ext>
            </a:extLst>
          </p:cNvPr>
          <p:cNvSpPr/>
          <p:nvPr/>
        </p:nvSpPr>
        <p:spPr>
          <a:xfrm>
            <a:off x="1830554" y="2306166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3EB935-67E0-95EA-CFA8-B65408F6F2F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246485" y="1933010"/>
            <a:ext cx="737539" cy="211428"/>
          </a:xfrm>
          <a:prstGeom prst="rect">
            <a:avLst/>
          </a:prstGeom>
        </p:spPr>
      </p:pic>
      <p:sp>
        <p:nvSpPr>
          <p:cNvPr id="11" name="Decision 10">
            <a:extLst>
              <a:ext uri="{FF2B5EF4-FFF2-40B4-BE49-F238E27FC236}">
                <a16:creationId xmlns:a16="http://schemas.microsoft.com/office/drawing/2014/main" id="{82057477-589D-F73F-E16F-0B0227F52B75}"/>
              </a:ext>
            </a:extLst>
          </p:cNvPr>
          <p:cNvSpPr/>
          <p:nvPr/>
        </p:nvSpPr>
        <p:spPr>
          <a:xfrm flipV="1">
            <a:off x="4307744" y="2222785"/>
            <a:ext cx="715797" cy="498549"/>
          </a:xfrm>
          <a:prstGeom prst="flowChartDecisi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15C5CF-F80B-29C9-23C3-733818DA1FB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288760" y="2793744"/>
            <a:ext cx="634283" cy="3835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90A0AC-3F7A-3947-FD8F-1095A5BF4F0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830555" y="2793744"/>
            <a:ext cx="634283" cy="3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8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EEBA4E2C-F1D1-B82D-B979-1C2960D49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A5B9D946-DFB3-0FC8-843F-15A1990D670F}"/>
              </a:ext>
            </a:extLst>
          </p:cNvPr>
          <p:cNvSpPr txBox="1">
            <a:spLocks/>
          </p:cNvSpPr>
          <p:nvPr/>
        </p:nvSpPr>
        <p:spPr>
          <a:xfrm>
            <a:off x="713275" y="789085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 err="1"/>
              <a:t>WoLLIC</a:t>
            </a:r>
            <a:r>
              <a:rPr lang="en-GB" dirty="0"/>
              <a:t> @ 2025 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FFFB1039-235A-B4BB-5B8F-92198D5882E3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AF2F0128-76B0-E88F-A3F2-9FB45199C11F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C0F27616-C304-0FC9-03AA-E671C7FA9128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1CB6505-EE83-1C2D-53EC-DB57980E9EBE}"/>
              </a:ext>
            </a:extLst>
          </p:cNvPr>
          <p:cNvSpPr/>
          <p:nvPr/>
        </p:nvSpPr>
        <p:spPr>
          <a:xfrm>
            <a:off x="860612" y="1640541"/>
            <a:ext cx="5298141" cy="2581835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3" name="Google Shape;168;p30 1">
            <a:extLst>
              <a:ext uri="{FF2B5EF4-FFF2-40B4-BE49-F238E27FC236}">
                <a16:creationId xmlns:a16="http://schemas.microsoft.com/office/drawing/2014/main" id="{D5A83649-92FD-1F93-585B-2858633A49A5}"/>
              </a:ext>
            </a:extLst>
          </p:cNvPr>
          <p:cNvSpPr txBox="1">
            <a:spLocks/>
          </p:cNvSpPr>
          <p:nvPr/>
        </p:nvSpPr>
        <p:spPr>
          <a:xfrm>
            <a:off x="4250660" y="1222746"/>
            <a:ext cx="1908093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Intuitionistic Logic</a:t>
            </a:r>
          </a:p>
        </p:txBody>
      </p:sp>
      <p:sp>
        <p:nvSpPr>
          <p:cNvPr id="14" name="Google Shape;168;p30 2">
            <a:extLst>
              <a:ext uri="{FF2B5EF4-FFF2-40B4-BE49-F238E27FC236}">
                <a16:creationId xmlns:a16="http://schemas.microsoft.com/office/drawing/2014/main" id="{F37F8680-A011-03FD-F6F4-6BB05ED70C1B}"/>
              </a:ext>
            </a:extLst>
          </p:cNvPr>
          <p:cNvSpPr txBox="1">
            <a:spLocks/>
          </p:cNvSpPr>
          <p:nvPr/>
        </p:nvSpPr>
        <p:spPr>
          <a:xfrm>
            <a:off x="1053816" y="3202714"/>
            <a:ext cx="2279587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dirty="0"/>
              <a:t>Sequent Calculus </a:t>
            </a:r>
            <a:r>
              <a:rPr lang="en-GB" sz="1600" b="1" dirty="0"/>
              <a:t>LJT</a:t>
            </a:r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FOCUSING</a:t>
            </a:r>
          </a:p>
        </p:txBody>
      </p:sp>
      <p:sp>
        <p:nvSpPr>
          <p:cNvPr id="20" name="Google Shape;168;p30 2 2">
            <a:extLst>
              <a:ext uri="{FF2B5EF4-FFF2-40B4-BE49-F238E27FC236}">
                <a16:creationId xmlns:a16="http://schemas.microsoft.com/office/drawing/2014/main" id="{7124A191-81F2-52C2-1700-B539AD7812DE}"/>
              </a:ext>
            </a:extLst>
          </p:cNvPr>
          <p:cNvSpPr txBox="1">
            <a:spLocks/>
          </p:cNvSpPr>
          <p:nvPr/>
        </p:nvSpPr>
        <p:spPr>
          <a:xfrm>
            <a:off x="3526607" y="3177264"/>
            <a:ext cx="2279587" cy="56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dirty="0"/>
              <a:t>Natural Deduction </a:t>
            </a:r>
            <a:r>
              <a:rPr lang="en-GB" sz="1600" b="1" dirty="0"/>
              <a:t>NJT</a:t>
            </a:r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INTERCALATION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BEF9E9C-FFE9-7A76-2F78-0CD556ACD777}"/>
                  </a:ext>
                </a:extLst>
              </p:cNvPr>
              <p:cNvSpPr txBox="1"/>
              <p:nvPr/>
            </p:nvSpPr>
            <p:spPr>
              <a:xfrm>
                <a:off x="3181276" y="3616242"/>
                <a:ext cx="3574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T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PT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BEF9E9C-FFE9-7A76-2F78-0CD556ACD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276" y="3616242"/>
                <a:ext cx="357470" cy="430887"/>
              </a:xfrm>
              <a:prstGeom prst="rect">
                <a:avLst/>
              </a:prstGeom>
              <a:blipFill>
                <a:blip r:embed="rId8"/>
                <a:stretch>
                  <a:fillRect l="-17241" r="-17241" b="-5714"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168;p30 1">
            <a:extLst>
              <a:ext uri="{FF2B5EF4-FFF2-40B4-BE49-F238E27FC236}">
                <a16:creationId xmlns:a16="http://schemas.microsoft.com/office/drawing/2014/main" id="{88CBE49F-BFAB-2200-E6F8-E206E1009BC1}"/>
              </a:ext>
            </a:extLst>
          </p:cNvPr>
          <p:cNvSpPr txBox="1">
            <a:spLocks/>
          </p:cNvSpPr>
          <p:nvPr/>
        </p:nvSpPr>
        <p:spPr>
          <a:xfrm>
            <a:off x="6522632" y="859318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Font typeface="Roboto"/>
              <a:buNone/>
            </a:pPr>
            <a:r>
              <a:rPr lang="en-GB" sz="2000" b="1" dirty="0"/>
              <a:t>Classical Logic</a:t>
            </a:r>
          </a:p>
        </p:txBody>
      </p:sp>
      <p:sp>
        <p:nvSpPr>
          <p:cNvPr id="10" name="Merge 9">
            <a:extLst>
              <a:ext uri="{FF2B5EF4-FFF2-40B4-BE49-F238E27FC236}">
                <a16:creationId xmlns:a16="http://schemas.microsoft.com/office/drawing/2014/main" id="{3AE9CEFA-16B2-B299-8A80-4ACBDBBEDD27}"/>
              </a:ext>
            </a:extLst>
          </p:cNvPr>
          <p:cNvSpPr/>
          <p:nvPr/>
        </p:nvSpPr>
        <p:spPr>
          <a:xfrm>
            <a:off x="1830554" y="2306166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5461C7-5D20-AC78-653A-14069ADCC5A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246486" y="1933010"/>
            <a:ext cx="1070251" cy="252402"/>
          </a:xfrm>
          <a:prstGeom prst="rect">
            <a:avLst/>
          </a:prstGeom>
        </p:spPr>
      </p:pic>
      <p:sp>
        <p:nvSpPr>
          <p:cNvPr id="15" name="Decision 14">
            <a:extLst>
              <a:ext uri="{FF2B5EF4-FFF2-40B4-BE49-F238E27FC236}">
                <a16:creationId xmlns:a16="http://schemas.microsoft.com/office/drawing/2014/main" id="{2694D485-A0EC-3E7C-D246-3CB67634F23A}"/>
              </a:ext>
            </a:extLst>
          </p:cNvPr>
          <p:cNvSpPr/>
          <p:nvPr/>
        </p:nvSpPr>
        <p:spPr>
          <a:xfrm flipV="1">
            <a:off x="4307744" y="2222785"/>
            <a:ext cx="715797" cy="498549"/>
          </a:xfrm>
          <a:prstGeom prst="flowChartDecisi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27B02ED-23F0-8766-FA29-C64B572F32E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288761" y="2793746"/>
            <a:ext cx="917826" cy="4966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4BBB421-ABAE-7F6C-178B-394DE81D671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830558" y="2793747"/>
            <a:ext cx="917825" cy="49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36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CAC9B1D8-E826-0A85-BCD3-68BA8A7DC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BFA2CD54-B15A-7122-501C-6944231BB9EC}"/>
              </a:ext>
            </a:extLst>
          </p:cNvPr>
          <p:cNvSpPr txBox="1">
            <a:spLocks/>
          </p:cNvSpPr>
          <p:nvPr/>
        </p:nvSpPr>
        <p:spPr>
          <a:xfrm>
            <a:off x="713275" y="789085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 err="1"/>
              <a:t>WoLLIC</a:t>
            </a:r>
            <a:r>
              <a:rPr lang="en-GB" dirty="0"/>
              <a:t> @ 2025 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4773FDAB-6ABF-96D2-229F-1BC690BB0DD2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3F5F7F19-93DA-5AE4-9CD5-83F7AC2517F5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CD5B71CF-5820-5A19-A545-4C1564152A9F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68;p30 1">
            <a:extLst>
              <a:ext uri="{FF2B5EF4-FFF2-40B4-BE49-F238E27FC236}">
                <a16:creationId xmlns:a16="http://schemas.microsoft.com/office/drawing/2014/main" id="{27E7E71E-048E-E74F-3F23-36A188A54B38}"/>
              </a:ext>
            </a:extLst>
          </p:cNvPr>
          <p:cNvSpPr txBox="1">
            <a:spLocks/>
          </p:cNvSpPr>
          <p:nvPr/>
        </p:nvSpPr>
        <p:spPr>
          <a:xfrm>
            <a:off x="6522632" y="859318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Font typeface="Roboto"/>
              <a:buNone/>
            </a:pPr>
            <a:r>
              <a:rPr lang="en-GB" sz="2000" b="1" dirty="0"/>
              <a:t>Classical Logic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5A8E22-7913-F8A3-EB5F-922966FFD0F3}"/>
              </a:ext>
            </a:extLst>
          </p:cNvPr>
          <p:cNvSpPr/>
          <p:nvPr/>
        </p:nvSpPr>
        <p:spPr>
          <a:xfrm>
            <a:off x="860612" y="1640541"/>
            <a:ext cx="5298141" cy="2581835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Google Shape;168;p30 2 1">
            <a:extLst>
              <a:ext uri="{FF2B5EF4-FFF2-40B4-BE49-F238E27FC236}">
                <a16:creationId xmlns:a16="http://schemas.microsoft.com/office/drawing/2014/main" id="{B54D3492-7D7C-6D07-14D2-567E1F6813B4}"/>
              </a:ext>
            </a:extLst>
          </p:cNvPr>
          <p:cNvSpPr txBox="1">
            <a:spLocks/>
          </p:cNvSpPr>
          <p:nvPr/>
        </p:nvSpPr>
        <p:spPr>
          <a:xfrm>
            <a:off x="1053816" y="3202714"/>
            <a:ext cx="2279587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endParaRPr lang="en-GB" sz="1600" dirty="0"/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FOCUSING</a:t>
            </a:r>
          </a:p>
        </p:txBody>
      </p:sp>
      <p:sp>
        <p:nvSpPr>
          <p:cNvPr id="20" name="Google Shape;168;p30 2 2">
            <a:extLst>
              <a:ext uri="{FF2B5EF4-FFF2-40B4-BE49-F238E27FC236}">
                <a16:creationId xmlns:a16="http://schemas.microsoft.com/office/drawing/2014/main" id="{D14BD4B6-EA79-5154-CAA6-27CA636F0414}"/>
              </a:ext>
            </a:extLst>
          </p:cNvPr>
          <p:cNvSpPr txBox="1">
            <a:spLocks/>
          </p:cNvSpPr>
          <p:nvPr/>
        </p:nvSpPr>
        <p:spPr>
          <a:xfrm>
            <a:off x="3526607" y="3177264"/>
            <a:ext cx="2279587" cy="56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endParaRPr lang="en-GB" sz="1600" dirty="0"/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INTERCALATION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12833E-7D39-0B7F-55E8-0643836ABDA7}"/>
                  </a:ext>
                </a:extLst>
              </p:cNvPr>
              <p:cNvSpPr txBox="1"/>
              <p:nvPr/>
            </p:nvSpPr>
            <p:spPr>
              <a:xfrm>
                <a:off x="3181276" y="3616242"/>
                <a:ext cx="3574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T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PT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12833E-7D39-0B7F-55E8-0643836AB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276" y="3616242"/>
                <a:ext cx="357470" cy="430887"/>
              </a:xfrm>
              <a:prstGeom prst="rect">
                <a:avLst/>
              </a:prstGeom>
              <a:blipFill>
                <a:blip r:embed="rId8"/>
                <a:stretch>
                  <a:fillRect l="-17241" r="-17241" b="-5714"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168;p30 2 3">
            <a:extLst>
              <a:ext uri="{FF2B5EF4-FFF2-40B4-BE49-F238E27FC236}">
                <a16:creationId xmlns:a16="http://schemas.microsoft.com/office/drawing/2014/main" id="{80FF97B9-7B8F-8C59-E529-6422297405C5}"/>
              </a:ext>
            </a:extLst>
          </p:cNvPr>
          <p:cNvSpPr txBox="1">
            <a:spLocks/>
          </p:cNvSpPr>
          <p:nvPr/>
        </p:nvSpPr>
        <p:spPr>
          <a:xfrm>
            <a:off x="6412375" y="1543269"/>
            <a:ext cx="2218610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Font typeface="Roboto"/>
              <a:buNone/>
            </a:pPr>
            <a:r>
              <a:rPr lang="en-GB" sz="1600" dirty="0"/>
              <a:t>Sequent Calculus</a:t>
            </a:r>
            <a:endParaRPr lang="en-GB" sz="1600" b="1" dirty="0"/>
          </a:p>
        </p:txBody>
      </p:sp>
      <p:sp>
        <p:nvSpPr>
          <p:cNvPr id="24" name="Merge 23">
            <a:extLst>
              <a:ext uri="{FF2B5EF4-FFF2-40B4-BE49-F238E27FC236}">
                <a16:creationId xmlns:a16="http://schemas.microsoft.com/office/drawing/2014/main" id="{1BEDEB6D-96C0-C9CE-40A1-3D7526CC2EDE}"/>
              </a:ext>
            </a:extLst>
          </p:cNvPr>
          <p:cNvSpPr/>
          <p:nvPr/>
        </p:nvSpPr>
        <p:spPr>
          <a:xfrm>
            <a:off x="1830554" y="2306166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03BE8FA-C9EE-3D3A-1469-A7F9FC81846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246486" y="1933010"/>
            <a:ext cx="1070251" cy="252402"/>
          </a:xfrm>
          <a:prstGeom prst="rect">
            <a:avLst/>
          </a:prstGeom>
        </p:spPr>
      </p:pic>
      <p:sp>
        <p:nvSpPr>
          <p:cNvPr id="26" name="Decision 25">
            <a:extLst>
              <a:ext uri="{FF2B5EF4-FFF2-40B4-BE49-F238E27FC236}">
                <a16:creationId xmlns:a16="http://schemas.microsoft.com/office/drawing/2014/main" id="{F7A0BC2D-DFD5-A411-EE1D-29AB789FD897}"/>
              </a:ext>
            </a:extLst>
          </p:cNvPr>
          <p:cNvSpPr/>
          <p:nvPr/>
        </p:nvSpPr>
        <p:spPr>
          <a:xfrm flipV="1">
            <a:off x="4307744" y="2222785"/>
            <a:ext cx="715797" cy="498549"/>
          </a:xfrm>
          <a:prstGeom prst="flowChartDecisi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5CCF6B6-0E88-9E9A-BF93-9C7B36CA80A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288761" y="2793746"/>
            <a:ext cx="917826" cy="49660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65F0EEC-EF3C-9C4C-EDC2-A0EF120EB7A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830558" y="2793747"/>
            <a:ext cx="917825" cy="49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824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BE3A246D-AD6A-8AD4-67CB-718D66A1C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5B6CB98D-ABCF-BD06-7BAD-CA33E8634D1C}"/>
              </a:ext>
            </a:extLst>
          </p:cNvPr>
          <p:cNvSpPr txBox="1">
            <a:spLocks/>
          </p:cNvSpPr>
          <p:nvPr/>
        </p:nvSpPr>
        <p:spPr>
          <a:xfrm>
            <a:off x="713275" y="789085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 err="1"/>
              <a:t>WoLLIC</a:t>
            </a:r>
            <a:r>
              <a:rPr lang="en-GB" dirty="0"/>
              <a:t> @ 2025 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6B038C89-7B1B-0408-4010-68E28C419EC6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66D793B4-154D-14BE-62E6-DC993F1AAD8A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90AAAF4D-930B-74E6-02B4-1A2418C64413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68;p30 1">
            <a:extLst>
              <a:ext uri="{FF2B5EF4-FFF2-40B4-BE49-F238E27FC236}">
                <a16:creationId xmlns:a16="http://schemas.microsoft.com/office/drawing/2014/main" id="{0AAE79BC-0D88-BCBC-FD0D-305A809CBB9F}"/>
              </a:ext>
            </a:extLst>
          </p:cNvPr>
          <p:cNvSpPr txBox="1">
            <a:spLocks/>
          </p:cNvSpPr>
          <p:nvPr/>
        </p:nvSpPr>
        <p:spPr>
          <a:xfrm>
            <a:off x="6522632" y="859318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Font typeface="Roboto"/>
              <a:buNone/>
            </a:pPr>
            <a:r>
              <a:rPr lang="en-GB" sz="2000" b="1" dirty="0"/>
              <a:t>Classical Logic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D53692A-F5EF-E6F4-602C-2DFFF040F7B9}"/>
              </a:ext>
            </a:extLst>
          </p:cNvPr>
          <p:cNvSpPr/>
          <p:nvPr/>
        </p:nvSpPr>
        <p:spPr>
          <a:xfrm>
            <a:off x="860612" y="1640541"/>
            <a:ext cx="5298141" cy="2581835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Google Shape;168;p30 2">
            <a:extLst>
              <a:ext uri="{FF2B5EF4-FFF2-40B4-BE49-F238E27FC236}">
                <a16:creationId xmlns:a16="http://schemas.microsoft.com/office/drawing/2014/main" id="{74C49009-2274-119A-49CB-56179FAE5084}"/>
              </a:ext>
            </a:extLst>
          </p:cNvPr>
          <p:cNvSpPr txBox="1">
            <a:spLocks/>
          </p:cNvSpPr>
          <p:nvPr/>
        </p:nvSpPr>
        <p:spPr>
          <a:xfrm>
            <a:off x="1053816" y="3202714"/>
            <a:ext cx="2279587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endParaRPr lang="en-GB" sz="1600" dirty="0"/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FOCUSING</a:t>
            </a:r>
          </a:p>
        </p:txBody>
      </p:sp>
      <p:sp>
        <p:nvSpPr>
          <p:cNvPr id="20" name="Google Shape;168;p30 2 2">
            <a:extLst>
              <a:ext uri="{FF2B5EF4-FFF2-40B4-BE49-F238E27FC236}">
                <a16:creationId xmlns:a16="http://schemas.microsoft.com/office/drawing/2014/main" id="{7FB198BA-79EC-E153-69FC-E54CED971A5B}"/>
              </a:ext>
            </a:extLst>
          </p:cNvPr>
          <p:cNvSpPr txBox="1">
            <a:spLocks/>
          </p:cNvSpPr>
          <p:nvPr/>
        </p:nvSpPr>
        <p:spPr>
          <a:xfrm>
            <a:off x="3526607" y="3177264"/>
            <a:ext cx="2279587" cy="56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endParaRPr lang="en-GB" sz="1600" dirty="0"/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INTERCALATION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757489-264B-9F03-8025-0BA7593F3FA5}"/>
                  </a:ext>
                </a:extLst>
              </p:cNvPr>
              <p:cNvSpPr txBox="1"/>
              <p:nvPr/>
            </p:nvSpPr>
            <p:spPr>
              <a:xfrm>
                <a:off x="3181276" y="3616242"/>
                <a:ext cx="3574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T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PT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757489-264B-9F03-8025-0BA7593F3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276" y="3616242"/>
                <a:ext cx="357470" cy="430887"/>
              </a:xfrm>
              <a:prstGeom prst="rect">
                <a:avLst/>
              </a:prstGeom>
              <a:blipFill>
                <a:blip r:embed="rId8"/>
                <a:stretch>
                  <a:fillRect l="-17241" r="-17241" b="-5714"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168;p30 2">
            <a:extLst>
              <a:ext uri="{FF2B5EF4-FFF2-40B4-BE49-F238E27FC236}">
                <a16:creationId xmlns:a16="http://schemas.microsoft.com/office/drawing/2014/main" id="{B0AB5C08-73BB-F875-4701-E5C6FD0DD776}"/>
              </a:ext>
            </a:extLst>
          </p:cNvPr>
          <p:cNvSpPr txBox="1">
            <a:spLocks/>
          </p:cNvSpPr>
          <p:nvPr/>
        </p:nvSpPr>
        <p:spPr>
          <a:xfrm>
            <a:off x="6412375" y="1543269"/>
            <a:ext cx="2218610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Font typeface="Roboto"/>
              <a:buNone/>
            </a:pPr>
            <a:r>
              <a:rPr lang="en-GB" sz="1600" dirty="0"/>
              <a:t>Sequent Calculus </a:t>
            </a:r>
            <a:r>
              <a:rPr lang="en-GB" sz="1600" b="1" dirty="0"/>
              <a:t>LKT</a:t>
            </a:r>
          </a:p>
        </p:txBody>
      </p:sp>
      <p:sp>
        <p:nvSpPr>
          <p:cNvPr id="2" name="Merge 1">
            <a:extLst>
              <a:ext uri="{FF2B5EF4-FFF2-40B4-BE49-F238E27FC236}">
                <a16:creationId xmlns:a16="http://schemas.microsoft.com/office/drawing/2014/main" id="{FED2207B-FB51-98A2-DDF5-E34158FF7250}"/>
              </a:ext>
            </a:extLst>
          </p:cNvPr>
          <p:cNvSpPr/>
          <p:nvPr/>
        </p:nvSpPr>
        <p:spPr>
          <a:xfrm>
            <a:off x="1830554" y="2306166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D32827-D621-AF09-254D-FADDC607F27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246486" y="1933010"/>
            <a:ext cx="1070251" cy="252402"/>
          </a:xfrm>
          <a:prstGeom prst="rect">
            <a:avLst/>
          </a:prstGeom>
        </p:spPr>
      </p:pic>
      <p:sp>
        <p:nvSpPr>
          <p:cNvPr id="4" name="Decision 3">
            <a:extLst>
              <a:ext uri="{FF2B5EF4-FFF2-40B4-BE49-F238E27FC236}">
                <a16:creationId xmlns:a16="http://schemas.microsoft.com/office/drawing/2014/main" id="{A9508A50-61A0-765F-D81A-8A4309E6159C}"/>
              </a:ext>
            </a:extLst>
          </p:cNvPr>
          <p:cNvSpPr/>
          <p:nvPr/>
        </p:nvSpPr>
        <p:spPr>
          <a:xfrm flipV="1">
            <a:off x="4307744" y="2222785"/>
            <a:ext cx="715797" cy="498549"/>
          </a:xfrm>
          <a:prstGeom prst="flowChartDecisi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973445-09AD-F914-5622-B42F4584C6E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288761" y="2793746"/>
            <a:ext cx="917826" cy="4966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268A00-EDB8-56D1-650F-0BF7D31CFBF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830558" y="2793747"/>
            <a:ext cx="917825" cy="49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14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7FD871ED-DBF6-CF2F-4C13-FEF591FBF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5186E130-D3F4-83A9-F914-BF10F726CA85}"/>
              </a:ext>
            </a:extLst>
          </p:cNvPr>
          <p:cNvSpPr txBox="1">
            <a:spLocks/>
          </p:cNvSpPr>
          <p:nvPr/>
        </p:nvSpPr>
        <p:spPr>
          <a:xfrm>
            <a:off x="713275" y="789085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 err="1"/>
              <a:t>WoLLIC</a:t>
            </a:r>
            <a:r>
              <a:rPr lang="en-GB" dirty="0"/>
              <a:t> @ 2025 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375AF3F3-3E9E-82CE-9EC3-78A8293EE2AF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2BAC9D8A-3AEF-2321-BA02-AFB6B2DFC7D6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0CD04BF8-8FE3-3B58-CCD1-09FCA55A37C4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68;p30 1">
            <a:extLst>
              <a:ext uri="{FF2B5EF4-FFF2-40B4-BE49-F238E27FC236}">
                <a16:creationId xmlns:a16="http://schemas.microsoft.com/office/drawing/2014/main" id="{E40188A3-6286-722B-D0B1-829FF2EF849A}"/>
              </a:ext>
            </a:extLst>
          </p:cNvPr>
          <p:cNvSpPr txBox="1">
            <a:spLocks/>
          </p:cNvSpPr>
          <p:nvPr/>
        </p:nvSpPr>
        <p:spPr>
          <a:xfrm>
            <a:off x="6522632" y="859318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Font typeface="Roboto"/>
              <a:buNone/>
            </a:pPr>
            <a:r>
              <a:rPr lang="en-GB" sz="2000" b="1" dirty="0"/>
              <a:t>Classical Logic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087C793-E60B-67B2-E116-C739665D7344}"/>
              </a:ext>
            </a:extLst>
          </p:cNvPr>
          <p:cNvSpPr/>
          <p:nvPr/>
        </p:nvSpPr>
        <p:spPr>
          <a:xfrm>
            <a:off x="860612" y="1640541"/>
            <a:ext cx="5298141" cy="2581835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Google Shape;168;p30 2">
            <a:extLst>
              <a:ext uri="{FF2B5EF4-FFF2-40B4-BE49-F238E27FC236}">
                <a16:creationId xmlns:a16="http://schemas.microsoft.com/office/drawing/2014/main" id="{EC43AD78-1E4E-CB89-4212-D0EDFC4C1A25}"/>
              </a:ext>
            </a:extLst>
          </p:cNvPr>
          <p:cNvSpPr txBox="1">
            <a:spLocks/>
          </p:cNvSpPr>
          <p:nvPr/>
        </p:nvSpPr>
        <p:spPr>
          <a:xfrm>
            <a:off x="1053816" y="3202714"/>
            <a:ext cx="2279587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endParaRPr lang="en-GB" sz="1600" dirty="0"/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FOCUSING</a:t>
            </a:r>
          </a:p>
        </p:txBody>
      </p:sp>
      <p:sp>
        <p:nvSpPr>
          <p:cNvPr id="20" name="Google Shape;168;p30 2 2">
            <a:extLst>
              <a:ext uri="{FF2B5EF4-FFF2-40B4-BE49-F238E27FC236}">
                <a16:creationId xmlns:a16="http://schemas.microsoft.com/office/drawing/2014/main" id="{4880C5AE-C479-EC8A-0541-B600842CC5B6}"/>
              </a:ext>
            </a:extLst>
          </p:cNvPr>
          <p:cNvSpPr txBox="1">
            <a:spLocks/>
          </p:cNvSpPr>
          <p:nvPr/>
        </p:nvSpPr>
        <p:spPr>
          <a:xfrm>
            <a:off x="3526607" y="3177264"/>
            <a:ext cx="2279587" cy="56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endParaRPr lang="en-GB" sz="1600" dirty="0"/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INTERCALATION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4617C84-CAAB-DC32-9E2D-82855CFCA2A2}"/>
                  </a:ext>
                </a:extLst>
              </p:cNvPr>
              <p:cNvSpPr txBox="1"/>
              <p:nvPr/>
            </p:nvSpPr>
            <p:spPr>
              <a:xfrm>
                <a:off x="3181276" y="3616242"/>
                <a:ext cx="3574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T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PT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4617C84-CAAB-DC32-9E2D-82855CFCA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276" y="3616242"/>
                <a:ext cx="357470" cy="430887"/>
              </a:xfrm>
              <a:prstGeom prst="rect">
                <a:avLst/>
              </a:prstGeom>
              <a:blipFill>
                <a:blip r:embed="rId8"/>
                <a:stretch>
                  <a:fillRect l="-17241" r="-17241" b="-5714"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168;p30 2">
            <a:extLst>
              <a:ext uri="{FF2B5EF4-FFF2-40B4-BE49-F238E27FC236}">
                <a16:creationId xmlns:a16="http://schemas.microsoft.com/office/drawing/2014/main" id="{32C9DD6A-BFAE-64EF-625B-1AFBB04CF580}"/>
              </a:ext>
            </a:extLst>
          </p:cNvPr>
          <p:cNvSpPr txBox="1">
            <a:spLocks/>
          </p:cNvSpPr>
          <p:nvPr/>
        </p:nvSpPr>
        <p:spPr>
          <a:xfrm>
            <a:off x="6412375" y="1543269"/>
            <a:ext cx="2218610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Font typeface="Roboto"/>
              <a:buNone/>
            </a:pPr>
            <a:r>
              <a:rPr lang="en-GB" sz="1600" dirty="0"/>
              <a:t>Sequent Calculus </a:t>
            </a:r>
            <a:r>
              <a:rPr lang="en-GB" sz="1600" b="1" dirty="0"/>
              <a:t>LKT</a:t>
            </a:r>
          </a:p>
        </p:txBody>
      </p:sp>
      <p:sp>
        <p:nvSpPr>
          <p:cNvPr id="2" name="Google Shape;168;p30 2">
            <a:extLst>
              <a:ext uri="{FF2B5EF4-FFF2-40B4-BE49-F238E27FC236}">
                <a16:creationId xmlns:a16="http://schemas.microsoft.com/office/drawing/2014/main" id="{1A4D99B0-37BA-8073-AF1D-0D23BB4F95EB}"/>
              </a:ext>
            </a:extLst>
          </p:cNvPr>
          <p:cNvSpPr txBox="1">
            <a:spLocks/>
          </p:cNvSpPr>
          <p:nvPr/>
        </p:nvSpPr>
        <p:spPr>
          <a:xfrm>
            <a:off x="6412375" y="3317475"/>
            <a:ext cx="2303362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Font typeface="Roboto"/>
              <a:buNone/>
            </a:pPr>
            <a:endParaRPr lang="en-GB" sz="1600" dirty="0"/>
          </a:p>
          <a:p>
            <a:pPr marL="0" indent="0">
              <a:lnSpc>
                <a:spcPct val="150000"/>
              </a:lnSpc>
              <a:buFont typeface="Roboto"/>
              <a:buNone/>
            </a:pPr>
            <a:r>
              <a:rPr lang="en-GB" sz="1600" dirty="0"/>
              <a:t>Natural Deduction</a:t>
            </a:r>
            <a:endParaRPr lang="en-GB" sz="1600" b="1" dirty="0"/>
          </a:p>
        </p:txBody>
      </p:sp>
      <p:sp>
        <p:nvSpPr>
          <p:cNvPr id="4" name="Merge 3">
            <a:extLst>
              <a:ext uri="{FF2B5EF4-FFF2-40B4-BE49-F238E27FC236}">
                <a16:creationId xmlns:a16="http://schemas.microsoft.com/office/drawing/2014/main" id="{A2890890-9007-2B72-4E45-84CDF6ED13B4}"/>
              </a:ext>
            </a:extLst>
          </p:cNvPr>
          <p:cNvSpPr/>
          <p:nvPr/>
        </p:nvSpPr>
        <p:spPr>
          <a:xfrm>
            <a:off x="1830554" y="2306166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C4634E-BD39-8091-C94B-5E51716B6B4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246486" y="1933010"/>
            <a:ext cx="1070251" cy="252402"/>
          </a:xfrm>
          <a:prstGeom prst="rect">
            <a:avLst/>
          </a:prstGeom>
        </p:spPr>
      </p:pic>
      <p:sp>
        <p:nvSpPr>
          <p:cNvPr id="7" name="Decision 6">
            <a:extLst>
              <a:ext uri="{FF2B5EF4-FFF2-40B4-BE49-F238E27FC236}">
                <a16:creationId xmlns:a16="http://schemas.microsoft.com/office/drawing/2014/main" id="{BE61A60A-3B26-148C-3EA9-A279121AC54D}"/>
              </a:ext>
            </a:extLst>
          </p:cNvPr>
          <p:cNvSpPr/>
          <p:nvPr/>
        </p:nvSpPr>
        <p:spPr>
          <a:xfrm flipV="1">
            <a:off x="4307744" y="2222785"/>
            <a:ext cx="715797" cy="498549"/>
          </a:xfrm>
          <a:prstGeom prst="flowChartDecisi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9D36B0-5672-400D-A025-584D02AED4B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288761" y="2793746"/>
            <a:ext cx="917826" cy="4966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09F426-2778-ACE1-3E34-A8BB6333408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830558" y="2793747"/>
            <a:ext cx="917825" cy="49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34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766F0898-5636-EAC0-72AE-9C5D3113D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1B31B0C0-109E-4424-A574-CF70E21AB959}"/>
              </a:ext>
            </a:extLst>
          </p:cNvPr>
          <p:cNvSpPr txBox="1">
            <a:spLocks/>
          </p:cNvSpPr>
          <p:nvPr/>
        </p:nvSpPr>
        <p:spPr>
          <a:xfrm>
            <a:off x="713275" y="789085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 err="1"/>
              <a:t>WoLLIC</a:t>
            </a:r>
            <a:r>
              <a:rPr lang="en-GB" dirty="0"/>
              <a:t> @ 2025 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16EBB740-5453-1A8B-6EB1-E96EB333309C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6DD4E369-7AF8-8396-33AD-6E72515F6EEB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2398C428-A810-1EAE-3C25-4415BD2EB8BB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68;p30 1">
            <a:extLst>
              <a:ext uri="{FF2B5EF4-FFF2-40B4-BE49-F238E27FC236}">
                <a16:creationId xmlns:a16="http://schemas.microsoft.com/office/drawing/2014/main" id="{5DC148D0-0E29-1D87-250A-99111A5F7311}"/>
              </a:ext>
            </a:extLst>
          </p:cNvPr>
          <p:cNvSpPr txBox="1">
            <a:spLocks/>
          </p:cNvSpPr>
          <p:nvPr/>
        </p:nvSpPr>
        <p:spPr>
          <a:xfrm>
            <a:off x="6522632" y="859318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Font typeface="Roboto"/>
              <a:buNone/>
            </a:pPr>
            <a:r>
              <a:rPr lang="en-GB" sz="2000" b="1" dirty="0"/>
              <a:t>Classical Logic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6A55FBD-D6DC-C8FF-8319-5D5F3A3AD880}"/>
              </a:ext>
            </a:extLst>
          </p:cNvPr>
          <p:cNvSpPr/>
          <p:nvPr/>
        </p:nvSpPr>
        <p:spPr>
          <a:xfrm>
            <a:off x="860612" y="1640541"/>
            <a:ext cx="5298141" cy="2581835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Google Shape;168;p30 2">
            <a:extLst>
              <a:ext uri="{FF2B5EF4-FFF2-40B4-BE49-F238E27FC236}">
                <a16:creationId xmlns:a16="http://schemas.microsoft.com/office/drawing/2014/main" id="{8783730C-AA57-73BE-CB60-DFAD1C535709}"/>
              </a:ext>
            </a:extLst>
          </p:cNvPr>
          <p:cNvSpPr txBox="1">
            <a:spLocks/>
          </p:cNvSpPr>
          <p:nvPr/>
        </p:nvSpPr>
        <p:spPr>
          <a:xfrm>
            <a:off x="1053816" y="3202714"/>
            <a:ext cx="2279587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endParaRPr lang="en-GB" sz="1600" dirty="0"/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FOCUSING</a:t>
            </a:r>
          </a:p>
        </p:txBody>
      </p:sp>
      <p:sp>
        <p:nvSpPr>
          <p:cNvPr id="20" name="Google Shape;168;p30 2 2">
            <a:extLst>
              <a:ext uri="{FF2B5EF4-FFF2-40B4-BE49-F238E27FC236}">
                <a16:creationId xmlns:a16="http://schemas.microsoft.com/office/drawing/2014/main" id="{42706AAE-83E6-8573-0087-E46D9920A998}"/>
              </a:ext>
            </a:extLst>
          </p:cNvPr>
          <p:cNvSpPr txBox="1">
            <a:spLocks/>
          </p:cNvSpPr>
          <p:nvPr/>
        </p:nvSpPr>
        <p:spPr>
          <a:xfrm>
            <a:off x="3526607" y="3177264"/>
            <a:ext cx="2279587" cy="56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endParaRPr lang="en-GB" sz="1600" dirty="0"/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INTERCALATION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F4D708-FE00-ABCD-0F50-E324DFA4D0D5}"/>
                  </a:ext>
                </a:extLst>
              </p:cNvPr>
              <p:cNvSpPr txBox="1"/>
              <p:nvPr/>
            </p:nvSpPr>
            <p:spPr>
              <a:xfrm>
                <a:off x="3181276" y="3616242"/>
                <a:ext cx="3574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T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PT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F4D708-FE00-ABCD-0F50-E324DFA4D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276" y="3616242"/>
                <a:ext cx="357470" cy="430887"/>
              </a:xfrm>
              <a:prstGeom prst="rect">
                <a:avLst/>
              </a:prstGeom>
              <a:blipFill>
                <a:blip r:embed="rId8"/>
                <a:stretch>
                  <a:fillRect l="-17241" r="-17241" b="-5714"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168;p30 2">
            <a:extLst>
              <a:ext uri="{FF2B5EF4-FFF2-40B4-BE49-F238E27FC236}">
                <a16:creationId xmlns:a16="http://schemas.microsoft.com/office/drawing/2014/main" id="{A35001F7-0D49-7A82-2724-18B856924082}"/>
              </a:ext>
            </a:extLst>
          </p:cNvPr>
          <p:cNvSpPr txBox="1">
            <a:spLocks/>
          </p:cNvSpPr>
          <p:nvPr/>
        </p:nvSpPr>
        <p:spPr>
          <a:xfrm>
            <a:off x="6412375" y="1543269"/>
            <a:ext cx="2218610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Font typeface="Roboto"/>
              <a:buNone/>
            </a:pPr>
            <a:r>
              <a:rPr lang="en-GB" sz="1600" dirty="0"/>
              <a:t>Sequent Calculus </a:t>
            </a:r>
            <a:r>
              <a:rPr lang="en-GB" sz="1600" b="1" dirty="0"/>
              <a:t>LKT</a:t>
            </a:r>
          </a:p>
        </p:txBody>
      </p:sp>
      <p:sp>
        <p:nvSpPr>
          <p:cNvPr id="2" name="Google Shape;168;p30 2">
            <a:extLst>
              <a:ext uri="{FF2B5EF4-FFF2-40B4-BE49-F238E27FC236}">
                <a16:creationId xmlns:a16="http://schemas.microsoft.com/office/drawing/2014/main" id="{4F969638-9531-2E8D-331B-8A22FCD9D434}"/>
              </a:ext>
            </a:extLst>
          </p:cNvPr>
          <p:cNvSpPr txBox="1">
            <a:spLocks/>
          </p:cNvSpPr>
          <p:nvPr/>
        </p:nvSpPr>
        <p:spPr>
          <a:xfrm>
            <a:off x="6412375" y="3317475"/>
            <a:ext cx="2303362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Font typeface="Roboto"/>
              <a:buNone/>
            </a:pPr>
            <a:endParaRPr lang="en-GB" sz="1600" dirty="0"/>
          </a:p>
          <a:p>
            <a:pPr marL="0" indent="0">
              <a:lnSpc>
                <a:spcPct val="150000"/>
              </a:lnSpc>
              <a:buFont typeface="Roboto"/>
              <a:buNone/>
            </a:pPr>
            <a:r>
              <a:rPr lang="en-GB" sz="1600" dirty="0"/>
              <a:t>Natural Deduction </a:t>
            </a:r>
            <a:r>
              <a:rPr lang="en-GB" sz="1600" b="1" dirty="0"/>
              <a:t>NKT</a:t>
            </a:r>
          </a:p>
        </p:txBody>
      </p:sp>
      <p:sp>
        <p:nvSpPr>
          <p:cNvPr id="4" name="Merge 3">
            <a:extLst>
              <a:ext uri="{FF2B5EF4-FFF2-40B4-BE49-F238E27FC236}">
                <a16:creationId xmlns:a16="http://schemas.microsoft.com/office/drawing/2014/main" id="{A605BC80-44C9-DA1F-252D-E0A8D6A65CBE}"/>
              </a:ext>
            </a:extLst>
          </p:cNvPr>
          <p:cNvSpPr/>
          <p:nvPr/>
        </p:nvSpPr>
        <p:spPr>
          <a:xfrm>
            <a:off x="1830554" y="2306166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DB6E68-8B9A-0C87-AA5B-F35E80BB8AA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246486" y="1933010"/>
            <a:ext cx="1070251" cy="252402"/>
          </a:xfrm>
          <a:prstGeom prst="rect">
            <a:avLst/>
          </a:prstGeom>
        </p:spPr>
      </p:pic>
      <p:sp>
        <p:nvSpPr>
          <p:cNvPr id="7" name="Decision 6">
            <a:extLst>
              <a:ext uri="{FF2B5EF4-FFF2-40B4-BE49-F238E27FC236}">
                <a16:creationId xmlns:a16="http://schemas.microsoft.com/office/drawing/2014/main" id="{7C2378F3-9B27-3828-1F2F-69F498738327}"/>
              </a:ext>
            </a:extLst>
          </p:cNvPr>
          <p:cNvSpPr/>
          <p:nvPr/>
        </p:nvSpPr>
        <p:spPr>
          <a:xfrm flipV="1">
            <a:off x="4307744" y="2222785"/>
            <a:ext cx="715797" cy="498549"/>
          </a:xfrm>
          <a:prstGeom prst="flowChartDecisi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DEC8FE-D34E-A4C5-4EA5-DB6BE2C058C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288761" y="2793746"/>
            <a:ext cx="917826" cy="4966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D8E823-F191-59DD-70B6-3AC9D7E692C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830558" y="2793747"/>
            <a:ext cx="917825" cy="49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373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163F4EC7-5ED0-AF4B-1CE7-4C2CF79D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C35EAE69-BDF5-D56F-8D7D-0C725771ACDF}"/>
              </a:ext>
            </a:extLst>
          </p:cNvPr>
          <p:cNvSpPr txBox="1">
            <a:spLocks/>
          </p:cNvSpPr>
          <p:nvPr/>
        </p:nvSpPr>
        <p:spPr>
          <a:xfrm>
            <a:off x="713275" y="789085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 err="1"/>
              <a:t>WoLLIC</a:t>
            </a:r>
            <a:r>
              <a:rPr lang="en-GB" dirty="0"/>
              <a:t> @ 2025 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7B4B0E0F-96EB-71D9-0A59-122CBC56964E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C98864F0-0AE4-88D2-0BD4-DE19F2C1C891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F64A060E-CEE0-D69E-04C6-F0B0C7B41292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68;p30 1">
            <a:extLst>
              <a:ext uri="{FF2B5EF4-FFF2-40B4-BE49-F238E27FC236}">
                <a16:creationId xmlns:a16="http://schemas.microsoft.com/office/drawing/2014/main" id="{2851A1B2-AD19-6CCC-BAD0-63E5CC6CAB65}"/>
              </a:ext>
            </a:extLst>
          </p:cNvPr>
          <p:cNvSpPr txBox="1">
            <a:spLocks/>
          </p:cNvSpPr>
          <p:nvPr/>
        </p:nvSpPr>
        <p:spPr>
          <a:xfrm>
            <a:off x="6522632" y="859318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Font typeface="Roboto"/>
              <a:buNone/>
            </a:pPr>
            <a:r>
              <a:rPr lang="en-GB" sz="2000" b="1" dirty="0"/>
              <a:t>Classical Logic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65AD109-8AB8-366B-F4E5-BAD049766E73}"/>
              </a:ext>
            </a:extLst>
          </p:cNvPr>
          <p:cNvSpPr/>
          <p:nvPr/>
        </p:nvSpPr>
        <p:spPr>
          <a:xfrm>
            <a:off x="860612" y="1640541"/>
            <a:ext cx="5298141" cy="2581835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Google Shape;168;p30 2">
            <a:extLst>
              <a:ext uri="{FF2B5EF4-FFF2-40B4-BE49-F238E27FC236}">
                <a16:creationId xmlns:a16="http://schemas.microsoft.com/office/drawing/2014/main" id="{1253D626-BF1E-F9C9-F3AE-24D8EC2658FF}"/>
              </a:ext>
            </a:extLst>
          </p:cNvPr>
          <p:cNvSpPr txBox="1">
            <a:spLocks/>
          </p:cNvSpPr>
          <p:nvPr/>
        </p:nvSpPr>
        <p:spPr>
          <a:xfrm>
            <a:off x="1053816" y="3202714"/>
            <a:ext cx="2279587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endParaRPr lang="en-GB" sz="1600" dirty="0"/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FOCUSING</a:t>
            </a:r>
          </a:p>
        </p:txBody>
      </p:sp>
      <p:sp>
        <p:nvSpPr>
          <p:cNvPr id="20" name="Google Shape;168;p30 2 2">
            <a:extLst>
              <a:ext uri="{FF2B5EF4-FFF2-40B4-BE49-F238E27FC236}">
                <a16:creationId xmlns:a16="http://schemas.microsoft.com/office/drawing/2014/main" id="{35390095-813D-B78B-E4FA-0363ADF6DEBC}"/>
              </a:ext>
            </a:extLst>
          </p:cNvPr>
          <p:cNvSpPr txBox="1">
            <a:spLocks/>
          </p:cNvSpPr>
          <p:nvPr/>
        </p:nvSpPr>
        <p:spPr>
          <a:xfrm>
            <a:off x="3526607" y="3177264"/>
            <a:ext cx="2279587" cy="56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endParaRPr lang="en-GB" sz="1600" dirty="0"/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INTERCALATION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6B786C6-3C3B-BEC1-5BE1-D3094DF1E50C}"/>
                  </a:ext>
                </a:extLst>
              </p:cNvPr>
              <p:cNvSpPr txBox="1"/>
              <p:nvPr/>
            </p:nvSpPr>
            <p:spPr>
              <a:xfrm>
                <a:off x="3181276" y="3616242"/>
                <a:ext cx="3574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T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PT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6B786C6-3C3B-BEC1-5BE1-D3094DF1E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276" y="3616242"/>
                <a:ext cx="357470" cy="430887"/>
              </a:xfrm>
              <a:prstGeom prst="rect">
                <a:avLst/>
              </a:prstGeom>
              <a:blipFill>
                <a:blip r:embed="rId8"/>
                <a:stretch>
                  <a:fillRect l="-17241" r="-17241" b="-5714"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168;p30 2">
            <a:extLst>
              <a:ext uri="{FF2B5EF4-FFF2-40B4-BE49-F238E27FC236}">
                <a16:creationId xmlns:a16="http://schemas.microsoft.com/office/drawing/2014/main" id="{D9C2C400-42BD-C4E4-50CE-19C0B86CF865}"/>
              </a:ext>
            </a:extLst>
          </p:cNvPr>
          <p:cNvSpPr txBox="1">
            <a:spLocks/>
          </p:cNvSpPr>
          <p:nvPr/>
        </p:nvSpPr>
        <p:spPr>
          <a:xfrm>
            <a:off x="6412375" y="1543269"/>
            <a:ext cx="2218610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Font typeface="Roboto"/>
              <a:buNone/>
            </a:pPr>
            <a:r>
              <a:rPr lang="en-GB" sz="1600" dirty="0"/>
              <a:t>Sequent Calculus </a:t>
            </a:r>
            <a:r>
              <a:rPr lang="en-GB" sz="1600" b="1" dirty="0"/>
              <a:t>LKT</a:t>
            </a:r>
          </a:p>
        </p:txBody>
      </p:sp>
      <p:sp>
        <p:nvSpPr>
          <p:cNvPr id="2" name="Google Shape;168;p30 2">
            <a:extLst>
              <a:ext uri="{FF2B5EF4-FFF2-40B4-BE49-F238E27FC236}">
                <a16:creationId xmlns:a16="http://schemas.microsoft.com/office/drawing/2014/main" id="{DAFE7AEE-53A1-1895-EB67-C8745E5824D5}"/>
              </a:ext>
            </a:extLst>
          </p:cNvPr>
          <p:cNvSpPr txBox="1">
            <a:spLocks/>
          </p:cNvSpPr>
          <p:nvPr/>
        </p:nvSpPr>
        <p:spPr>
          <a:xfrm>
            <a:off x="6412375" y="3317475"/>
            <a:ext cx="2303362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Font typeface="Roboto"/>
              <a:buNone/>
            </a:pPr>
            <a:endParaRPr lang="en-GB" sz="1600" dirty="0"/>
          </a:p>
          <a:p>
            <a:pPr marL="0" indent="0">
              <a:lnSpc>
                <a:spcPct val="150000"/>
              </a:lnSpc>
              <a:buFont typeface="Roboto"/>
              <a:buNone/>
            </a:pPr>
            <a:r>
              <a:rPr lang="en-GB" sz="1600" dirty="0"/>
              <a:t>Natural Deduction </a:t>
            </a:r>
            <a:r>
              <a:rPr lang="en-GB" sz="1600" b="1" dirty="0"/>
              <a:t>NKT</a:t>
            </a:r>
          </a:p>
        </p:txBody>
      </p:sp>
      <p:sp>
        <p:nvSpPr>
          <p:cNvPr id="3" name="Google Shape;168;p30 2">
            <a:extLst>
              <a:ext uri="{FF2B5EF4-FFF2-40B4-BE49-F238E27FC236}">
                <a16:creationId xmlns:a16="http://schemas.microsoft.com/office/drawing/2014/main" id="{B18D485E-4257-12FC-6F41-52B781497113}"/>
              </a:ext>
            </a:extLst>
          </p:cNvPr>
          <p:cNvSpPr txBox="1">
            <a:spLocks/>
          </p:cNvSpPr>
          <p:nvPr/>
        </p:nvSpPr>
        <p:spPr>
          <a:xfrm>
            <a:off x="6381886" y="2247088"/>
            <a:ext cx="2279587" cy="125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FOCUSING</a:t>
            </a:r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endParaRPr lang="en-GB" sz="1600" b="1" dirty="0"/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INTERCALATION</a:t>
            </a:r>
          </a:p>
        </p:txBody>
      </p:sp>
      <p:sp>
        <p:nvSpPr>
          <p:cNvPr id="6" name="Merge 5">
            <a:extLst>
              <a:ext uri="{FF2B5EF4-FFF2-40B4-BE49-F238E27FC236}">
                <a16:creationId xmlns:a16="http://schemas.microsoft.com/office/drawing/2014/main" id="{66AF4E90-401E-7C8E-2A47-097E6DF18A39}"/>
              </a:ext>
            </a:extLst>
          </p:cNvPr>
          <p:cNvSpPr/>
          <p:nvPr/>
        </p:nvSpPr>
        <p:spPr>
          <a:xfrm>
            <a:off x="1830554" y="2306166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386D1C-C056-B889-87FF-519E0ECA824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246486" y="1933010"/>
            <a:ext cx="1070251" cy="252402"/>
          </a:xfrm>
          <a:prstGeom prst="rect">
            <a:avLst/>
          </a:prstGeom>
        </p:spPr>
      </p:pic>
      <p:sp>
        <p:nvSpPr>
          <p:cNvPr id="8" name="Decision 7">
            <a:extLst>
              <a:ext uri="{FF2B5EF4-FFF2-40B4-BE49-F238E27FC236}">
                <a16:creationId xmlns:a16="http://schemas.microsoft.com/office/drawing/2014/main" id="{F3AFF04A-02F1-EB33-2288-E9A5EC9A496F}"/>
              </a:ext>
            </a:extLst>
          </p:cNvPr>
          <p:cNvSpPr/>
          <p:nvPr/>
        </p:nvSpPr>
        <p:spPr>
          <a:xfrm flipV="1">
            <a:off x="4307744" y="2222785"/>
            <a:ext cx="715797" cy="498549"/>
          </a:xfrm>
          <a:prstGeom prst="flowChartDecisi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B45678-3E5F-A6EC-97EF-4D815880B36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288761" y="2793746"/>
            <a:ext cx="917826" cy="4966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F73C31-72EB-082D-FD8C-6E28C73D8DE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830558" y="2793747"/>
            <a:ext cx="917825" cy="49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699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B851DC4E-70A3-19E9-2178-3DB6A8010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E9E5CBB2-946D-9381-3CE2-8276219E0B84}"/>
              </a:ext>
            </a:extLst>
          </p:cNvPr>
          <p:cNvSpPr txBox="1">
            <a:spLocks/>
          </p:cNvSpPr>
          <p:nvPr/>
        </p:nvSpPr>
        <p:spPr>
          <a:xfrm>
            <a:off x="713275" y="789085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 err="1"/>
              <a:t>WoLLIC</a:t>
            </a:r>
            <a:r>
              <a:rPr lang="en-GB" dirty="0"/>
              <a:t> @ 2025 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8A198F1A-816C-4427-C8C6-E9632A44083B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Motivation &amp; Partial Proof Terms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14E91BCE-3E3D-85B1-9E46-4790A9444EA7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3B69FC98-3341-B96B-B502-AD1A58B8B1F0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68;p30 1">
            <a:extLst>
              <a:ext uri="{FF2B5EF4-FFF2-40B4-BE49-F238E27FC236}">
                <a16:creationId xmlns:a16="http://schemas.microsoft.com/office/drawing/2014/main" id="{1D687740-9A80-EA21-5231-6A63C8757DC8}"/>
              </a:ext>
            </a:extLst>
          </p:cNvPr>
          <p:cNvSpPr txBox="1">
            <a:spLocks/>
          </p:cNvSpPr>
          <p:nvPr/>
        </p:nvSpPr>
        <p:spPr>
          <a:xfrm>
            <a:off x="6522632" y="859318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Font typeface="Roboto"/>
              <a:buNone/>
            </a:pPr>
            <a:r>
              <a:rPr lang="en-GB" sz="2000" b="1" dirty="0"/>
              <a:t>Classical Logic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5312C48-FCC9-B652-0D0E-606E7E47FEBA}"/>
              </a:ext>
            </a:extLst>
          </p:cNvPr>
          <p:cNvSpPr/>
          <p:nvPr/>
        </p:nvSpPr>
        <p:spPr>
          <a:xfrm>
            <a:off x="860612" y="1640541"/>
            <a:ext cx="5298141" cy="2581835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Google Shape;168;p30 2">
            <a:extLst>
              <a:ext uri="{FF2B5EF4-FFF2-40B4-BE49-F238E27FC236}">
                <a16:creationId xmlns:a16="http://schemas.microsoft.com/office/drawing/2014/main" id="{82E18691-8877-CBBF-B62D-8132BEB70717}"/>
              </a:ext>
            </a:extLst>
          </p:cNvPr>
          <p:cNvSpPr txBox="1">
            <a:spLocks/>
          </p:cNvSpPr>
          <p:nvPr/>
        </p:nvSpPr>
        <p:spPr>
          <a:xfrm>
            <a:off x="1053816" y="3202714"/>
            <a:ext cx="2279587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endParaRPr lang="en-GB" sz="1600" dirty="0"/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FOCUSING</a:t>
            </a:r>
          </a:p>
        </p:txBody>
      </p:sp>
      <p:sp>
        <p:nvSpPr>
          <p:cNvPr id="20" name="Google Shape;168;p30 2 2">
            <a:extLst>
              <a:ext uri="{FF2B5EF4-FFF2-40B4-BE49-F238E27FC236}">
                <a16:creationId xmlns:a16="http://schemas.microsoft.com/office/drawing/2014/main" id="{5CF4DC02-58DA-2A8C-87FF-77A5483E88CB}"/>
              </a:ext>
            </a:extLst>
          </p:cNvPr>
          <p:cNvSpPr txBox="1">
            <a:spLocks/>
          </p:cNvSpPr>
          <p:nvPr/>
        </p:nvSpPr>
        <p:spPr>
          <a:xfrm>
            <a:off x="3526607" y="3177264"/>
            <a:ext cx="2279587" cy="56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endParaRPr lang="en-GB" sz="1600" dirty="0"/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INTERCALATION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A8AB1C0-3379-9FBD-6EFC-C81954AD2C45}"/>
                  </a:ext>
                </a:extLst>
              </p:cNvPr>
              <p:cNvSpPr txBox="1"/>
              <p:nvPr/>
            </p:nvSpPr>
            <p:spPr>
              <a:xfrm>
                <a:off x="3181276" y="3616242"/>
                <a:ext cx="3574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T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PT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A8AB1C0-3379-9FBD-6EFC-C81954AD2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276" y="3616242"/>
                <a:ext cx="357470" cy="430887"/>
              </a:xfrm>
              <a:prstGeom prst="rect">
                <a:avLst/>
              </a:prstGeom>
              <a:blipFill>
                <a:blip r:embed="rId8"/>
                <a:stretch>
                  <a:fillRect l="-17241" r="-17241" b="-5714"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168;p30 2">
            <a:extLst>
              <a:ext uri="{FF2B5EF4-FFF2-40B4-BE49-F238E27FC236}">
                <a16:creationId xmlns:a16="http://schemas.microsoft.com/office/drawing/2014/main" id="{8556DDAC-A4C5-DD22-6FCE-E9B8D4E6D081}"/>
              </a:ext>
            </a:extLst>
          </p:cNvPr>
          <p:cNvSpPr txBox="1">
            <a:spLocks/>
          </p:cNvSpPr>
          <p:nvPr/>
        </p:nvSpPr>
        <p:spPr>
          <a:xfrm>
            <a:off x="6412375" y="1543269"/>
            <a:ext cx="2218610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Font typeface="Roboto"/>
              <a:buNone/>
            </a:pPr>
            <a:r>
              <a:rPr lang="en-GB" sz="1600" dirty="0"/>
              <a:t>Sequent Calculus </a:t>
            </a:r>
            <a:r>
              <a:rPr lang="en-GB" sz="1600" b="1" dirty="0"/>
              <a:t>LKT</a:t>
            </a:r>
          </a:p>
        </p:txBody>
      </p:sp>
      <p:sp>
        <p:nvSpPr>
          <p:cNvPr id="2" name="Google Shape;168;p30 2">
            <a:extLst>
              <a:ext uri="{FF2B5EF4-FFF2-40B4-BE49-F238E27FC236}">
                <a16:creationId xmlns:a16="http://schemas.microsoft.com/office/drawing/2014/main" id="{E6901018-7C7C-F125-2A55-F6EB9D5B79F8}"/>
              </a:ext>
            </a:extLst>
          </p:cNvPr>
          <p:cNvSpPr txBox="1">
            <a:spLocks/>
          </p:cNvSpPr>
          <p:nvPr/>
        </p:nvSpPr>
        <p:spPr>
          <a:xfrm>
            <a:off x="6412375" y="3317475"/>
            <a:ext cx="2303362" cy="95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Font typeface="Roboto"/>
              <a:buNone/>
            </a:pPr>
            <a:endParaRPr lang="en-GB" sz="1600" dirty="0"/>
          </a:p>
          <a:p>
            <a:pPr marL="0" indent="0">
              <a:lnSpc>
                <a:spcPct val="150000"/>
              </a:lnSpc>
              <a:buFont typeface="Roboto"/>
              <a:buNone/>
            </a:pPr>
            <a:r>
              <a:rPr lang="en-GB" sz="1600" dirty="0"/>
              <a:t>Natural Deduction </a:t>
            </a:r>
            <a:r>
              <a:rPr lang="en-GB" sz="1600" b="1" dirty="0"/>
              <a:t>NKT</a:t>
            </a:r>
          </a:p>
        </p:txBody>
      </p:sp>
      <p:sp>
        <p:nvSpPr>
          <p:cNvPr id="3" name="Google Shape;168;p30 2">
            <a:extLst>
              <a:ext uri="{FF2B5EF4-FFF2-40B4-BE49-F238E27FC236}">
                <a16:creationId xmlns:a16="http://schemas.microsoft.com/office/drawing/2014/main" id="{C4150CB9-E120-C68D-CDAC-643B2B6A123B}"/>
              </a:ext>
            </a:extLst>
          </p:cNvPr>
          <p:cNvSpPr txBox="1">
            <a:spLocks/>
          </p:cNvSpPr>
          <p:nvPr/>
        </p:nvSpPr>
        <p:spPr>
          <a:xfrm>
            <a:off x="6381886" y="2247088"/>
            <a:ext cx="2279587" cy="125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FOCUSING</a:t>
            </a:r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endParaRPr lang="en-GB" sz="1600" b="1" dirty="0"/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600" b="1" dirty="0"/>
              <a:t>INTERCALATION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6C375C-CF11-23FB-80D5-92D9FE4FFED6}"/>
                  </a:ext>
                </a:extLst>
              </p:cNvPr>
              <p:cNvSpPr txBox="1"/>
              <p:nvPr/>
            </p:nvSpPr>
            <p:spPr>
              <a:xfrm>
                <a:off x="7297943" y="2660325"/>
                <a:ext cx="3574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T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PT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6C375C-CF11-23FB-80D5-92D9FE4FF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943" y="2660325"/>
                <a:ext cx="357470" cy="430887"/>
              </a:xfrm>
              <a:prstGeom prst="rect">
                <a:avLst/>
              </a:prstGeom>
              <a:blipFill>
                <a:blip r:embed="rId9"/>
                <a:stretch>
                  <a:fillRect l="-13793" r="-17241" b="-2857"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Merge 6">
            <a:extLst>
              <a:ext uri="{FF2B5EF4-FFF2-40B4-BE49-F238E27FC236}">
                <a16:creationId xmlns:a16="http://schemas.microsoft.com/office/drawing/2014/main" id="{B080B87E-9ACE-0A65-3C5A-CC4796AA5D2F}"/>
              </a:ext>
            </a:extLst>
          </p:cNvPr>
          <p:cNvSpPr/>
          <p:nvPr/>
        </p:nvSpPr>
        <p:spPr>
          <a:xfrm>
            <a:off x="1830554" y="2306166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0FD2BC-5BB5-81D1-64AE-ED8D6A79217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246486" y="1933010"/>
            <a:ext cx="1070251" cy="252402"/>
          </a:xfrm>
          <a:prstGeom prst="rect">
            <a:avLst/>
          </a:prstGeom>
        </p:spPr>
      </p:pic>
      <p:sp>
        <p:nvSpPr>
          <p:cNvPr id="11" name="Decision 10">
            <a:extLst>
              <a:ext uri="{FF2B5EF4-FFF2-40B4-BE49-F238E27FC236}">
                <a16:creationId xmlns:a16="http://schemas.microsoft.com/office/drawing/2014/main" id="{4A4B2292-7548-EFEB-93FE-D6457CDEC42A}"/>
              </a:ext>
            </a:extLst>
          </p:cNvPr>
          <p:cNvSpPr/>
          <p:nvPr/>
        </p:nvSpPr>
        <p:spPr>
          <a:xfrm flipV="1">
            <a:off x="4307744" y="2222785"/>
            <a:ext cx="715797" cy="498549"/>
          </a:xfrm>
          <a:prstGeom prst="flowChartDecisi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7C7288-32F8-1F73-4DB4-AC245AE8CAA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288761" y="2793746"/>
            <a:ext cx="917826" cy="4966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3C193E-1841-A40E-E4BD-88119668690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830558" y="2793747"/>
            <a:ext cx="917825" cy="49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1192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EC9179DF-5FD7-0DF3-84D6-596B52B6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>
            <a:extLst>
              <a:ext uri="{FF2B5EF4-FFF2-40B4-BE49-F238E27FC236}">
                <a16:creationId xmlns:a16="http://schemas.microsoft.com/office/drawing/2014/main" id="{D1A30C7E-7E2D-8B8E-FB70-DEA3C821A7BC}"/>
              </a:ext>
            </a:extLst>
          </p:cNvPr>
          <p:cNvSpPr txBox="1"/>
          <p:nvPr/>
        </p:nvSpPr>
        <p:spPr>
          <a:xfrm>
            <a:off x="1343324" y="4851000"/>
            <a:ext cx="378747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Proof Search in Classical Propositional Logic with Partial Proof Terms</a:t>
            </a:r>
            <a:endParaRPr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2">
            <a:extLst>
              <a:ext uri="{FF2B5EF4-FFF2-40B4-BE49-F238E27FC236}">
                <a16:creationId xmlns:a16="http://schemas.microsoft.com/office/drawing/2014/main" id="{F39254B9-9AA5-7B33-FF1D-21BB1D9119FD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  <a:endParaRPr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2">
            <a:extLst>
              <a:ext uri="{FF2B5EF4-FFF2-40B4-BE49-F238E27FC236}">
                <a16:creationId xmlns:a16="http://schemas.microsoft.com/office/drawing/2014/main" id="{DE585CAE-C56A-32A4-BB54-20C5CBFCE739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endParaRPr lang="en-GB"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r"/>
            <a:endParaRPr lang="en-GB"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2">
            <a:extLst>
              <a:ext uri="{FF2B5EF4-FFF2-40B4-BE49-F238E27FC236}">
                <a16:creationId xmlns:a16="http://schemas.microsoft.com/office/drawing/2014/main" id="{860B0085-F963-6E6E-8D5C-2E62439345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1861301"/>
            <a:ext cx="4798748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LKT &amp;</a:t>
            </a:r>
            <a:br>
              <a:rPr lang="en" dirty="0"/>
            </a:br>
            <a:r>
              <a:rPr lang="en" dirty="0"/>
              <a:t>Focusing</a:t>
            </a:r>
            <a:endParaRPr dirty="0"/>
          </a:p>
        </p:txBody>
      </p:sp>
      <p:sp>
        <p:nvSpPr>
          <p:cNvPr id="192" name="Google Shape;192;p32">
            <a:extLst>
              <a:ext uri="{FF2B5EF4-FFF2-40B4-BE49-F238E27FC236}">
                <a16:creationId xmlns:a16="http://schemas.microsoft.com/office/drawing/2014/main" id="{2D981735-9CC7-EE51-15A3-842FB8EB525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2376" y="984098"/>
            <a:ext cx="1235700" cy="8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7765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580FE150-4188-27B9-78FE-BC695A364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810AA3D3-1DB9-AB86-ED18-1093C1D6A2F0}"/>
              </a:ext>
            </a:extLst>
          </p:cNvPr>
          <p:cNvSpPr txBox="1">
            <a:spLocks/>
          </p:cNvSpPr>
          <p:nvPr/>
        </p:nvSpPr>
        <p:spPr>
          <a:xfrm>
            <a:off x="713275" y="789085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Roadmap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BB77CB69-85C1-D655-7103-4D6C196CDABD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4593EA8B-9E9B-7AB8-7813-9B89B45C19E5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BCEEB2D7-EF04-CB2E-FD52-B15FC44FED9A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A042831E-59C4-76A8-86A1-2176D29A81B8}"/>
              </a:ext>
            </a:extLst>
          </p:cNvPr>
          <p:cNvSpPr/>
          <p:nvPr/>
        </p:nvSpPr>
        <p:spPr>
          <a:xfrm>
            <a:off x="1158627" y="1896207"/>
            <a:ext cx="184628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Define a Sequent Calculus LKT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A312FF62-7E62-BEE0-6114-EE515E8CCEF1}"/>
              </a:ext>
            </a:extLst>
          </p:cNvPr>
          <p:cNvSpPr/>
          <p:nvPr/>
        </p:nvSpPr>
        <p:spPr>
          <a:xfrm>
            <a:off x="1158627" y="3186036"/>
            <a:ext cx="184628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Add Proof Terms</a:t>
            </a:r>
          </a:p>
          <a:p>
            <a:pPr algn="ctr"/>
            <a:r>
              <a:rPr lang="en-GB" dirty="0">
                <a:solidFill>
                  <a:schemeClr val="bg2"/>
                </a:solidFill>
              </a:rPr>
              <a:t> to LKT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CC7DAFF7-B51A-BB6E-B537-3823DAD220F7}"/>
              </a:ext>
            </a:extLst>
          </p:cNvPr>
          <p:cNvSpPr/>
          <p:nvPr/>
        </p:nvSpPr>
        <p:spPr>
          <a:xfrm>
            <a:off x="875834" y="1606901"/>
            <a:ext cx="2378347" cy="2832307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9" name="Google Shape;168;p30 1">
            <a:extLst>
              <a:ext uri="{FF2B5EF4-FFF2-40B4-BE49-F238E27FC236}">
                <a16:creationId xmlns:a16="http://schemas.microsoft.com/office/drawing/2014/main" id="{FD1001C7-9EE7-9BBA-17D1-4B367BF8A88B}"/>
              </a:ext>
            </a:extLst>
          </p:cNvPr>
          <p:cNvSpPr txBox="1">
            <a:spLocks/>
          </p:cNvSpPr>
          <p:nvPr/>
        </p:nvSpPr>
        <p:spPr>
          <a:xfrm>
            <a:off x="1670914" y="4313788"/>
            <a:ext cx="1583267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r">
              <a:lnSpc>
                <a:spcPct val="150000"/>
              </a:lnSpc>
              <a:buFont typeface="Roboto"/>
              <a:buNone/>
            </a:pPr>
            <a:r>
              <a:rPr lang="en-GB" sz="1400" b="1" dirty="0"/>
              <a:t>Finished Proofs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93236BDC-66D4-1643-F8C4-FFEF7DDF2562}"/>
              </a:ext>
            </a:extLst>
          </p:cNvPr>
          <p:cNvSpPr/>
          <p:nvPr/>
        </p:nvSpPr>
        <p:spPr>
          <a:xfrm>
            <a:off x="3811415" y="3186036"/>
            <a:ext cx="184628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Focusing </a:t>
            </a:r>
          </a:p>
          <a:p>
            <a:pPr algn="ctr"/>
            <a:r>
              <a:rPr lang="en-GB" i="1" dirty="0">
                <a:solidFill>
                  <a:schemeClr val="bg2"/>
                </a:solidFill>
              </a:rPr>
              <a:t>(with words)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53960C44-6177-DDCD-E3FA-9066A76AE9F1}"/>
              </a:ext>
            </a:extLst>
          </p:cNvPr>
          <p:cNvSpPr/>
          <p:nvPr/>
        </p:nvSpPr>
        <p:spPr>
          <a:xfrm>
            <a:off x="3545384" y="1606901"/>
            <a:ext cx="2378347" cy="2832307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2" name="Google Shape;168;p30 1">
            <a:extLst>
              <a:ext uri="{FF2B5EF4-FFF2-40B4-BE49-F238E27FC236}">
                <a16:creationId xmlns:a16="http://schemas.microsoft.com/office/drawing/2014/main" id="{48789637-62BB-D603-ED07-80280E84CF80}"/>
              </a:ext>
            </a:extLst>
          </p:cNvPr>
          <p:cNvSpPr txBox="1">
            <a:spLocks/>
          </p:cNvSpPr>
          <p:nvPr/>
        </p:nvSpPr>
        <p:spPr>
          <a:xfrm>
            <a:off x="4451206" y="4313787"/>
            <a:ext cx="1472525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r">
              <a:lnSpc>
                <a:spcPct val="150000"/>
              </a:lnSpc>
              <a:buFont typeface="Roboto"/>
              <a:buNone/>
            </a:pPr>
            <a:r>
              <a:rPr lang="en-GB" sz="1400" b="1" dirty="0"/>
              <a:t>Proof Search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8BAC4CC9-6D44-4165-64D4-456441020A43}"/>
              </a:ext>
            </a:extLst>
          </p:cNvPr>
          <p:cNvSpPr/>
          <p:nvPr/>
        </p:nvSpPr>
        <p:spPr>
          <a:xfrm>
            <a:off x="6214937" y="1606901"/>
            <a:ext cx="2378347" cy="2832307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92" name="Google Shape;168;p30 1">
            <a:extLst>
              <a:ext uri="{FF2B5EF4-FFF2-40B4-BE49-F238E27FC236}">
                <a16:creationId xmlns:a16="http://schemas.microsoft.com/office/drawing/2014/main" id="{F4D34119-E4E8-7A3C-D18C-56B72F467830}"/>
              </a:ext>
            </a:extLst>
          </p:cNvPr>
          <p:cNvSpPr txBox="1">
            <a:spLocks/>
          </p:cNvSpPr>
          <p:nvPr/>
        </p:nvSpPr>
        <p:spPr>
          <a:xfrm>
            <a:off x="7120759" y="4313787"/>
            <a:ext cx="1472525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r">
              <a:lnSpc>
                <a:spcPct val="150000"/>
              </a:lnSpc>
              <a:buFont typeface="Roboto"/>
              <a:buNone/>
            </a:pPr>
            <a:r>
              <a:rPr lang="en-GB" sz="1400" b="1" dirty="0"/>
              <a:t>Partial Proofs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Rounded Rectangle 192">
                <a:extLst>
                  <a:ext uri="{FF2B5EF4-FFF2-40B4-BE49-F238E27FC236}">
                    <a16:creationId xmlns:a16="http://schemas.microsoft.com/office/drawing/2014/main" id="{F3366247-D09D-C794-379D-391606235CD9}"/>
                  </a:ext>
                </a:extLst>
              </p:cNvPr>
              <p:cNvSpPr/>
              <p:nvPr/>
            </p:nvSpPr>
            <p:spPr>
              <a:xfrm>
                <a:off x="6480968" y="2565854"/>
                <a:ext cx="1846283" cy="914400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90000" rtlCol="0" anchor="ctr"/>
              <a:lstStyle/>
              <a:p>
                <a:pPr algn="ctr"/>
                <a:r>
                  <a:rPr lang="en-GB" dirty="0">
                    <a:solidFill>
                      <a:schemeClr val="bg2"/>
                    </a:solidFill>
                  </a:rPr>
                  <a:t>Define a </a:t>
                </a:r>
                <a:r>
                  <a:rPr lang="en-GB" b="1" dirty="0">
                    <a:solidFill>
                      <a:schemeClr val="bg2"/>
                    </a:solidFill>
                  </a:rPr>
                  <a:t>Partial</a:t>
                </a:r>
                <a:r>
                  <a:rPr lang="en-GB" dirty="0">
                    <a:solidFill>
                      <a:schemeClr val="bg2"/>
                    </a:solidFill>
                  </a:rPr>
                  <a:t> Sequent Calculus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GB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𝐾𝑇</m:t>
                        </m:r>
                      </m:e>
                      <m:sub>
                        <m:r>
                          <a:rPr lang="pt-PT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sub>
                    </m:sSub>
                  </m:oMath>
                </a14:m>
                <a:endParaRPr lang="pt-PT" b="0" i="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93" name="Rounded Rectangle 192">
                <a:extLst>
                  <a:ext uri="{FF2B5EF4-FFF2-40B4-BE49-F238E27FC236}">
                    <a16:creationId xmlns:a16="http://schemas.microsoft.com/office/drawing/2014/main" id="{F3366247-D09D-C794-379D-391606235C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968" y="2565854"/>
                <a:ext cx="1846283" cy="914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Rounded Rectangle 193">
            <a:extLst>
              <a:ext uri="{FF2B5EF4-FFF2-40B4-BE49-F238E27FC236}">
                <a16:creationId xmlns:a16="http://schemas.microsoft.com/office/drawing/2014/main" id="{B3AD982A-E06C-8802-56EA-DBE21CA47E5C}"/>
              </a:ext>
            </a:extLst>
          </p:cNvPr>
          <p:cNvSpPr/>
          <p:nvPr/>
        </p:nvSpPr>
        <p:spPr>
          <a:xfrm>
            <a:off x="3811415" y="1896207"/>
            <a:ext cx="184628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Define Focusing Reduction Rules</a:t>
            </a:r>
          </a:p>
        </p:txBody>
      </p:sp>
      <p:sp>
        <p:nvSpPr>
          <p:cNvPr id="213" name="Google Shape;168;p30 1">
            <a:extLst>
              <a:ext uri="{FF2B5EF4-FFF2-40B4-BE49-F238E27FC236}">
                <a16:creationId xmlns:a16="http://schemas.microsoft.com/office/drawing/2014/main" id="{EE460506-BC66-2ACD-B66D-0E66EEFDB02C}"/>
              </a:ext>
            </a:extLst>
          </p:cNvPr>
          <p:cNvSpPr txBox="1">
            <a:spLocks/>
          </p:cNvSpPr>
          <p:nvPr/>
        </p:nvSpPr>
        <p:spPr>
          <a:xfrm>
            <a:off x="3387194" y="1274427"/>
            <a:ext cx="2694723" cy="319733"/>
          </a:xfrm>
          <a:prstGeom prst="rect">
            <a:avLst/>
          </a:prstGeom>
          <a:solidFill>
            <a:srgbClr val="EFEEE7">
              <a:alpha val="8980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Font typeface="Roboto"/>
              <a:buNone/>
            </a:pPr>
            <a:r>
              <a:rPr lang="en-GB" sz="1300" b="1" dirty="0"/>
              <a:t>Proof Search as Normalization</a:t>
            </a:r>
          </a:p>
        </p:txBody>
      </p:sp>
    </p:spTree>
    <p:extLst>
      <p:ext uri="{BB962C8B-B14F-4D97-AF65-F5344CB8AC3E}">
        <p14:creationId xmlns:p14="http://schemas.microsoft.com/office/powerpoint/2010/main" val="266495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58" grpId="0" animBg="1"/>
      <p:bldP spid="59" grpId="0"/>
      <p:bldP spid="60" grpId="0" animBg="1"/>
      <p:bldP spid="61" grpId="0" animBg="1"/>
      <p:bldP spid="62" grpId="0"/>
      <p:bldP spid="63" grpId="0" animBg="1"/>
      <p:bldP spid="192" grpId="0"/>
      <p:bldP spid="193" grpId="0" animBg="1"/>
      <p:bldP spid="194" grpId="0" animBg="1"/>
      <p:bldP spid="2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667592B0-E1A5-DF79-6D63-82208C2F0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391C5BCB-F0B8-E54E-D74B-665F0DA77FE4}"/>
              </a:ext>
            </a:extLst>
          </p:cNvPr>
          <p:cNvSpPr txBox="1">
            <a:spLocks/>
          </p:cNvSpPr>
          <p:nvPr/>
        </p:nvSpPr>
        <p:spPr>
          <a:xfrm>
            <a:off x="713275" y="789085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LKT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CC593C0A-CCC0-310F-5EF9-A1CAFCA2EDA1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2EB2799E-FA63-68C3-D8A0-2905110F1474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DEB5771F-437E-89D0-3FF8-62FEA088ACCA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040A516-B3C6-1439-3352-D414DCC24855}"/>
              </a:ext>
            </a:extLst>
          </p:cNvPr>
          <p:cNvSpPr/>
          <p:nvPr/>
        </p:nvSpPr>
        <p:spPr>
          <a:xfrm>
            <a:off x="1158627" y="1896207"/>
            <a:ext cx="184628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Define a Sequent Calculus LKT</a:t>
            </a:r>
          </a:p>
        </p:txBody>
      </p:sp>
    </p:spTree>
    <p:extLst>
      <p:ext uri="{BB962C8B-B14F-4D97-AF65-F5344CB8AC3E}">
        <p14:creationId xmlns:p14="http://schemas.microsoft.com/office/powerpoint/2010/main" val="127683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416C1DF7-FAFA-EFAD-E14E-449A49489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F661F577-A90D-A7D2-0F39-753EF4D15ED4}"/>
              </a:ext>
            </a:extLst>
          </p:cNvPr>
          <p:cNvSpPr txBox="1">
            <a:spLocks/>
          </p:cNvSpPr>
          <p:nvPr/>
        </p:nvSpPr>
        <p:spPr>
          <a:xfrm>
            <a:off x="713275" y="789085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LKT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A526B3AF-B040-1AEC-FC67-96D666E9394D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4A473909-FA29-85A3-671E-1705D28F11D1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F83CAD0D-3BCF-1E32-3A12-9EE9E3969E34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68;p30 1 1 1">
            <a:extLst>
              <a:ext uri="{FF2B5EF4-FFF2-40B4-BE49-F238E27FC236}">
                <a16:creationId xmlns:a16="http://schemas.microsoft.com/office/drawing/2014/main" id="{D882939F-81E2-BD1A-E5B3-A2B6BA72A939}"/>
              </a:ext>
            </a:extLst>
          </p:cNvPr>
          <p:cNvSpPr txBox="1">
            <a:spLocks/>
          </p:cNvSpPr>
          <p:nvPr/>
        </p:nvSpPr>
        <p:spPr>
          <a:xfrm>
            <a:off x="860612" y="1640541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/>
              <a:t>Formulas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54E67A-A98B-58DE-054A-4124BF54D56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55811" y="2204680"/>
            <a:ext cx="2328672" cy="25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167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7ED42EC6-8DB0-A4C5-F309-B6D621123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3F2AB9F7-A002-F311-8A74-B58B6DE2E5B5}"/>
              </a:ext>
            </a:extLst>
          </p:cNvPr>
          <p:cNvSpPr txBox="1">
            <a:spLocks/>
          </p:cNvSpPr>
          <p:nvPr/>
        </p:nvSpPr>
        <p:spPr>
          <a:xfrm>
            <a:off x="713275" y="789085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LKT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87B9C889-2FAB-8A17-7E9A-B4461956188F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2FB59FA4-F03B-FBC1-91F3-248E90253060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3E1603A5-D562-9F51-5BB7-B6CE5DC773D1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Google Shape;168;p30 1 1 1">
            <a:extLst>
              <a:ext uri="{FF2B5EF4-FFF2-40B4-BE49-F238E27FC236}">
                <a16:creationId xmlns:a16="http://schemas.microsoft.com/office/drawing/2014/main" id="{8468A4B9-B72F-1A33-F5AD-6B8F2B1D6C7A}"/>
              </a:ext>
            </a:extLst>
          </p:cNvPr>
          <p:cNvSpPr txBox="1">
            <a:spLocks/>
          </p:cNvSpPr>
          <p:nvPr/>
        </p:nvSpPr>
        <p:spPr>
          <a:xfrm>
            <a:off x="860612" y="1640541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/>
              <a:t>Formulas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311FA4-9645-9A92-7301-6D331398176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55811" y="2204680"/>
            <a:ext cx="2328672" cy="251968"/>
          </a:xfrm>
          <a:prstGeom prst="rect">
            <a:avLst/>
          </a:prstGeom>
        </p:spPr>
      </p:pic>
      <p:sp>
        <p:nvSpPr>
          <p:cNvPr id="12" name="Google Shape;168;p30 1 2">
            <a:extLst>
              <a:ext uri="{FF2B5EF4-FFF2-40B4-BE49-F238E27FC236}">
                <a16:creationId xmlns:a16="http://schemas.microsoft.com/office/drawing/2014/main" id="{076B65B9-0B1E-F856-86F5-2E051AE6713A}"/>
              </a:ext>
            </a:extLst>
          </p:cNvPr>
          <p:cNvSpPr txBox="1">
            <a:spLocks/>
          </p:cNvSpPr>
          <p:nvPr/>
        </p:nvSpPr>
        <p:spPr>
          <a:xfrm>
            <a:off x="863600" y="2595780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 err="1"/>
              <a:t>Sequents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18061209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0396D599-980B-BFCE-B62D-D5B6E032F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43924C90-CD12-EB72-749E-97CF751F9AAA}"/>
              </a:ext>
            </a:extLst>
          </p:cNvPr>
          <p:cNvSpPr txBox="1">
            <a:spLocks/>
          </p:cNvSpPr>
          <p:nvPr/>
        </p:nvSpPr>
        <p:spPr>
          <a:xfrm>
            <a:off x="713275" y="789085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LKT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1CD59F0B-3855-5024-EADB-CC08FE828526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6AB4C2DE-E457-6291-1BD0-FA061C480DD8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137D125E-B899-32C0-C1B7-3A9F4F54CE2F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Google Shape;168;p30 1 1 1">
            <a:extLst>
              <a:ext uri="{FF2B5EF4-FFF2-40B4-BE49-F238E27FC236}">
                <a16:creationId xmlns:a16="http://schemas.microsoft.com/office/drawing/2014/main" id="{C18F100D-3353-9BB4-9F26-F2B3C4055794}"/>
              </a:ext>
            </a:extLst>
          </p:cNvPr>
          <p:cNvSpPr txBox="1">
            <a:spLocks/>
          </p:cNvSpPr>
          <p:nvPr/>
        </p:nvSpPr>
        <p:spPr>
          <a:xfrm>
            <a:off x="860612" y="1640541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/>
              <a:t>Formulas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C10415-2CA2-D09B-E47D-240CE3520DA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55811" y="2204680"/>
            <a:ext cx="2328672" cy="251968"/>
          </a:xfrm>
          <a:prstGeom prst="rect">
            <a:avLst/>
          </a:prstGeom>
        </p:spPr>
      </p:pic>
      <p:sp>
        <p:nvSpPr>
          <p:cNvPr id="12" name="Google Shape;168;p30 1 2">
            <a:extLst>
              <a:ext uri="{FF2B5EF4-FFF2-40B4-BE49-F238E27FC236}">
                <a16:creationId xmlns:a16="http://schemas.microsoft.com/office/drawing/2014/main" id="{F0661AC7-2ED0-90F0-0B20-BECDAABA6684}"/>
              </a:ext>
            </a:extLst>
          </p:cNvPr>
          <p:cNvSpPr txBox="1">
            <a:spLocks/>
          </p:cNvSpPr>
          <p:nvPr/>
        </p:nvSpPr>
        <p:spPr>
          <a:xfrm>
            <a:off x="863600" y="2595780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 err="1"/>
              <a:t>Sequents</a:t>
            </a:r>
            <a:endParaRPr lang="en-GB" sz="20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34AAEB-BCD0-0A5F-2976-190ACD07019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55811" y="3632803"/>
            <a:ext cx="669717" cy="31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9519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F0262CDF-3F71-434B-6A3C-FF875552E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F93F8BD5-D99C-EABD-11EF-52DFB87E89C2}"/>
              </a:ext>
            </a:extLst>
          </p:cNvPr>
          <p:cNvSpPr txBox="1">
            <a:spLocks/>
          </p:cNvSpPr>
          <p:nvPr/>
        </p:nvSpPr>
        <p:spPr>
          <a:xfrm>
            <a:off x="713275" y="789085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LKT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4AA0AAD6-F3AF-489D-31D8-427FBD1FAE99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6CD92D61-5BA7-1E95-DD14-263087F2F3D7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A904D0C6-6643-104D-128A-483B8714D807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168;p30 1 1 1">
            <a:extLst>
              <a:ext uri="{FF2B5EF4-FFF2-40B4-BE49-F238E27FC236}">
                <a16:creationId xmlns:a16="http://schemas.microsoft.com/office/drawing/2014/main" id="{9C76895C-79BF-D0C0-F35A-79497F605B5B}"/>
              </a:ext>
            </a:extLst>
          </p:cNvPr>
          <p:cNvSpPr txBox="1">
            <a:spLocks/>
          </p:cNvSpPr>
          <p:nvPr/>
        </p:nvSpPr>
        <p:spPr>
          <a:xfrm>
            <a:off x="860612" y="1640541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/>
              <a:t>Formulas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E07445-A7C1-8E6A-F97D-1DFAB489C94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55811" y="2204680"/>
            <a:ext cx="2328672" cy="251968"/>
          </a:xfrm>
          <a:prstGeom prst="rect">
            <a:avLst/>
          </a:prstGeom>
        </p:spPr>
      </p:pic>
      <p:sp>
        <p:nvSpPr>
          <p:cNvPr id="4" name="Google Shape;168;p30 1 2">
            <a:extLst>
              <a:ext uri="{FF2B5EF4-FFF2-40B4-BE49-F238E27FC236}">
                <a16:creationId xmlns:a16="http://schemas.microsoft.com/office/drawing/2014/main" id="{56DFA067-B52E-7330-652E-9D0A467AADDF}"/>
              </a:ext>
            </a:extLst>
          </p:cNvPr>
          <p:cNvSpPr txBox="1">
            <a:spLocks/>
          </p:cNvSpPr>
          <p:nvPr/>
        </p:nvSpPr>
        <p:spPr>
          <a:xfrm>
            <a:off x="863600" y="2595780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 err="1"/>
              <a:t>Sequents</a:t>
            </a:r>
            <a:endParaRPr lang="en-GB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0D04B1-1A28-36E8-B909-EAE52DCDA02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55811" y="3198505"/>
            <a:ext cx="858860" cy="239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09D321-BBFB-15C0-ED74-1667342CD29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55811" y="3632803"/>
            <a:ext cx="669717" cy="31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0928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9D9A9D2B-6AF5-A33B-9F0A-7952BE918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68CF1851-7C7D-10C1-9E35-8481E420FF92}"/>
              </a:ext>
            </a:extLst>
          </p:cNvPr>
          <p:cNvSpPr txBox="1">
            <a:spLocks/>
          </p:cNvSpPr>
          <p:nvPr/>
        </p:nvSpPr>
        <p:spPr>
          <a:xfrm>
            <a:off x="713275" y="789085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LKT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05513B37-9C42-381C-6A52-93E4C2AC5D54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6DB34646-3A2E-D911-4F80-DF793E567137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D2776844-C003-140A-1D67-E6A271A9CC0A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Google Shape;168;p30 1 1 1">
            <a:extLst>
              <a:ext uri="{FF2B5EF4-FFF2-40B4-BE49-F238E27FC236}">
                <a16:creationId xmlns:a16="http://schemas.microsoft.com/office/drawing/2014/main" id="{9ECE46F6-FBBD-E4EA-7C36-EA8FE693A5B1}"/>
              </a:ext>
            </a:extLst>
          </p:cNvPr>
          <p:cNvSpPr txBox="1">
            <a:spLocks/>
          </p:cNvSpPr>
          <p:nvPr/>
        </p:nvSpPr>
        <p:spPr>
          <a:xfrm>
            <a:off x="860612" y="1640541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/>
              <a:t>Formulas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96EE4F-3A7F-D1A0-0D40-2F872F8F1AE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55811" y="2204680"/>
            <a:ext cx="2328672" cy="251968"/>
          </a:xfrm>
          <a:prstGeom prst="rect">
            <a:avLst/>
          </a:prstGeom>
        </p:spPr>
      </p:pic>
      <p:sp>
        <p:nvSpPr>
          <p:cNvPr id="18" name="Google Shape;168;p30 1 2">
            <a:extLst>
              <a:ext uri="{FF2B5EF4-FFF2-40B4-BE49-F238E27FC236}">
                <a16:creationId xmlns:a16="http://schemas.microsoft.com/office/drawing/2014/main" id="{4C1D971F-B037-CA9A-41FD-F2B2FDD219BA}"/>
              </a:ext>
            </a:extLst>
          </p:cNvPr>
          <p:cNvSpPr txBox="1">
            <a:spLocks/>
          </p:cNvSpPr>
          <p:nvPr/>
        </p:nvSpPr>
        <p:spPr>
          <a:xfrm>
            <a:off x="863600" y="2595780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 err="1"/>
              <a:t>Sequents</a:t>
            </a:r>
            <a:endParaRPr lang="en-GB" sz="20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A475B80-795F-D27C-377A-49203D02FF5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55811" y="3198505"/>
            <a:ext cx="858860" cy="23932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F58AD2A-4BD0-6E90-6278-1C94217A65C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155811" y="4140010"/>
            <a:ext cx="899390" cy="21809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CADC0C6-C531-DF94-7D46-1E34DD390B2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155811" y="3632803"/>
            <a:ext cx="669717" cy="31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7439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A8408C12-30F1-DE00-0FDC-5AFFBA7B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3AFB9073-286B-9C43-304E-53D6729833B7}"/>
              </a:ext>
            </a:extLst>
          </p:cNvPr>
          <p:cNvSpPr txBox="1">
            <a:spLocks/>
          </p:cNvSpPr>
          <p:nvPr/>
        </p:nvSpPr>
        <p:spPr>
          <a:xfrm>
            <a:off x="713275" y="789085"/>
            <a:ext cx="377559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LKT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D74F63F7-69F6-8391-7361-CAD5671DDD6F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56A3088A-CB7D-D2E3-4A61-1E1D79EA82C6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03A6ECD6-55DA-0870-1A90-ED2793BD938F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68;p30 1 1 1">
            <a:extLst>
              <a:ext uri="{FF2B5EF4-FFF2-40B4-BE49-F238E27FC236}">
                <a16:creationId xmlns:a16="http://schemas.microsoft.com/office/drawing/2014/main" id="{9FD2A813-B0AD-EE9D-6692-B5996800C3D1}"/>
              </a:ext>
            </a:extLst>
          </p:cNvPr>
          <p:cNvSpPr txBox="1">
            <a:spLocks/>
          </p:cNvSpPr>
          <p:nvPr/>
        </p:nvSpPr>
        <p:spPr>
          <a:xfrm>
            <a:off x="860612" y="1640541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/>
              <a:t>Formulas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A7AC10-8DF9-9BB9-3DE9-2760CE02DF8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155811" y="2204680"/>
            <a:ext cx="2328672" cy="251968"/>
          </a:xfrm>
          <a:prstGeom prst="rect">
            <a:avLst/>
          </a:prstGeom>
        </p:spPr>
      </p:pic>
      <p:sp>
        <p:nvSpPr>
          <p:cNvPr id="15" name="Google Shape;168;p30 1 2">
            <a:extLst>
              <a:ext uri="{FF2B5EF4-FFF2-40B4-BE49-F238E27FC236}">
                <a16:creationId xmlns:a16="http://schemas.microsoft.com/office/drawing/2014/main" id="{72F5584B-8637-B71B-CC35-9D51BD121240}"/>
              </a:ext>
            </a:extLst>
          </p:cNvPr>
          <p:cNvSpPr txBox="1">
            <a:spLocks/>
          </p:cNvSpPr>
          <p:nvPr/>
        </p:nvSpPr>
        <p:spPr>
          <a:xfrm>
            <a:off x="863600" y="2595780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 err="1"/>
              <a:t>Sequents</a:t>
            </a:r>
            <a:endParaRPr lang="en-GB" sz="2000" b="1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A709174-2B82-C65B-1F7D-0A936B329C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155811" y="3198505"/>
            <a:ext cx="858860" cy="23932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9D218FF-C1CB-C49F-F8D2-9C0A3B5C950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155811" y="4140010"/>
            <a:ext cx="899390" cy="21809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68A2538-08A0-371E-89D6-5E1C2B2E4C6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155811" y="3632803"/>
            <a:ext cx="669717" cy="310734"/>
          </a:xfrm>
          <a:prstGeom prst="rect">
            <a:avLst/>
          </a:prstGeom>
        </p:spPr>
      </p:pic>
      <p:sp>
        <p:nvSpPr>
          <p:cNvPr id="36" name="Google Shape;168;p30 1 1 2">
            <a:extLst>
              <a:ext uri="{FF2B5EF4-FFF2-40B4-BE49-F238E27FC236}">
                <a16:creationId xmlns:a16="http://schemas.microsoft.com/office/drawing/2014/main" id="{ED0079C5-909A-0FF9-05F0-B5C09BF7D11B}"/>
              </a:ext>
            </a:extLst>
          </p:cNvPr>
          <p:cNvSpPr txBox="1">
            <a:spLocks/>
          </p:cNvSpPr>
          <p:nvPr/>
        </p:nvSpPr>
        <p:spPr>
          <a:xfrm>
            <a:off x="3776204" y="1639756"/>
            <a:ext cx="2081881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/>
              <a:t>Inference Rules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5928CE2-43F0-A66B-1E1F-8416620DC73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337744" y="2178086"/>
            <a:ext cx="1643760" cy="4676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7A5D0EF-0F76-BC0E-90D9-017896CB614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6627760" y="2126660"/>
            <a:ext cx="1551154" cy="5190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7939117-0A72-0768-2202-20921C660C91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4089484" y="2891462"/>
            <a:ext cx="1937504" cy="51908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66DC11C-1D15-FACA-69D0-AAF0E927F3D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6257550" y="2897568"/>
            <a:ext cx="2401744" cy="45090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4239C89-AF14-67FD-1340-B649190EA396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4335366" y="3603249"/>
            <a:ext cx="1592626" cy="29321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B6E840B-D181-4342-4341-64EB8363467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6829735" y="3611378"/>
            <a:ext cx="1147203" cy="28359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FA76301-B7E2-CA29-DB44-0036707DE8B7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5192061" y="4157878"/>
            <a:ext cx="2130978" cy="46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45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92B644C5-34E0-19A3-EC91-416A6925C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3176D69C-991C-D925-91DB-D25D1A41B6FD}"/>
              </a:ext>
            </a:extLst>
          </p:cNvPr>
          <p:cNvSpPr txBox="1">
            <a:spLocks/>
          </p:cNvSpPr>
          <p:nvPr/>
        </p:nvSpPr>
        <p:spPr>
          <a:xfrm>
            <a:off x="713275" y="789085"/>
            <a:ext cx="4762108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LKT with Proof Terms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5EF9E5B8-01B4-6D4E-6E3D-7587AE527EF4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A8E28D49-29C3-8307-0773-50DF4F363734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6AE74C2C-CCB1-85F4-7BF8-26E675EF35F5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168;p30 1 1 1">
            <a:extLst>
              <a:ext uri="{FF2B5EF4-FFF2-40B4-BE49-F238E27FC236}">
                <a16:creationId xmlns:a16="http://schemas.microsoft.com/office/drawing/2014/main" id="{15ABD4DD-ABC3-BD2D-BC21-9A757FCCF0CD}"/>
              </a:ext>
            </a:extLst>
          </p:cNvPr>
          <p:cNvSpPr txBox="1">
            <a:spLocks/>
          </p:cNvSpPr>
          <p:nvPr/>
        </p:nvSpPr>
        <p:spPr>
          <a:xfrm>
            <a:off x="713275" y="1639756"/>
            <a:ext cx="3193595" cy="423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Proof Terms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C0A0B24-ED2D-4248-E5B3-0F80E63D178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909625" y="2191965"/>
            <a:ext cx="2225040" cy="28041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25342EF-3F6E-7B2D-CCBC-FCFB4F7D3BC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183947" y="2859992"/>
            <a:ext cx="2038096" cy="25196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AD471E6-85F7-69AC-D576-2974078245D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155811" y="2516768"/>
            <a:ext cx="2385568" cy="280416"/>
          </a:xfrm>
          <a:prstGeom prst="rect">
            <a:avLst/>
          </a:prstGeom>
        </p:spPr>
      </p:pic>
      <p:sp>
        <p:nvSpPr>
          <p:cNvPr id="33" name="Google Shape;168;p30 1 2">
            <a:extLst>
              <a:ext uri="{FF2B5EF4-FFF2-40B4-BE49-F238E27FC236}">
                <a16:creationId xmlns:a16="http://schemas.microsoft.com/office/drawing/2014/main" id="{AE291146-EF87-CD84-8D65-E525F16A963E}"/>
              </a:ext>
            </a:extLst>
          </p:cNvPr>
          <p:cNvSpPr txBox="1">
            <a:spLocks/>
          </p:cNvSpPr>
          <p:nvPr/>
        </p:nvSpPr>
        <p:spPr>
          <a:xfrm>
            <a:off x="713275" y="3197777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 err="1"/>
              <a:t>Sequents</a:t>
            </a:r>
            <a:endParaRPr lang="en-GB" sz="2000" b="1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AE5308A-0FCD-25E1-1E0B-5527499FDA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962233" y="3752464"/>
            <a:ext cx="1146434" cy="23932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FCCAE6C-3DEF-ED4D-90DB-644540D1F76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962233" y="4474395"/>
            <a:ext cx="1175383" cy="21809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F8822ED-9206-C87D-71AA-B42F9484F1E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962233" y="4034463"/>
            <a:ext cx="660067" cy="310734"/>
          </a:xfrm>
          <a:prstGeom prst="rect">
            <a:avLst/>
          </a:prstGeom>
        </p:spPr>
      </p:pic>
      <p:sp>
        <p:nvSpPr>
          <p:cNvPr id="49" name="Google Shape;168;p30 1 1 2">
            <a:extLst>
              <a:ext uri="{FF2B5EF4-FFF2-40B4-BE49-F238E27FC236}">
                <a16:creationId xmlns:a16="http://schemas.microsoft.com/office/drawing/2014/main" id="{E95B13FF-8D9A-2EEE-B56B-97AD193EC01C}"/>
              </a:ext>
            </a:extLst>
          </p:cNvPr>
          <p:cNvSpPr txBox="1">
            <a:spLocks/>
          </p:cNvSpPr>
          <p:nvPr/>
        </p:nvSpPr>
        <p:spPr>
          <a:xfrm>
            <a:off x="4007561" y="1639756"/>
            <a:ext cx="2081881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/>
              <a:t>Inference Rules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549C073D-912E-80A5-D49B-F6788BFA835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4227574" y="2178087"/>
            <a:ext cx="2174702" cy="486183"/>
          </a:xfrm>
          <a:prstGeom prst="rect">
            <a:avLst/>
          </a:prstGeom>
        </p:spPr>
      </p:pic>
      <p:pic>
        <p:nvPicPr>
          <p:cNvPr id="193" name="Picture 192">
            <a:extLst>
              <a:ext uri="{FF2B5EF4-FFF2-40B4-BE49-F238E27FC236}">
                <a16:creationId xmlns:a16="http://schemas.microsoft.com/office/drawing/2014/main" id="{20E7B4C7-B233-3311-80FC-2D9C6551CFAC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6732459" y="2122523"/>
            <a:ext cx="1867558" cy="541747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0162ACA7-80E2-CD9A-4B43-BF824FC6D74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4139766" y="2873124"/>
            <a:ext cx="1939824" cy="509364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6D486EE5-4B15-C3D0-FA08-466A5A76728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6375238" y="2882390"/>
            <a:ext cx="2467440" cy="486183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9CE4ADB2-7AE2-A978-B6E8-42E64B639A7B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4491455" y="3591342"/>
            <a:ext cx="1646940" cy="258927"/>
          </a:xfrm>
          <a:prstGeom prst="rect">
            <a:avLst/>
          </a:prstGeom>
        </p:spPr>
      </p:pic>
      <p:pic>
        <p:nvPicPr>
          <p:cNvPr id="212" name="Picture 211">
            <a:extLst>
              <a:ext uri="{FF2B5EF4-FFF2-40B4-BE49-F238E27FC236}">
                <a16:creationId xmlns:a16="http://schemas.microsoft.com/office/drawing/2014/main" id="{137E73AF-2D14-69C2-21D4-88714EB8B73E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6732459" y="3597710"/>
            <a:ext cx="1546482" cy="250438"/>
          </a:xfrm>
          <a:prstGeom prst="rect">
            <a:avLst/>
          </a:prstGeom>
        </p:spPr>
      </p:pic>
      <p:pic>
        <p:nvPicPr>
          <p:cNvPr id="215" name="Picture 214">
            <a:extLst>
              <a:ext uri="{FF2B5EF4-FFF2-40B4-BE49-F238E27FC236}">
                <a16:creationId xmlns:a16="http://schemas.microsoft.com/office/drawing/2014/main" id="{7A2FEBB0-5C7B-7B7C-B902-55019FC035D4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5235694" y="4066921"/>
            <a:ext cx="2333164" cy="410322"/>
          </a:xfrm>
          <a:prstGeom prst="rect">
            <a:avLst/>
          </a:prstGeom>
        </p:spPr>
      </p:pic>
      <p:sp>
        <p:nvSpPr>
          <p:cNvPr id="216" name="Rounded Rectangle 215">
            <a:extLst>
              <a:ext uri="{FF2B5EF4-FFF2-40B4-BE49-F238E27FC236}">
                <a16:creationId xmlns:a16="http://schemas.microsoft.com/office/drawing/2014/main" id="{5C0F3616-4350-1D56-C19C-721E16015CD2}"/>
              </a:ext>
            </a:extLst>
          </p:cNvPr>
          <p:cNvSpPr/>
          <p:nvPr/>
        </p:nvSpPr>
        <p:spPr>
          <a:xfrm>
            <a:off x="1158627" y="3186036"/>
            <a:ext cx="184628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Add Proof Terms</a:t>
            </a:r>
          </a:p>
          <a:p>
            <a:pPr algn="ctr"/>
            <a:r>
              <a:rPr lang="en-GB" dirty="0">
                <a:solidFill>
                  <a:schemeClr val="bg2"/>
                </a:solidFill>
              </a:rPr>
              <a:t> to LKT</a:t>
            </a:r>
          </a:p>
        </p:txBody>
      </p:sp>
    </p:spTree>
    <p:extLst>
      <p:ext uri="{BB962C8B-B14F-4D97-AF65-F5344CB8AC3E}">
        <p14:creationId xmlns:p14="http://schemas.microsoft.com/office/powerpoint/2010/main" val="190226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  <p:bldP spid="2" grpId="0"/>
      <p:bldP spid="33" grpId="0"/>
      <p:bldP spid="49" grpId="0"/>
      <p:bldP spid="216" grpId="0" animBg="1"/>
      <p:bldP spid="216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0366AF3C-C84E-8294-7E42-2D7ECE025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A988A4EA-975E-6BB2-5D7D-CE2EA960444B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Proof Search - Focusing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4F2F42AB-AD08-1D49-5000-F49E64EDE789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B477E532-73FB-5C88-49C8-C8AA3E0CB1FE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A0D644F5-22A0-9D8D-A068-64F36D18DEC0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6251FCF-72F1-47F3-839E-7C935F2D5C70}"/>
              </a:ext>
            </a:extLst>
          </p:cNvPr>
          <p:cNvSpPr/>
          <p:nvPr/>
        </p:nvSpPr>
        <p:spPr>
          <a:xfrm>
            <a:off x="3811415" y="3186036"/>
            <a:ext cx="184628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Focusing </a:t>
            </a:r>
          </a:p>
          <a:p>
            <a:pPr algn="ctr"/>
            <a:r>
              <a:rPr lang="en-GB" i="1" dirty="0">
                <a:solidFill>
                  <a:schemeClr val="bg2"/>
                </a:solidFill>
              </a:rPr>
              <a:t>(with words)</a:t>
            </a:r>
          </a:p>
        </p:txBody>
      </p:sp>
    </p:spTree>
    <p:extLst>
      <p:ext uri="{BB962C8B-B14F-4D97-AF65-F5344CB8AC3E}">
        <p14:creationId xmlns:p14="http://schemas.microsoft.com/office/powerpoint/2010/main" val="351535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  <p:bldP spid="3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92A8F39B-0664-84CD-5849-06F679E62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6E3CA73F-8D81-9FED-8310-4BE64D37144C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Proof Search - Focusing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EE0E38C9-6CB1-C7AD-0FC9-76A62DF66D98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9C124BE7-D707-F529-6A81-B4921D8F7201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7C3AC1F1-23A5-5E25-2DB4-B80E1855832C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68;p30 1 1 1">
                <a:extLst>
                  <a:ext uri="{FF2B5EF4-FFF2-40B4-BE49-F238E27FC236}">
                    <a16:creationId xmlns:a16="http://schemas.microsoft.com/office/drawing/2014/main" id="{E699547B-0EE3-2094-DA0E-6C728E76F5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00894" y="4160469"/>
                <a:ext cx="2331469" cy="467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0" indent="0">
                  <a:buFont typeface="Roboto"/>
                  <a:buNone/>
                </a:pPr>
                <a:r>
                  <a:rPr lang="en-GB" sz="1800" b="1" dirty="0"/>
                  <a:t>Invert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PT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pt-P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⊃</m:t>
                    </m:r>
                  </m:oMath>
                </a14:m>
                <a:endParaRPr lang="pt-PT" sz="1800" dirty="0"/>
              </a:p>
              <a:p>
                <a:pPr marL="0" indent="0" algn="ctr">
                  <a:buFont typeface="Roboto"/>
                  <a:buNone/>
                </a:pPr>
                <a:r>
                  <a:rPr lang="en-GB" sz="1800" b="1" dirty="0"/>
                  <a:t> </a:t>
                </a:r>
              </a:p>
            </p:txBody>
          </p:sp>
        </mc:Choice>
        <mc:Fallback xmlns="">
          <p:sp>
            <p:nvSpPr>
              <p:cNvPr id="4" name="Google Shape;168;p30 1 1 1">
                <a:extLst>
                  <a:ext uri="{FF2B5EF4-FFF2-40B4-BE49-F238E27FC236}">
                    <a16:creationId xmlns:a16="http://schemas.microsoft.com/office/drawing/2014/main" id="{E699547B-0EE3-2094-DA0E-6C728E76F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894" y="4160469"/>
                <a:ext cx="2331469" cy="467662"/>
              </a:xfrm>
              <a:prstGeom prst="rect">
                <a:avLst/>
              </a:prstGeom>
              <a:blipFill>
                <a:blip r:embed="rId9"/>
                <a:stretch>
                  <a:fillRect l="-2717" b="-78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9D30B9B-9028-9152-CA81-E1B578ED4E3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668179" y="4226458"/>
            <a:ext cx="1643760" cy="467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3E784E-018F-A7A1-B4E3-C8D93A32488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714482" y="3551716"/>
            <a:ext cx="1551154" cy="519088"/>
          </a:xfrm>
          <a:prstGeom prst="rect">
            <a:avLst/>
          </a:prstGeom>
        </p:spPr>
      </p:pic>
      <p:sp>
        <p:nvSpPr>
          <p:cNvPr id="7" name="Google Shape;168;p30 1 1 1">
            <a:extLst>
              <a:ext uri="{FF2B5EF4-FFF2-40B4-BE49-F238E27FC236}">
                <a16:creationId xmlns:a16="http://schemas.microsoft.com/office/drawing/2014/main" id="{DF3EF042-99FA-A3B0-220A-08B6E914F5FD}"/>
              </a:ext>
            </a:extLst>
          </p:cNvPr>
          <p:cNvSpPr txBox="1">
            <a:spLocks/>
          </p:cNvSpPr>
          <p:nvPr/>
        </p:nvSpPr>
        <p:spPr>
          <a:xfrm>
            <a:off x="4800896" y="3627132"/>
            <a:ext cx="2331469" cy="5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800" b="1" dirty="0"/>
              <a:t>Finish </a:t>
            </a:r>
            <a:r>
              <a:rPr lang="en-GB" sz="1800" dirty="0"/>
              <a:t>inversion</a:t>
            </a:r>
            <a:endParaRPr lang="pt-PT" sz="1800" dirty="0"/>
          </a:p>
          <a:p>
            <a:pPr marL="0" indent="0" algn="ctr">
              <a:buFont typeface="Roboto"/>
              <a:buNone/>
            </a:pPr>
            <a:r>
              <a:rPr lang="en-GB" sz="1800" b="1" dirty="0"/>
              <a:t>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677612-2250-9224-57E3-46883E3C7E50}"/>
              </a:ext>
            </a:extLst>
          </p:cNvPr>
          <p:cNvSpPr/>
          <p:nvPr/>
        </p:nvSpPr>
        <p:spPr>
          <a:xfrm>
            <a:off x="4572000" y="3551716"/>
            <a:ext cx="2560365" cy="1142404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9" name="Google Shape;168;p30 1">
            <a:extLst>
              <a:ext uri="{FF2B5EF4-FFF2-40B4-BE49-F238E27FC236}">
                <a16:creationId xmlns:a16="http://schemas.microsoft.com/office/drawing/2014/main" id="{FEBF48E0-A518-2ED4-32BF-F027D2F9949E}"/>
              </a:ext>
            </a:extLst>
          </p:cNvPr>
          <p:cNvSpPr txBox="1">
            <a:spLocks/>
          </p:cNvSpPr>
          <p:nvPr/>
        </p:nvSpPr>
        <p:spPr>
          <a:xfrm>
            <a:off x="7136089" y="3867474"/>
            <a:ext cx="1795741" cy="73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400" b="1" dirty="0"/>
              <a:t>RHS</a:t>
            </a:r>
          </a:p>
          <a:p>
            <a:pPr marL="0" indent="0">
              <a:buFont typeface="Roboto"/>
              <a:buNone/>
            </a:pPr>
            <a:r>
              <a:rPr lang="en-GB" sz="1400" b="1" dirty="0"/>
              <a:t>Inversion Phase</a:t>
            </a:r>
          </a:p>
        </p:txBody>
      </p:sp>
    </p:spTree>
    <p:extLst>
      <p:ext uri="{BB962C8B-B14F-4D97-AF65-F5344CB8AC3E}">
        <p14:creationId xmlns:p14="http://schemas.microsoft.com/office/powerpoint/2010/main" val="355567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1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BEAA0520-D23F-9296-0327-63188F96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2A20E2CB-1BA7-0F6D-6909-B9288D1837B9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Proof Search - Focusing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0E727F10-197C-DC25-6EC6-3C6AA9366334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3DC46C15-8B85-C7A5-4A14-B6EF8454C5DB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4A34D9EA-4861-8EB8-2697-8AEC738E4979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68;p30 1 1 1">
                <a:extLst>
                  <a:ext uri="{FF2B5EF4-FFF2-40B4-BE49-F238E27FC236}">
                    <a16:creationId xmlns:a16="http://schemas.microsoft.com/office/drawing/2014/main" id="{8E431B85-1D00-619F-883C-A4FDEEFA8D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00894" y="4160469"/>
                <a:ext cx="2331469" cy="467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0" indent="0">
                  <a:buFont typeface="Roboto"/>
                  <a:buNone/>
                </a:pPr>
                <a:r>
                  <a:rPr lang="en-GB" sz="1800" b="1" dirty="0"/>
                  <a:t>Invert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PT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pt-P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⊃</m:t>
                    </m:r>
                  </m:oMath>
                </a14:m>
                <a:endParaRPr lang="pt-PT" sz="1800" dirty="0"/>
              </a:p>
              <a:p>
                <a:pPr marL="0" indent="0" algn="ctr">
                  <a:buFont typeface="Roboto"/>
                  <a:buNone/>
                </a:pPr>
                <a:r>
                  <a:rPr lang="en-GB" sz="1800" b="1" dirty="0"/>
                  <a:t> </a:t>
                </a:r>
              </a:p>
            </p:txBody>
          </p:sp>
        </mc:Choice>
        <mc:Fallback xmlns="">
          <p:sp>
            <p:nvSpPr>
              <p:cNvPr id="4" name="Google Shape;168;p30 1 1 1">
                <a:extLst>
                  <a:ext uri="{FF2B5EF4-FFF2-40B4-BE49-F238E27FC236}">
                    <a16:creationId xmlns:a16="http://schemas.microsoft.com/office/drawing/2014/main" id="{8E431B85-1D00-619F-883C-A4FDEEFA8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894" y="4160469"/>
                <a:ext cx="2331469" cy="467662"/>
              </a:xfrm>
              <a:prstGeom prst="rect">
                <a:avLst/>
              </a:prstGeom>
              <a:blipFill>
                <a:blip r:embed="rId9"/>
                <a:stretch>
                  <a:fillRect l="-2717" b="-78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9652AB0-BAF1-D94F-5AE1-C98EEE7AEFD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668179" y="4226458"/>
            <a:ext cx="1643760" cy="467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E02A4D-C528-CB67-2D83-305F5904EC1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714482" y="3551716"/>
            <a:ext cx="1551154" cy="519088"/>
          </a:xfrm>
          <a:prstGeom prst="rect">
            <a:avLst/>
          </a:prstGeom>
        </p:spPr>
      </p:pic>
      <p:sp>
        <p:nvSpPr>
          <p:cNvPr id="7" name="Google Shape;168;p30 1 1 1">
            <a:extLst>
              <a:ext uri="{FF2B5EF4-FFF2-40B4-BE49-F238E27FC236}">
                <a16:creationId xmlns:a16="http://schemas.microsoft.com/office/drawing/2014/main" id="{D29AEFFD-6CD4-0F29-BAA2-BC621EF42829}"/>
              </a:ext>
            </a:extLst>
          </p:cNvPr>
          <p:cNvSpPr txBox="1">
            <a:spLocks/>
          </p:cNvSpPr>
          <p:nvPr/>
        </p:nvSpPr>
        <p:spPr>
          <a:xfrm>
            <a:off x="4800896" y="3627132"/>
            <a:ext cx="2331469" cy="5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800" b="1" dirty="0"/>
              <a:t>Finish </a:t>
            </a:r>
            <a:r>
              <a:rPr lang="en-GB" sz="1800" dirty="0"/>
              <a:t>inversion</a:t>
            </a:r>
            <a:endParaRPr lang="pt-PT" sz="1800" dirty="0"/>
          </a:p>
          <a:p>
            <a:pPr marL="0" indent="0" algn="ctr">
              <a:buFont typeface="Roboto"/>
              <a:buNone/>
            </a:pPr>
            <a:r>
              <a:rPr lang="en-GB" sz="1800" b="1" dirty="0"/>
              <a:t>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9A879C7-B178-0EAB-4D77-F28DDCD0B128}"/>
              </a:ext>
            </a:extLst>
          </p:cNvPr>
          <p:cNvSpPr/>
          <p:nvPr/>
        </p:nvSpPr>
        <p:spPr>
          <a:xfrm>
            <a:off x="4572000" y="3551716"/>
            <a:ext cx="2560365" cy="1142404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B99B80-9976-EB59-0930-462F4F32C77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521307" y="2867547"/>
            <a:ext cx="1937504" cy="519088"/>
          </a:xfrm>
          <a:prstGeom prst="rect">
            <a:avLst/>
          </a:prstGeom>
        </p:spPr>
      </p:pic>
      <p:sp>
        <p:nvSpPr>
          <p:cNvPr id="12" name="Google Shape;168;p30 1 1 1">
            <a:extLst>
              <a:ext uri="{FF2B5EF4-FFF2-40B4-BE49-F238E27FC236}">
                <a16:creationId xmlns:a16="http://schemas.microsoft.com/office/drawing/2014/main" id="{08C0F0A6-7F9B-E4B3-8A9E-49642CE56DE7}"/>
              </a:ext>
            </a:extLst>
          </p:cNvPr>
          <p:cNvSpPr txBox="1">
            <a:spLocks/>
          </p:cNvSpPr>
          <p:nvPr/>
        </p:nvSpPr>
        <p:spPr>
          <a:xfrm>
            <a:off x="4800896" y="2842722"/>
            <a:ext cx="2331468" cy="5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800" b="1" dirty="0"/>
              <a:t>Focus </a:t>
            </a:r>
            <a:r>
              <a:rPr lang="en-GB" sz="1800" dirty="0"/>
              <a:t>on the LHS</a:t>
            </a:r>
            <a:endParaRPr lang="pt-PT" sz="1800" dirty="0"/>
          </a:p>
          <a:p>
            <a:pPr marL="0" indent="0" algn="ctr">
              <a:buFont typeface="Roboto"/>
              <a:buNone/>
            </a:pPr>
            <a:r>
              <a:rPr lang="en-GB" sz="1800" b="1" dirty="0"/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D3D974-7711-ADD1-ED6F-5DC597D3B51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323477" y="2293776"/>
            <a:ext cx="2333164" cy="410322"/>
          </a:xfrm>
          <a:prstGeom prst="rect">
            <a:avLst/>
          </a:prstGeom>
        </p:spPr>
      </p:pic>
      <p:sp>
        <p:nvSpPr>
          <p:cNvPr id="15" name="Google Shape;168;p30 1 1 1">
            <a:extLst>
              <a:ext uri="{FF2B5EF4-FFF2-40B4-BE49-F238E27FC236}">
                <a16:creationId xmlns:a16="http://schemas.microsoft.com/office/drawing/2014/main" id="{BE30B180-F5ED-76A8-7C50-8174375D8F6A}"/>
              </a:ext>
            </a:extLst>
          </p:cNvPr>
          <p:cNvSpPr txBox="1">
            <a:spLocks/>
          </p:cNvSpPr>
          <p:nvPr/>
        </p:nvSpPr>
        <p:spPr>
          <a:xfrm>
            <a:off x="4800896" y="2300678"/>
            <a:ext cx="2327741" cy="5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800" b="1" dirty="0"/>
              <a:t>Keep </a:t>
            </a:r>
            <a:r>
              <a:rPr lang="en-GB" sz="1800" dirty="0"/>
              <a:t>the focus</a:t>
            </a:r>
            <a:endParaRPr lang="pt-PT" sz="1800" dirty="0"/>
          </a:p>
          <a:p>
            <a:pPr marL="0" indent="0" algn="ctr">
              <a:buFont typeface="Roboto"/>
              <a:buNone/>
            </a:pPr>
            <a:r>
              <a:rPr lang="en-GB" sz="1800" b="1" dirty="0"/>
              <a:t> 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B9F6D61-CEBE-745C-0C71-95BBF8816F5E}"/>
              </a:ext>
            </a:extLst>
          </p:cNvPr>
          <p:cNvSpPr/>
          <p:nvPr/>
        </p:nvSpPr>
        <p:spPr>
          <a:xfrm>
            <a:off x="4571999" y="1756263"/>
            <a:ext cx="2560365" cy="1630372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8" name="Google Shape;168;p30 1">
            <a:extLst>
              <a:ext uri="{FF2B5EF4-FFF2-40B4-BE49-F238E27FC236}">
                <a16:creationId xmlns:a16="http://schemas.microsoft.com/office/drawing/2014/main" id="{26C9D465-D7F0-433B-57BD-36C2836DD35C}"/>
              </a:ext>
            </a:extLst>
          </p:cNvPr>
          <p:cNvSpPr txBox="1">
            <a:spLocks/>
          </p:cNvSpPr>
          <p:nvPr/>
        </p:nvSpPr>
        <p:spPr>
          <a:xfrm>
            <a:off x="7128638" y="2207582"/>
            <a:ext cx="1795741" cy="73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400" b="1" dirty="0"/>
              <a:t>LHS</a:t>
            </a:r>
          </a:p>
          <a:p>
            <a:pPr marL="0" indent="0">
              <a:buFont typeface="Roboto"/>
              <a:buNone/>
            </a:pPr>
            <a:r>
              <a:rPr lang="en-GB" sz="1400" b="1" dirty="0"/>
              <a:t>Focusing Phase</a:t>
            </a:r>
          </a:p>
        </p:txBody>
      </p:sp>
      <p:sp>
        <p:nvSpPr>
          <p:cNvPr id="19" name="Google Shape;168;p30 1">
            <a:extLst>
              <a:ext uri="{FF2B5EF4-FFF2-40B4-BE49-F238E27FC236}">
                <a16:creationId xmlns:a16="http://schemas.microsoft.com/office/drawing/2014/main" id="{D6C835DA-F030-1159-F1E8-D43136CD3C83}"/>
              </a:ext>
            </a:extLst>
          </p:cNvPr>
          <p:cNvSpPr txBox="1">
            <a:spLocks/>
          </p:cNvSpPr>
          <p:nvPr/>
        </p:nvSpPr>
        <p:spPr>
          <a:xfrm>
            <a:off x="7136089" y="3867474"/>
            <a:ext cx="1795741" cy="73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400" b="1" dirty="0"/>
              <a:t>RHS</a:t>
            </a:r>
          </a:p>
          <a:p>
            <a:pPr marL="0" indent="0">
              <a:buFont typeface="Roboto"/>
              <a:buNone/>
            </a:pPr>
            <a:r>
              <a:rPr lang="en-GB" sz="1400" b="1" dirty="0"/>
              <a:t>Inversion Phase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026A682-7F8A-D136-390A-8ACDA73FF18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947282" y="1800587"/>
            <a:ext cx="1592626" cy="2932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C617AB2-CEC0-544B-B905-A83BA368E7B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738337" y="1819627"/>
            <a:ext cx="1147203" cy="283598"/>
          </a:xfrm>
          <a:prstGeom prst="rect">
            <a:avLst/>
          </a:prstGeom>
        </p:spPr>
      </p:pic>
      <p:sp>
        <p:nvSpPr>
          <p:cNvPr id="23" name="Google Shape;168;p30 1 1 1">
            <a:extLst>
              <a:ext uri="{FF2B5EF4-FFF2-40B4-BE49-F238E27FC236}">
                <a16:creationId xmlns:a16="http://schemas.microsoft.com/office/drawing/2014/main" id="{56F51ED7-2F45-CEC2-FCD1-06CA07040477}"/>
              </a:ext>
            </a:extLst>
          </p:cNvPr>
          <p:cNvSpPr txBox="1">
            <a:spLocks/>
          </p:cNvSpPr>
          <p:nvPr/>
        </p:nvSpPr>
        <p:spPr>
          <a:xfrm>
            <a:off x="4800898" y="1758635"/>
            <a:ext cx="2327740" cy="5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800" b="1" dirty="0"/>
              <a:t>Finish </a:t>
            </a:r>
            <a:r>
              <a:rPr lang="en-GB" sz="1800" dirty="0"/>
              <a:t>the focus</a:t>
            </a:r>
            <a:endParaRPr lang="pt-PT" sz="1800" dirty="0"/>
          </a:p>
          <a:p>
            <a:pPr marL="0" indent="0">
              <a:buFont typeface="Roboto"/>
              <a:buNone/>
            </a:pPr>
            <a:r>
              <a:rPr lang="en-GB" sz="1800" b="1" dirty="0"/>
              <a:t> </a:t>
            </a:r>
          </a:p>
        </p:txBody>
      </p:sp>
      <p:sp>
        <p:nvSpPr>
          <p:cNvPr id="2" name="Up Arrow 1">
            <a:extLst>
              <a:ext uri="{FF2B5EF4-FFF2-40B4-BE49-F238E27FC236}">
                <a16:creationId xmlns:a16="http://schemas.microsoft.com/office/drawing/2014/main" id="{876A5234-F932-E8A1-0687-9BBE07D154DE}"/>
              </a:ext>
            </a:extLst>
          </p:cNvPr>
          <p:cNvSpPr/>
          <p:nvPr/>
        </p:nvSpPr>
        <p:spPr>
          <a:xfrm>
            <a:off x="7592481" y="3019667"/>
            <a:ext cx="415637" cy="575174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87048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7" grpId="0" animBg="1"/>
      <p:bldP spid="18" grpId="0"/>
      <p:bldP spid="23" grpId="0"/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D67F0D4E-283C-7849-8AB8-A2507F6C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9A0F8A2A-896F-91C3-4DF5-932991CC6169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Proof Search - Focusing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7FC8644B-626D-3211-E3C2-C2735BEC877A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9A8FBE95-11E5-6C3A-DA01-E398BB928936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C23CD8E5-2F14-53D1-A0AD-E6DFCC9ACFCE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68;p30 1 1 1">
                <a:extLst>
                  <a:ext uri="{FF2B5EF4-FFF2-40B4-BE49-F238E27FC236}">
                    <a16:creationId xmlns:a16="http://schemas.microsoft.com/office/drawing/2014/main" id="{1279D6AF-50AD-B7A0-CFAA-E35DEC23CC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00894" y="4160469"/>
                <a:ext cx="2331469" cy="467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0" indent="0">
                  <a:buFont typeface="Roboto"/>
                  <a:buNone/>
                </a:pPr>
                <a:r>
                  <a:rPr lang="en-GB" sz="1800" b="1" dirty="0"/>
                  <a:t>Invert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PT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pt-P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⊃</m:t>
                    </m:r>
                  </m:oMath>
                </a14:m>
                <a:endParaRPr lang="pt-PT" sz="1800" dirty="0"/>
              </a:p>
              <a:p>
                <a:pPr marL="0" indent="0" algn="ctr">
                  <a:buFont typeface="Roboto"/>
                  <a:buNone/>
                </a:pPr>
                <a:r>
                  <a:rPr lang="en-GB" sz="1800" b="1" dirty="0"/>
                  <a:t> </a:t>
                </a:r>
              </a:p>
            </p:txBody>
          </p:sp>
        </mc:Choice>
        <mc:Fallback xmlns="">
          <p:sp>
            <p:nvSpPr>
              <p:cNvPr id="4" name="Google Shape;168;p30 1 1 1">
                <a:extLst>
                  <a:ext uri="{FF2B5EF4-FFF2-40B4-BE49-F238E27FC236}">
                    <a16:creationId xmlns:a16="http://schemas.microsoft.com/office/drawing/2014/main" id="{1279D6AF-50AD-B7A0-CFAA-E35DEC23C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894" y="4160469"/>
                <a:ext cx="2331469" cy="467662"/>
              </a:xfrm>
              <a:prstGeom prst="rect">
                <a:avLst/>
              </a:prstGeom>
              <a:blipFill>
                <a:blip r:embed="rId6"/>
                <a:stretch>
                  <a:fillRect l="-2717" b="-78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D9F5705-FBAF-22FF-E7F9-88BBB94AF11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668179" y="4226458"/>
            <a:ext cx="1643760" cy="467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C59286-0891-3BD9-C54C-EB35F86453D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714482" y="3551716"/>
            <a:ext cx="1551154" cy="519088"/>
          </a:xfrm>
          <a:prstGeom prst="rect">
            <a:avLst/>
          </a:prstGeom>
        </p:spPr>
      </p:pic>
      <p:sp>
        <p:nvSpPr>
          <p:cNvPr id="7" name="Google Shape;168;p30 1 1 1">
            <a:extLst>
              <a:ext uri="{FF2B5EF4-FFF2-40B4-BE49-F238E27FC236}">
                <a16:creationId xmlns:a16="http://schemas.microsoft.com/office/drawing/2014/main" id="{C1FEA7E1-9206-2690-C012-AC8D58750674}"/>
              </a:ext>
            </a:extLst>
          </p:cNvPr>
          <p:cNvSpPr txBox="1">
            <a:spLocks/>
          </p:cNvSpPr>
          <p:nvPr/>
        </p:nvSpPr>
        <p:spPr>
          <a:xfrm>
            <a:off x="4800896" y="3627132"/>
            <a:ext cx="2331469" cy="5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800" b="1" dirty="0"/>
              <a:t>Finish </a:t>
            </a:r>
            <a:r>
              <a:rPr lang="en-GB" sz="1800" dirty="0"/>
              <a:t>inversion</a:t>
            </a:r>
            <a:endParaRPr lang="pt-PT" sz="1800" dirty="0"/>
          </a:p>
          <a:p>
            <a:pPr marL="0" indent="0" algn="ctr">
              <a:buFont typeface="Roboto"/>
              <a:buNone/>
            </a:pPr>
            <a:r>
              <a:rPr lang="en-GB" sz="1800" b="1" dirty="0"/>
              <a:t>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235C886-089D-71E3-65E7-B90255452AC0}"/>
              </a:ext>
            </a:extLst>
          </p:cNvPr>
          <p:cNvSpPr/>
          <p:nvPr/>
        </p:nvSpPr>
        <p:spPr>
          <a:xfrm>
            <a:off x="4572000" y="3551716"/>
            <a:ext cx="2560365" cy="1142404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9" name="Google Shape;168;p30 1">
            <a:extLst>
              <a:ext uri="{FF2B5EF4-FFF2-40B4-BE49-F238E27FC236}">
                <a16:creationId xmlns:a16="http://schemas.microsoft.com/office/drawing/2014/main" id="{6F343D50-90A0-D8E4-B216-86D02507D7FE}"/>
              </a:ext>
            </a:extLst>
          </p:cNvPr>
          <p:cNvSpPr txBox="1">
            <a:spLocks/>
          </p:cNvSpPr>
          <p:nvPr/>
        </p:nvSpPr>
        <p:spPr>
          <a:xfrm>
            <a:off x="7136089" y="3867474"/>
            <a:ext cx="1795741" cy="73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400" b="1" dirty="0"/>
              <a:t>RHS</a:t>
            </a:r>
          </a:p>
          <a:p>
            <a:pPr marL="0" indent="0">
              <a:buFont typeface="Roboto"/>
              <a:buNone/>
            </a:pPr>
            <a:r>
              <a:rPr lang="en-GB" sz="1400" b="1" dirty="0"/>
              <a:t>Inversion Phase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26069B-26BD-9E21-83E5-1F44736383A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107608" y="2875748"/>
            <a:ext cx="2764902" cy="519088"/>
          </a:xfrm>
          <a:prstGeom prst="rect">
            <a:avLst/>
          </a:prstGeom>
        </p:spPr>
      </p:pic>
      <p:sp>
        <p:nvSpPr>
          <p:cNvPr id="3" name="Google Shape;168;p30 1 1 1">
            <a:extLst>
              <a:ext uri="{FF2B5EF4-FFF2-40B4-BE49-F238E27FC236}">
                <a16:creationId xmlns:a16="http://schemas.microsoft.com/office/drawing/2014/main" id="{18069EA5-ECB1-CF8A-D71A-550B315992EE}"/>
              </a:ext>
            </a:extLst>
          </p:cNvPr>
          <p:cNvSpPr txBox="1">
            <a:spLocks/>
          </p:cNvSpPr>
          <p:nvPr/>
        </p:nvSpPr>
        <p:spPr>
          <a:xfrm>
            <a:off x="4800894" y="2875748"/>
            <a:ext cx="2275445" cy="5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800" b="1" dirty="0"/>
              <a:t>Resume </a:t>
            </a:r>
            <a:r>
              <a:rPr lang="en-GB" sz="1800" dirty="0"/>
              <a:t>inversion</a:t>
            </a:r>
            <a:endParaRPr lang="pt-PT" sz="1800" dirty="0"/>
          </a:p>
          <a:p>
            <a:pPr marL="0" indent="0" algn="ctr">
              <a:buFont typeface="Roboto"/>
              <a:buNone/>
            </a:pPr>
            <a:r>
              <a:rPr lang="en-GB" sz="1800" b="1" dirty="0"/>
              <a:t> 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BAE727A-C158-51AD-00E3-41501189FA42}"/>
              </a:ext>
            </a:extLst>
          </p:cNvPr>
          <p:cNvSpPr/>
          <p:nvPr/>
        </p:nvSpPr>
        <p:spPr>
          <a:xfrm>
            <a:off x="4568276" y="2778826"/>
            <a:ext cx="2560365" cy="706901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026753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 animBg="1"/>
      <p:bldP spid="11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5AFE2836-3351-0368-831E-EA7C166AA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CABE660C-6F35-F7D2-152D-A69E0C9484A0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3C94D640-AC44-0451-C042-1202DADB6E93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9011374C-B95D-E6F7-62A2-E25D50B0C389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05485FB-F3D1-6730-712A-34D4E6C5003A}"/>
                  </a:ext>
                </a:extLst>
              </p:cNvPr>
              <p:cNvSpPr/>
              <p:nvPr/>
            </p:nvSpPr>
            <p:spPr>
              <a:xfrm>
                <a:off x="6480968" y="2565854"/>
                <a:ext cx="1846283" cy="914400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90000" rtlCol="0" anchor="ctr"/>
              <a:lstStyle/>
              <a:p>
                <a:pPr algn="ctr"/>
                <a:r>
                  <a:rPr lang="en-GB" dirty="0">
                    <a:solidFill>
                      <a:schemeClr val="bg2"/>
                    </a:solidFill>
                  </a:rPr>
                  <a:t>Define a </a:t>
                </a:r>
                <a:r>
                  <a:rPr lang="en-GB" b="1" dirty="0">
                    <a:solidFill>
                      <a:schemeClr val="bg2"/>
                    </a:solidFill>
                  </a:rPr>
                  <a:t>Partial</a:t>
                </a:r>
                <a:r>
                  <a:rPr lang="en-GB" dirty="0">
                    <a:solidFill>
                      <a:schemeClr val="bg2"/>
                    </a:solidFill>
                  </a:rPr>
                  <a:t> Sequent Calculus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GB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𝐾𝑇</m:t>
                        </m:r>
                      </m:e>
                      <m:sub>
                        <m:r>
                          <a:rPr lang="pt-PT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sub>
                    </m:sSub>
                  </m:oMath>
                </a14:m>
                <a:endParaRPr lang="pt-PT" b="0" i="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05485FB-F3D1-6730-712A-34D4E6C500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968" y="2565854"/>
                <a:ext cx="1846283" cy="9144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168;p30 1 1 1">
            <a:extLst>
              <a:ext uri="{FF2B5EF4-FFF2-40B4-BE49-F238E27FC236}">
                <a16:creationId xmlns:a16="http://schemas.microsoft.com/office/drawing/2014/main" id="{32476DAB-1216-1F52-9FED-98DBEDED6637}"/>
              </a:ext>
            </a:extLst>
          </p:cNvPr>
          <p:cNvSpPr txBox="1">
            <a:spLocks/>
          </p:cNvSpPr>
          <p:nvPr/>
        </p:nvSpPr>
        <p:spPr>
          <a:xfrm>
            <a:off x="1524541" y="1641095"/>
            <a:ext cx="2308668" cy="50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Proof Terms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9599E6-B7E1-6B4A-F382-45D81F8E2AA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30577" y="2215852"/>
            <a:ext cx="2225040" cy="2804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4FBD0D-12F7-8145-457C-346E17E6560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204282" y="3048173"/>
            <a:ext cx="2038096" cy="2519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D6151D-FA66-E05E-DC0F-8BD7C7F50D5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168070" y="2610785"/>
            <a:ext cx="2385568" cy="2804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Google Shape;198;p33 1">
                <a:extLst>
                  <a:ext uri="{FF2B5EF4-FFF2-40B4-BE49-F238E27FC236}">
                    <a16:creationId xmlns:a16="http://schemas.microsoft.com/office/drawing/2014/main" id="{27F7F45A-B237-A097-2461-B9AFD2A6D3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274" y="789085"/>
                <a:ext cx="5197331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40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9pPr>
              </a:lstStyle>
              <a:p>
                <a:pPr/>
                <a:r>
                  <a:rPr lang="pt-PT" b="0" dirty="0"/>
                  <a:t>FROM LKT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GB" dirty="0"/>
                          <m:t>L</m:t>
                        </m:r>
                        <m:r>
                          <m:rPr>
                            <m:nor/>
                          </m:rPr>
                          <a:rPr lang="pt-PT" b="0" i="0" dirty="0" smtClean="0"/>
                          <m:t>K</m:t>
                        </m:r>
                        <m:r>
                          <m:rPr>
                            <m:nor/>
                          </m:rPr>
                          <a:rPr lang="en-GB" dirty="0"/>
                          <m:t>T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𝜕</m:t>
                        </m:r>
                      </m:sub>
                    </m:sSub>
                  </m:oMath>
                </a14:m>
                <a:endParaRPr lang="pt-PT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17" name="Google Shape;198;p33 1">
                <a:extLst>
                  <a:ext uri="{FF2B5EF4-FFF2-40B4-BE49-F238E27FC236}">
                    <a16:creationId xmlns:a16="http://schemas.microsoft.com/office/drawing/2014/main" id="{27F7F45A-B237-A097-2461-B9AFD2A6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74" y="789085"/>
                <a:ext cx="5197331" cy="698400"/>
              </a:xfrm>
              <a:prstGeom prst="rect">
                <a:avLst/>
              </a:prstGeom>
              <a:blipFill>
                <a:blip r:embed="rId10"/>
                <a:stretch>
                  <a:fillRect l="-4146" t="-5263" b="-438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0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2" grpId="0"/>
      <p:bldP spid="1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72F2D4BD-6B92-B931-6274-DC792454E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6DF5EBC6-443E-27EE-61F0-16FE145F23B6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2A914E13-16D3-6FD2-6B2C-11CA1F88EC31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25672EC9-FC14-ED93-D408-6CAD9983056F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68;p30 1 1 1">
            <a:extLst>
              <a:ext uri="{FF2B5EF4-FFF2-40B4-BE49-F238E27FC236}">
                <a16:creationId xmlns:a16="http://schemas.microsoft.com/office/drawing/2014/main" id="{FB0EFE48-EF03-428F-A5A6-33755748EBAB}"/>
              </a:ext>
            </a:extLst>
          </p:cNvPr>
          <p:cNvSpPr txBox="1">
            <a:spLocks/>
          </p:cNvSpPr>
          <p:nvPr/>
        </p:nvSpPr>
        <p:spPr>
          <a:xfrm>
            <a:off x="713275" y="1639756"/>
            <a:ext cx="3122455" cy="454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Partial Proof Terms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89EEEDF-7F0E-2DE5-1B9A-E69106B543DD}"/>
              </a:ext>
            </a:extLst>
          </p:cNvPr>
          <p:cNvSpPr/>
          <p:nvPr/>
        </p:nvSpPr>
        <p:spPr>
          <a:xfrm>
            <a:off x="3239903" y="2233379"/>
            <a:ext cx="313138" cy="30683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853E6C5-4CA0-2BFC-4B9D-576E12BB2F33}"/>
              </a:ext>
            </a:extLst>
          </p:cNvPr>
          <p:cNvSpPr/>
          <p:nvPr/>
        </p:nvSpPr>
        <p:spPr>
          <a:xfrm>
            <a:off x="3648785" y="2635283"/>
            <a:ext cx="313138" cy="30683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BB4F18C-91D5-1C88-714F-667CEADE952D}"/>
              </a:ext>
            </a:extLst>
          </p:cNvPr>
          <p:cNvSpPr/>
          <p:nvPr/>
        </p:nvSpPr>
        <p:spPr>
          <a:xfrm>
            <a:off x="3335647" y="3028682"/>
            <a:ext cx="313138" cy="30683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86DDD4F-C6D1-4AD9-8F83-F3D7627D9744}"/>
              </a:ext>
            </a:extLst>
          </p:cNvPr>
          <p:cNvSpPr/>
          <p:nvPr/>
        </p:nvSpPr>
        <p:spPr>
          <a:xfrm>
            <a:off x="4675245" y="2024414"/>
            <a:ext cx="1517095" cy="1511560"/>
          </a:xfrm>
          <a:prstGeom prst="roundRect">
            <a:avLst>
              <a:gd name="adj" fmla="val 864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9295A2F-1859-72BE-5C6A-C69125AAB7D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966539" y="2215192"/>
            <a:ext cx="878160" cy="27792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A29E522-D5A3-0735-4E35-CB6BA10DD6A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966539" y="3156696"/>
            <a:ext cx="918690" cy="2566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12C5310-C4C1-2017-CCE0-AC0A3621D50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966540" y="2625259"/>
            <a:ext cx="689017" cy="347404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A1076D7-32B9-FAE8-C609-C9017489E79C}"/>
              </a:ext>
            </a:extLst>
          </p:cNvPr>
          <p:cNvCxnSpPr>
            <a:stCxn id="13" idx="6"/>
            <a:endCxn id="16" idx="1"/>
          </p:cNvCxnSpPr>
          <p:nvPr/>
        </p:nvCxnSpPr>
        <p:spPr>
          <a:xfrm>
            <a:off x="3553041" y="2386795"/>
            <a:ext cx="1122204" cy="39339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30EDFCF-2369-BF16-7C4B-4FCC845426BF}"/>
              </a:ext>
            </a:extLst>
          </p:cNvPr>
          <p:cNvCxnSpPr>
            <a:stCxn id="14" idx="6"/>
            <a:endCxn id="16" idx="1"/>
          </p:cNvCxnSpPr>
          <p:nvPr/>
        </p:nvCxnSpPr>
        <p:spPr>
          <a:xfrm flipV="1">
            <a:off x="3961923" y="2780194"/>
            <a:ext cx="713322" cy="850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FFAA64-FDFD-0F64-DB5D-56AA7A11C679}"/>
              </a:ext>
            </a:extLst>
          </p:cNvPr>
          <p:cNvCxnSpPr>
            <a:stCxn id="15" idx="6"/>
            <a:endCxn id="16" idx="1"/>
          </p:cNvCxnSpPr>
          <p:nvPr/>
        </p:nvCxnSpPr>
        <p:spPr>
          <a:xfrm flipV="1">
            <a:off x="3648785" y="2780194"/>
            <a:ext cx="1026460" cy="40190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Google Shape;168;p30 1">
            <a:extLst>
              <a:ext uri="{FF2B5EF4-FFF2-40B4-BE49-F238E27FC236}">
                <a16:creationId xmlns:a16="http://schemas.microsoft.com/office/drawing/2014/main" id="{72F394E9-015C-B62A-6036-C1FE2442558B}"/>
              </a:ext>
            </a:extLst>
          </p:cNvPr>
          <p:cNvSpPr txBox="1">
            <a:spLocks/>
          </p:cNvSpPr>
          <p:nvPr/>
        </p:nvSpPr>
        <p:spPr>
          <a:xfrm>
            <a:off x="4686382" y="1596814"/>
            <a:ext cx="1593728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Font typeface="Roboto"/>
              <a:buNone/>
            </a:pPr>
            <a:r>
              <a:rPr lang="en-GB" sz="1400" b="1" dirty="0"/>
              <a:t>Formal </a:t>
            </a:r>
            <a:r>
              <a:rPr lang="en-GB" sz="1400" b="1" dirty="0" err="1"/>
              <a:t>Sequents</a:t>
            </a:r>
            <a:endParaRPr lang="en-GB" sz="1400" b="1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6C097F0-45F1-6570-7EEE-332EF8AC57A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30577" y="2215853"/>
            <a:ext cx="2533904" cy="28041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5D45666-A9A4-86F3-66DD-40DC0FADCE6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204282" y="3048174"/>
            <a:ext cx="2346960" cy="25196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D17A373-5DF2-EE73-A7F5-7DFF76EC9F8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168070" y="2610785"/>
            <a:ext cx="2696464" cy="3068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8" name="Google Shape;198;p33 1">
                <a:extLst>
                  <a:ext uri="{FF2B5EF4-FFF2-40B4-BE49-F238E27FC236}">
                    <a16:creationId xmlns:a16="http://schemas.microsoft.com/office/drawing/2014/main" id="{FE15BC61-37F1-B5DA-3CDC-69B3A4AF5F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274" y="789085"/>
                <a:ext cx="5197331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40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9pPr>
              </a:lstStyle>
              <a:p>
                <a:pPr/>
                <a:r>
                  <a:rPr lang="pt-PT" b="0" dirty="0"/>
                  <a:t>FROM LKT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GB" dirty="0"/>
                          <m:t>L</m:t>
                        </m:r>
                        <m:r>
                          <m:rPr>
                            <m:nor/>
                          </m:rPr>
                          <a:rPr lang="pt-PT" b="0" i="0" dirty="0" smtClean="0"/>
                          <m:t>K</m:t>
                        </m:r>
                        <m:r>
                          <m:rPr>
                            <m:nor/>
                          </m:rPr>
                          <a:rPr lang="en-GB" dirty="0"/>
                          <m:t>T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𝜕</m:t>
                        </m:r>
                      </m:sub>
                    </m:sSub>
                  </m:oMath>
                </a14:m>
                <a:endParaRPr lang="pt-PT" b="0" dirty="0"/>
              </a:p>
            </p:txBody>
          </p:sp>
        </mc:Choice>
        <mc:Fallback>
          <p:sp>
            <p:nvSpPr>
              <p:cNvPr id="38" name="Google Shape;198;p33 1">
                <a:extLst>
                  <a:ext uri="{FF2B5EF4-FFF2-40B4-BE49-F238E27FC236}">
                    <a16:creationId xmlns:a16="http://schemas.microsoft.com/office/drawing/2014/main" id="{FE15BC61-37F1-B5DA-3CDC-69B3A4AF5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74" y="789085"/>
                <a:ext cx="5197331" cy="698400"/>
              </a:xfrm>
              <a:prstGeom prst="rect">
                <a:avLst/>
              </a:prstGeom>
              <a:blipFill>
                <a:blip r:embed="rId15"/>
                <a:stretch>
                  <a:fillRect l="-4146" t="-5263" b="-438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71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3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1AFDC679-369A-DC33-4DA3-7988DE436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B9D3E33B-B19B-7815-1638-5799C84E165B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053E62C0-B777-20B2-65AE-2F415A203392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9C2E69F5-27C1-C2BE-880B-E1553AEC1C04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68;p30 1 1 1 2">
            <a:extLst>
              <a:ext uri="{FF2B5EF4-FFF2-40B4-BE49-F238E27FC236}">
                <a16:creationId xmlns:a16="http://schemas.microsoft.com/office/drawing/2014/main" id="{6EA0498F-1739-5164-427C-2C4901137A12}"/>
              </a:ext>
            </a:extLst>
          </p:cNvPr>
          <p:cNvSpPr txBox="1">
            <a:spLocks/>
          </p:cNvSpPr>
          <p:nvPr/>
        </p:nvSpPr>
        <p:spPr>
          <a:xfrm>
            <a:off x="4572000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Partial </a:t>
            </a:r>
            <a:r>
              <a:rPr lang="en-GB" sz="2000" b="1" dirty="0" err="1"/>
              <a:t>Sequents</a:t>
            </a:r>
            <a:endParaRPr lang="en-GB" sz="20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6A4E6B-2993-48DA-2829-91A50DE75DF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204603" y="2260553"/>
            <a:ext cx="928624" cy="1788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E1107C0-309F-CB2A-894A-FF01990E246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207651" y="2650409"/>
            <a:ext cx="922528" cy="2275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431E5A5-F8B8-5CB3-9D0C-98E75BA1575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204603" y="3084750"/>
            <a:ext cx="902208" cy="178816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03053333-B7E1-667F-CB58-96CC5B17F635}"/>
              </a:ext>
            </a:extLst>
          </p:cNvPr>
          <p:cNvSpPr/>
          <p:nvPr/>
        </p:nvSpPr>
        <p:spPr>
          <a:xfrm>
            <a:off x="5119495" y="3028289"/>
            <a:ext cx="313138" cy="30683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4" name="Google Shape;168;p30 1">
            <a:extLst>
              <a:ext uri="{FF2B5EF4-FFF2-40B4-BE49-F238E27FC236}">
                <a16:creationId xmlns:a16="http://schemas.microsoft.com/office/drawing/2014/main" id="{5701423E-789D-6292-661E-633A755500EA}"/>
              </a:ext>
            </a:extLst>
          </p:cNvPr>
          <p:cNvSpPr txBox="1">
            <a:spLocks/>
          </p:cNvSpPr>
          <p:nvPr/>
        </p:nvSpPr>
        <p:spPr>
          <a:xfrm>
            <a:off x="4572000" y="3956036"/>
            <a:ext cx="1593728" cy="337093"/>
          </a:xfrm>
          <a:prstGeom prst="rect">
            <a:avLst/>
          </a:prstGeom>
          <a:solidFill>
            <a:srgbClr val="EFEE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Font typeface="Roboto"/>
              <a:buNone/>
            </a:pPr>
            <a:r>
              <a:rPr lang="en-GB" sz="1400" b="1" dirty="0"/>
              <a:t>Proof Obligations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62C2AE-4048-34D2-67A2-9DAD79E88B89}"/>
              </a:ext>
            </a:extLst>
          </p:cNvPr>
          <p:cNvSpPr/>
          <p:nvPr/>
        </p:nvSpPr>
        <p:spPr>
          <a:xfrm>
            <a:off x="5081042" y="2168919"/>
            <a:ext cx="1149330" cy="37406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4DA2029-FF07-27C1-7C06-B85922564618}"/>
              </a:ext>
            </a:extLst>
          </p:cNvPr>
          <p:cNvCxnSpPr>
            <a:stCxn id="25" idx="3"/>
          </p:cNvCxnSpPr>
          <p:nvPr/>
        </p:nvCxnSpPr>
        <p:spPr>
          <a:xfrm flipV="1">
            <a:off x="6230372" y="2349961"/>
            <a:ext cx="368391" cy="598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Google Shape;168;p30 1">
            <a:extLst>
              <a:ext uri="{FF2B5EF4-FFF2-40B4-BE49-F238E27FC236}">
                <a16:creationId xmlns:a16="http://schemas.microsoft.com/office/drawing/2014/main" id="{F58E4D3C-05B6-196C-2799-80970E77B024}"/>
              </a:ext>
            </a:extLst>
          </p:cNvPr>
          <p:cNvSpPr txBox="1">
            <a:spLocks/>
          </p:cNvSpPr>
          <p:nvPr/>
        </p:nvSpPr>
        <p:spPr>
          <a:xfrm>
            <a:off x="6597695" y="2141063"/>
            <a:ext cx="1149330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Font typeface="Roboto"/>
              <a:buNone/>
            </a:pPr>
            <a:r>
              <a:rPr lang="en-GB" sz="1400" b="1" dirty="0"/>
              <a:t>Proof State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63A7FC-943F-7D7C-2D63-0CB1E677A788}"/>
              </a:ext>
            </a:extLst>
          </p:cNvPr>
          <p:cNvSpPr/>
          <p:nvPr/>
        </p:nvSpPr>
        <p:spPr>
          <a:xfrm>
            <a:off x="5564327" y="3028289"/>
            <a:ext cx="313138" cy="30683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1" name="Google Shape;168;p30 1">
            <a:extLst>
              <a:ext uri="{FF2B5EF4-FFF2-40B4-BE49-F238E27FC236}">
                <a16:creationId xmlns:a16="http://schemas.microsoft.com/office/drawing/2014/main" id="{08B17BD8-B9D8-1279-179E-9B07A706D5D4}"/>
              </a:ext>
            </a:extLst>
          </p:cNvPr>
          <p:cNvSpPr txBox="1">
            <a:spLocks/>
          </p:cNvSpPr>
          <p:nvPr/>
        </p:nvSpPr>
        <p:spPr>
          <a:xfrm>
            <a:off x="6551998" y="3566545"/>
            <a:ext cx="1963132" cy="275007"/>
          </a:xfrm>
          <a:prstGeom prst="rect">
            <a:avLst/>
          </a:prstGeom>
          <a:solidFill>
            <a:srgbClr val="EFEE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400" b="1" dirty="0"/>
              <a:t>Record of the Search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F90ECB-3A28-56DA-0A8F-9D90AB090AEC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5276064" y="3335121"/>
            <a:ext cx="0" cy="6551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1591739E-DF99-2395-D49F-A62FAA24D2DB}"/>
              </a:ext>
            </a:extLst>
          </p:cNvPr>
          <p:cNvSpPr/>
          <p:nvPr/>
        </p:nvSpPr>
        <p:spPr>
          <a:xfrm>
            <a:off x="5894295" y="3031937"/>
            <a:ext cx="313138" cy="30683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9" name="Google Shape;168;p30 1">
            <a:extLst>
              <a:ext uri="{FF2B5EF4-FFF2-40B4-BE49-F238E27FC236}">
                <a16:creationId xmlns:a16="http://schemas.microsoft.com/office/drawing/2014/main" id="{0E0C3598-87D3-F470-7394-5C635025364D}"/>
              </a:ext>
            </a:extLst>
          </p:cNvPr>
          <p:cNvSpPr txBox="1">
            <a:spLocks/>
          </p:cNvSpPr>
          <p:nvPr/>
        </p:nvSpPr>
        <p:spPr>
          <a:xfrm>
            <a:off x="6569416" y="3007079"/>
            <a:ext cx="1312948" cy="347409"/>
          </a:xfrm>
          <a:prstGeom prst="rect">
            <a:avLst/>
          </a:prstGeom>
          <a:solidFill>
            <a:srgbClr val="EFEE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400" b="1" dirty="0"/>
              <a:t>Goal Sequent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2F90FD0-178E-CDE8-4267-12535EE27967}"/>
              </a:ext>
            </a:extLst>
          </p:cNvPr>
          <p:cNvCxnSpPr/>
          <p:nvPr/>
        </p:nvCxnSpPr>
        <p:spPr>
          <a:xfrm flipV="1">
            <a:off x="6212437" y="3190948"/>
            <a:ext cx="368391" cy="598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D1569B1-EAEB-73EC-0C9A-FD3F9FB0543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30577" y="2215853"/>
            <a:ext cx="2533904" cy="2804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124602-D13E-E7C0-B1AB-C5AD159E01C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204282" y="3048174"/>
            <a:ext cx="2346960" cy="2519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F79598-7ECF-E0BA-6C5C-FE7AC820630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168070" y="2610785"/>
            <a:ext cx="2696464" cy="306832"/>
          </a:xfrm>
          <a:prstGeom prst="rect">
            <a:avLst/>
          </a:prstGeom>
        </p:spPr>
      </p:pic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85863E45-BA83-90D9-3415-D02EF875ECD7}"/>
              </a:ext>
            </a:extLst>
          </p:cNvPr>
          <p:cNvCxnSpPr>
            <a:cxnSpLocks/>
            <a:stCxn id="29" idx="4"/>
          </p:cNvCxnSpPr>
          <p:nvPr/>
        </p:nvCxnSpPr>
        <p:spPr>
          <a:xfrm rot="16200000" flipH="1">
            <a:off x="5970360" y="3085656"/>
            <a:ext cx="377871" cy="876799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Google Shape;198;p33 1">
                <a:extLst>
                  <a:ext uri="{FF2B5EF4-FFF2-40B4-BE49-F238E27FC236}">
                    <a16:creationId xmlns:a16="http://schemas.microsoft.com/office/drawing/2014/main" id="{DA292D66-B5E7-4A53-5706-134477AEAE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274" y="789085"/>
                <a:ext cx="5197331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40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9pPr>
              </a:lstStyle>
              <a:p>
                <a:pPr/>
                <a:r>
                  <a:rPr lang="pt-PT" b="0" dirty="0"/>
                  <a:t>FROM LKT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GB" dirty="0"/>
                          <m:t>L</m:t>
                        </m:r>
                        <m:r>
                          <m:rPr>
                            <m:nor/>
                          </m:rPr>
                          <a:rPr lang="pt-PT" b="0" i="0" dirty="0" smtClean="0"/>
                          <m:t>K</m:t>
                        </m:r>
                        <m:r>
                          <m:rPr>
                            <m:nor/>
                          </m:rPr>
                          <a:rPr lang="en-GB" dirty="0"/>
                          <m:t>T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𝜕</m:t>
                        </m:r>
                      </m:sub>
                    </m:sSub>
                  </m:oMath>
                </a14:m>
                <a:endParaRPr lang="pt-PT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6" name="Google Shape;198;p33 1">
                <a:extLst>
                  <a:ext uri="{FF2B5EF4-FFF2-40B4-BE49-F238E27FC236}">
                    <a16:creationId xmlns:a16="http://schemas.microsoft.com/office/drawing/2014/main" id="{DA292D66-B5E7-4A53-5706-134477AEA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74" y="789085"/>
                <a:ext cx="5197331" cy="698400"/>
              </a:xfrm>
              <a:prstGeom prst="rect">
                <a:avLst/>
              </a:prstGeom>
              <a:blipFill>
                <a:blip r:embed="rId15"/>
                <a:stretch>
                  <a:fillRect l="-4146" t="-5263" b="-438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Google Shape;168;p30 1 1 1">
            <a:extLst>
              <a:ext uri="{FF2B5EF4-FFF2-40B4-BE49-F238E27FC236}">
                <a16:creationId xmlns:a16="http://schemas.microsoft.com/office/drawing/2014/main" id="{6CFCE8B8-E7E0-A911-FE91-171C57FC277E}"/>
              </a:ext>
            </a:extLst>
          </p:cNvPr>
          <p:cNvSpPr txBox="1">
            <a:spLocks/>
          </p:cNvSpPr>
          <p:nvPr/>
        </p:nvSpPr>
        <p:spPr>
          <a:xfrm>
            <a:off x="713275" y="1639756"/>
            <a:ext cx="3122455" cy="454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Partial Proof Terms</a:t>
            </a:r>
          </a:p>
        </p:txBody>
      </p:sp>
    </p:spTree>
    <p:extLst>
      <p:ext uri="{BB962C8B-B14F-4D97-AF65-F5344CB8AC3E}">
        <p14:creationId xmlns:p14="http://schemas.microsoft.com/office/powerpoint/2010/main" val="349390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0" grpId="0" animBg="1"/>
      <p:bldP spid="24" grpId="0" animBg="1"/>
      <p:bldP spid="25" grpId="0" animBg="1"/>
      <p:bldP spid="28" grpId="0"/>
      <p:bldP spid="29" grpId="0" animBg="1"/>
      <p:bldP spid="31" grpId="0" animBg="1"/>
      <p:bldP spid="38" grpId="0" animBg="1"/>
      <p:bldP spid="3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D4078836-246C-0735-ADBF-201453BD0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B1AB23-5FA5-F9C6-B095-57CB7B8C965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506479" y="2679349"/>
            <a:ext cx="2077325" cy="32659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Google Shape;198;p33 1">
                <a:extLst>
                  <a:ext uri="{FF2B5EF4-FFF2-40B4-BE49-F238E27FC236}">
                    <a16:creationId xmlns:a16="http://schemas.microsoft.com/office/drawing/2014/main" id="{5ADAAE0B-83C4-30AC-A36B-5E6198ED04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274" y="789085"/>
                <a:ext cx="5197331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40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9pPr>
              </a:lstStyle>
              <a:p>
                <a:pPr/>
                <a:r>
                  <a:rPr lang="pt-PT" b="0" dirty="0"/>
                  <a:t>FROM LKT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GB" dirty="0"/>
                          <m:t>L</m:t>
                        </m:r>
                        <m:r>
                          <m:rPr>
                            <m:nor/>
                          </m:rPr>
                          <a:rPr lang="pt-PT" b="0" i="0" dirty="0" smtClean="0"/>
                          <m:t>K</m:t>
                        </m:r>
                        <m:r>
                          <m:rPr>
                            <m:nor/>
                          </m:rPr>
                          <a:rPr lang="en-GB" dirty="0"/>
                          <m:t>T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𝜕</m:t>
                        </m:r>
                      </m:sub>
                    </m:sSub>
                  </m:oMath>
                </a14:m>
                <a:endParaRPr lang="pt-PT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9" name="Google Shape;198;p33 1">
                <a:extLst>
                  <a:ext uri="{FF2B5EF4-FFF2-40B4-BE49-F238E27FC236}">
                    <a16:creationId xmlns:a16="http://schemas.microsoft.com/office/drawing/2014/main" id="{5ADAAE0B-83C4-30AC-A36B-5E6198ED0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74" y="789085"/>
                <a:ext cx="5197331" cy="698400"/>
              </a:xfrm>
              <a:prstGeom prst="rect">
                <a:avLst/>
              </a:prstGeom>
              <a:blipFill>
                <a:blip r:embed="rId6"/>
                <a:stretch>
                  <a:fillRect l="-4146" t="-5263" b="-438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D0F45CFD-2490-35CC-5383-29BF2618CD40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07CCA5F9-E76B-6755-F780-508F94130F56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94917199-DD63-5615-E40E-7A5598D29012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168;p30 1 1 1 1">
            <a:extLst>
              <a:ext uri="{FF2B5EF4-FFF2-40B4-BE49-F238E27FC236}">
                <a16:creationId xmlns:a16="http://schemas.microsoft.com/office/drawing/2014/main" id="{DC5728F6-3D0A-D944-BFE4-A5F9534E0968}"/>
              </a:ext>
            </a:extLst>
          </p:cNvPr>
          <p:cNvSpPr txBox="1">
            <a:spLocks/>
          </p:cNvSpPr>
          <p:nvPr/>
        </p:nvSpPr>
        <p:spPr>
          <a:xfrm>
            <a:off x="713275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Inference Rules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4A3975D-A9F5-D107-CD9B-3A6DE621B27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294550" y="3911719"/>
            <a:ext cx="2501185" cy="331790"/>
          </a:xfrm>
          <a:prstGeom prst="rect">
            <a:avLst/>
          </a:prstGeom>
        </p:spPr>
      </p:pic>
      <p:sp>
        <p:nvSpPr>
          <p:cNvPr id="61" name="Oval 60">
            <a:extLst>
              <a:ext uri="{FF2B5EF4-FFF2-40B4-BE49-F238E27FC236}">
                <a16:creationId xmlns:a16="http://schemas.microsoft.com/office/drawing/2014/main" id="{45737DCF-EF8C-EAD6-E83D-FF6BE1BDB653}"/>
              </a:ext>
            </a:extLst>
          </p:cNvPr>
          <p:cNvSpPr/>
          <p:nvPr/>
        </p:nvSpPr>
        <p:spPr>
          <a:xfrm>
            <a:off x="3628921" y="2747872"/>
            <a:ext cx="313138" cy="30683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sp>
        <p:nvSpPr>
          <p:cNvPr id="11" name="Google Shape;168;p30 1 1 1 1">
            <a:extLst>
              <a:ext uri="{FF2B5EF4-FFF2-40B4-BE49-F238E27FC236}">
                <a16:creationId xmlns:a16="http://schemas.microsoft.com/office/drawing/2014/main" id="{46523EE9-058E-8E2B-08BD-AD63BDBA751D}"/>
              </a:ext>
            </a:extLst>
          </p:cNvPr>
          <p:cNvSpPr txBox="1">
            <a:spLocks/>
          </p:cNvSpPr>
          <p:nvPr/>
        </p:nvSpPr>
        <p:spPr>
          <a:xfrm>
            <a:off x="1169425" y="2221206"/>
            <a:ext cx="134266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LKT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Google Shape;168;p30 1 1 1 1">
                <a:extLst>
                  <a:ext uri="{FF2B5EF4-FFF2-40B4-BE49-F238E27FC236}">
                    <a16:creationId xmlns:a16="http://schemas.microsoft.com/office/drawing/2014/main" id="{EEC0C113-93B4-5701-5BD3-1D08440FA9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9425" y="3224054"/>
                <a:ext cx="1342663" cy="5579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sz="2000" b="1" dirty="0"/>
                            <m:t>LKT</m:t>
                          </m:r>
                        </m:e>
                        <m:sub>
                          <m:r>
                            <a:rPr lang="pt-PT" sz="2000" b="1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nor/>
                            </m:rPr>
                            <a:rPr lang="pt-PT" sz="2000" b="1" dirty="0"/>
                            <m:t> </m:t>
                          </m:r>
                        </m:sub>
                      </m:sSub>
                    </m:oMath>
                  </m:oMathPara>
                </a14:m>
                <a:endParaRPr lang="en-GB" sz="2000" b="1" dirty="0"/>
              </a:p>
            </p:txBody>
          </p:sp>
        </mc:Choice>
        <mc:Fallback>
          <p:sp>
            <p:nvSpPr>
              <p:cNvPr id="12" name="Google Shape;168;p30 1 1 1 1">
                <a:extLst>
                  <a:ext uri="{FF2B5EF4-FFF2-40B4-BE49-F238E27FC236}">
                    <a16:creationId xmlns:a16="http://schemas.microsoft.com/office/drawing/2014/main" id="{EEC0C113-93B4-5701-5BD3-1D08440FA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425" y="3224054"/>
                <a:ext cx="1342663" cy="557934"/>
              </a:xfrm>
              <a:prstGeom prst="rect">
                <a:avLst/>
              </a:prstGeom>
              <a:blipFill>
                <a:blip r:embed="rId8"/>
                <a:stretch>
                  <a:fillRect b="-88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own Arrow 12">
            <a:extLst>
              <a:ext uri="{FF2B5EF4-FFF2-40B4-BE49-F238E27FC236}">
                <a16:creationId xmlns:a16="http://schemas.microsoft.com/office/drawing/2014/main" id="{27478F3F-808C-4867-CE79-6C0250E1A8F8}"/>
              </a:ext>
            </a:extLst>
          </p:cNvPr>
          <p:cNvSpPr/>
          <p:nvPr/>
        </p:nvSpPr>
        <p:spPr>
          <a:xfrm>
            <a:off x="4176643" y="3285332"/>
            <a:ext cx="313138" cy="353159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10436A7-6CC5-18A1-272D-945F41988E9A}"/>
              </a:ext>
            </a:extLst>
          </p:cNvPr>
          <p:cNvSpPr/>
          <p:nvPr/>
        </p:nvSpPr>
        <p:spPr>
          <a:xfrm>
            <a:off x="3586071" y="3994999"/>
            <a:ext cx="313138" cy="30683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3061DA1-E4F9-3CA4-68B9-76748AFD12A7}"/>
              </a:ext>
            </a:extLst>
          </p:cNvPr>
          <p:cNvSpPr/>
          <p:nvPr/>
        </p:nvSpPr>
        <p:spPr>
          <a:xfrm>
            <a:off x="3193341" y="3987379"/>
            <a:ext cx="313138" cy="30683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409166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1" grpId="0" animBg="1"/>
      <p:bldP spid="61" grpId="1" animBg="1"/>
      <p:bldP spid="11" grpId="0"/>
      <p:bldP spid="12" grpId="0"/>
      <p:bldP spid="13" grpId="0" animBg="1"/>
      <p:bldP spid="13" grpId="1" animBg="1"/>
      <p:bldP spid="16" grpId="0" animBg="1"/>
      <p:bldP spid="16" grpId="1" animBg="1"/>
      <p:bldP spid="17" grpId="0" animBg="1"/>
      <p:bldP spid="17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1226AB0A-9AE9-946C-F9B6-BFE9EBB5E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237F36-45F0-E128-E9B5-CFFE7FE9451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577807" y="3754699"/>
            <a:ext cx="3934669" cy="4888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Google Shape;198;p33 1">
                <a:extLst>
                  <a:ext uri="{FF2B5EF4-FFF2-40B4-BE49-F238E27FC236}">
                    <a16:creationId xmlns:a16="http://schemas.microsoft.com/office/drawing/2014/main" id="{0661953D-8BC8-16B0-113B-C4877A336F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274" y="789085"/>
                <a:ext cx="5197331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40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9pPr>
              </a:lstStyle>
              <a:p>
                <a:r>
                  <a:rPr lang="pt-PT" b="0" dirty="0"/>
                  <a:t>FROM LKT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GB" dirty="0"/>
                          <m:t>L</m:t>
                        </m:r>
                        <m:r>
                          <m:rPr>
                            <m:nor/>
                          </m:rPr>
                          <a:rPr lang="pt-PT" b="0" i="0" dirty="0" smtClean="0"/>
                          <m:t>K</m:t>
                        </m:r>
                        <m:r>
                          <m:rPr>
                            <m:nor/>
                          </m:rPr>
                          <a:rPr lang="en-GB" dirty="0"/>
                          <m:t>T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𝜕</m:t>
                        </m:r>
                      </m:sub>
                    </m:sSub>
                  </m:oMath>
                </a14:m>
                <a:endParaRPr lang="pt-PT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9" name="Google Shape;198;p33 1">
                <a:extLst>
                  <a:ext uri="{FF2B5EF4-FFF2-40B4-BE49-F238E27FC236}">
                    <a16:creationId xmlns:a16="http://schemas.microsoft.com/office/drawing/2014/main" id="{0661953D-8BC8-16B0-113B-C4877A336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74" y="789085"/>
                <a:ext cx="5197331" cy="698400"/>
              </a:xfrm>
              <a:prstGeom prst="rect">
                <a:avLst/>
              </a:prstGeom>
              <a:blipFill>
                <a:blip r:embed="rId6"/>
                <a:stretch>
                  <a:fillRect l="-4146" t="-5263" b="-438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A1DA712E-A163-3310-BE75-15C469DEB62C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A6C856C5-283B-9D22-64B5-8AE45D0A2EEC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5236E865-C29B-22D2-7678-4DB009CFFC91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168;p30 1 1 1 1">
            <a:extLst>
              <a:ext uri="{FF2B5EF4-FFF2-40B4-BE49-F238E27FC236}">
                <a16:creationId xmlns:a16="http://schemas.microsoft.com/office/drawing/2014/main" id="{C74B6852-54F4-0A32-5DEB-BE05C3D181C4}"/>
              </a:ext>
            </a:extLst>
          </p:cNvPr>
          <p:cNvSpPr txBox="1">
            <a:spLocks/>
          </p:cNvSpPr>
          <p:nvPr/>
        </p:nvSpPr>
        <p:spPr>
          <a:xfrm>
            <a:off x="713275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Inference Rules</a:t>
            </a:r>
          </a:p>
        </p:txBody>
      </p:sp>
      <p:sp>
        <p:nvSpPr>
          <p:cNvPr id="11" name="Google Shape;168;p30 1 1 1 1">
            <a:extLst>
              <a:ext uri="{FF2B5EF4-FFF2-40B4-BE49-F238E27FC236}">
                <a16:creationId xmlns:a16="http://schemas.microsoft.com/office/drawing/2014/main" id="{B1BA966B-B681-8703-7939-E21EBE7BA603}"/>
              </a:ext>
            </a:extLst>
          </p:cNvPr>
          <p:cNvSpPr txBox="1">
            <a:spLocks/>
          </p:cNvSpPr>
          <p:nvPr/>
        </p:nvSpPr>
        <p:spPr>
          <a:xfrm>
            <a:off x="1169425" y="2221206"/>
            <a:ext cx="134266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LKT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Google Shape;168;p30 1 1 1 1">
                <a:extLst>
                  <a:ext uri="{FF2B5EF4-FFF2-40B4-BE49-F238E27FC236}">
                    <a16:creationId xmlns:a16="http://schemas.microsoft.com/office/drawing/2014/main" id="{C75E8BBE-9EEF-CE7D-CB4F-34D6A6EF08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9425" y="3224054"/>
                <a:ext cx="1342663" cy="5579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sz="2000" b="1" dirty="0"/>
                            <m:t>LKT</m:t>
                          </m:r>
                        </m:e>
                        <m:sub>
                          <m:r>
                            <a:rPr lang="pt-PT" sz="2000" b="1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nor/>
                            </m:rPr>
                            <a:rPr lang="pt-PT" sz="2000" b="1" dirty="0"/>
                            <m:t> </m:t>
                          </m:r>
                        </m:sub>
                      </m:sSub>
                    </m:oMath>
                  </m:oMathPara>
                </a14:m>
                <a:endParaRPr lang="en-GB" sz="2000" b="1" dirty="0"/>
              </a:p>
            </p:txBody>
          </p:sp>
        </mc:Choice>
        <mc:Fallback>
          <p:sp>
            <p:nvSpPr>
              <p:cNvPr id="12" name="Google Shape;168;p30 1 1 1 1">
                <a:extLst>
                  <a:ext uri="{FF2B5EF4-FFF2-40B4-BE49-F238E27FC236}">
                    <a16:creationId xmlns:a16="http://schemas.microsoft.com/office/drawing/2014/main" id="{C75E8BBE-9EEF-CE7D-CB4F-34D6A6EF0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425" y="3224054"/>
                <a:ext cx="1342663" cy="557934"/>
              </a:xfrm>
              <a:prstGeom prst="rect">
                <a:avLst/>
              </a:prstGeom>
              <a:blipFill>
                <a:blip r:embed="rId7"/>
                <a:stretch>
                  <a:fillRect b="-88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own Arrow 12">
            <a:extLst>
              <a:ext uri="{FF2B5EF4-FFF2-40B4-BE49-F238E27FC236}">
                <a16:creationId xmlns:a16="http://schemas.microsoft.com/office/drawing/2014/main" id="{D9AA02B5-7F5E-2162-ACB5-9A24A8972378}"/>
              </a:ext>
            </a:extLst>
          </p:cNvPr>
          <p:cNvSpPr/>
          <p:nvPr/>
        </p:nvSpPr>
        <p:spPr>
          <a:xfrm>
            <a:off x="4176642" y="3195364"/>
            <a:ext cx="313138" cy="353159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3F533-3033-102F-E2F2-002B8F365E1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128211" y="2510284"/>
            <a:ext cx="2723139" cy="47890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798FF718-2478-678C-048D-DF9AD4546797}"/>
              </a:ext>
            </a:extLst>
          </p:cNvPr>
          <p:cNvSpPr/>
          <p:nvPr/>
        </p:nvSpPr>
        <p:spPr>
          <a:xfrm>
            <a:off x="3746709" y="3994058"/>
            <a:ext cx="538419" cy="30683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0D10378-06D1-4103-3CBE-6964FF65B11F}"/>
              </a:ext>
            </a:extLst>
          </p:cNvPr>
          <p:cNvSpPr/>
          <p:nvPr/>
        </p:nvSpPr>
        <p:spPr>
          <a:xfrm>
            <a:off x="3549220" y="2747800"/>
            <a:ext cx="493594" cy="30683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AC1031E-0CE5-285D-8C40-9D4E4ADCBEBE}"/>
              </a:ext>
            </a:extLst>
          </p:cNvPr>
          <p:cNvSpPr/>
          <p:nvPr/>
        </p:nvSpPr>
        <p:spPr>
          <a:xfrm>
            <a:off x="2512088" y="3692272"/>
            <a:ext cx="313138" cy="30683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8CE1AA-AD04-8A3A-0796-F8D580DCD8B9}"/>
              </a:ext>
            </a:extLst>
          </p:cNvPr>
          <p:cNvSpPr/>
          <p:nvPr/>
        </p:nvSpPr>
        <p:spPr>
          <a:xfrm>
            <a:off x="4388572" y="3689256"/>
            <a:ext cx="313138" cy="30683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B964836-A5F8-6D7D-7AE0-A3476DAAFC66}"/>
              </a:ext>
            </a:extLst>
          </p:cNvPr>
          <p:cNvSpPr/>
          <p:nvPr/>
        </p:nvSpPr>
        <p:spPr>
          <a:xfrm>
            <a:off x="2876931" y="3983298"/>
            <a:ext cx="690219" cy="30683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299426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7" grpId="0" animBg="1"/>
      <p:bldP spid="7" grpId="1" animBg="1"/>
      <p:bldP spid="8" grpId="0" animBg="1"/>
      <p:bldP spid="8" grpId="1" animBg="1"/>
      <p:bldP spid="10" grpId="0" animBg="1"/>
      <p:bldP spid="10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78E128BE-6F1E-D279-C39B-B1A156849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Google Shape;198;p33 1">
                <a:extLst>
                  <a:ext uri="{FF2B5EF4-FFF2-40B4-BE49-F238E27FC236}">
                    <a16:creationId xmlns:a16="http://schemas.microsoft.com/office/drawing/2014/main" id="{0705C51F-D7AF-4E31-171B-A8EC80AE7A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274" y="789085"/>
                <a:ext cx="5197331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40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9pPr>
              </a:lstStyle>
              <a:p>
                <a:r>
                  <a:rPr lang="pt-PT" b="0" dirty="0"/>
                  <a:t>FROM LKT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GB" dirty="0"/>
                          <m:t>L</m:t>
                        </m:r>
                        <m:r>
                          <m:rPr>
                            <m:nor/>
                          </m:rPr>
                          <a:rPr lang="pt-PT" b="0" i="0" dirty="0" smtClean="0"/>
                          <m:t>K</m:t>
                        </m:r>
                        <m:r>
                          <m:rPr>
                            <m:nor/>
                          </m:rPr>
                          <a:rPr lang="en-GB" dirty="0"/>
                          <m:t>T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𝜕</m:t>
                        </m:r>
                      </m:sub>
                    </m:sSub>
                  </m:oMath>
                </a14:m>
                <a:endParaRPr lang="pt-PT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9" name="Google Shape;198;p33 1">
                <a:extLst>
                  <a:ext uri="{FF2B5EF4-FFF2-40B4-BE49-F238E27FC236}">
                    <a16:creationId xmlns:a16="http://schemas.microsoft.com/office/drawing/2014/main" id="{0705C51F-D7AF-4E31-171B-A8EC80AE7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74" y="789085"/>
                <a:ext cx="5197331" cy="698400"/>
              </a:xfrm>
              <a:prstGeom prst="rect">
                <a:avLst/>
              </a:prstGeom>
              <a:blipFill>
                <a:blip r:embed="rId6"/>
                <a:stretch>
                  <a:fillRect l="-4146" t="-5263" b="-438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C0DBF893-F82A-DB4D-E8CF-946EDA6C1EBF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20D30682-11BC-725E-1892-764218EB5B8F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5AB39111-6F8D-88EA-E657-8682FC051A1C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168;p30 1 1 1 1">
            <a:extLst>
              <a:ext uri="{FF2B5EF4-FFF2-40B4-BE49-F238E27FC236}">
                <a16:creationId xmlns:a16="http://schemas.microsoft.com/office/drawing/2014/main" id="{14843918-3E64-9639-C3D1-08EAF1D2C1A4}"/>
              </a:ext>
            </a:extLst>
          </p:cNvPr>
          <p:cNvSpPr txBox="1">
            <a:spLocks/>
          </p:cNvSpPr>
          <p:nvPr/>
        </p:nvSpPr>
        <p:spPr>
          <a:xfrm>
            <a:off x="713275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Inference Rules</a:t>
            </a:r>
          </a:p>
        </p:txBody>
      </p:sp>
      <p:sp>
        <p:nvSpPr>
          <p:cNvPr id="11" name="Google Shape;168;p30 1 1 1 1">
            <a:extLst>
              <a:ext uri="{FF2B5EF4-FFF2-40B4-BE49-F238E27FC236}">
                <a16:creationId xmlns:a16="http://schemas.microsoft.com/office/drawing/2014/main" id="{9B61CB21-DE46-4005-23F1-2FD346527A83}"/>
              </a:ext>
            </a:extLst>
          </p:cNvPr>
          <p:cNvSpPr txBox="1">
            <a:spLocks/>
          </p:cNvSpPr>
          <p:nvPr/>
        </p:nvSpPr>
        <p:spPr>
          <a:xfrm>
            <a:off x="1169425" y="2221206"/>
            <a:ext cx="134266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LKT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Google Shape;168;p30 1 1 1 1">
                <a:extLst>
                  <a:ext uri="{FF2B5EF4-FFF2-40B4-BE49-F238E27FC236}">
                    <a16:creationId xmlns:a16="http://schemas.microsoft.com/office/drawing/2014/main" id="{A61D7EFE-5BC2-9EFF-284B-4FC870541D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9425" y="3224054"/>
                <a:ext cx="1342663" cy="5579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sz="2000" b="1" dirty="0"/>
                            <m:t>LKT</m:t>
                          </m:r>
                        </m:e>
                        <m:sub>
                          <m:r>
                            <a:rPr lang="pt-PT" sz="2000" b="1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nor/>
                            </m:rPr>
                            <a:rPr lang="pt-PT" sz="2000" b="1" dirty="0"/>
                            <m:t> </m:t>
                          </m:r>
                        </m:sub>
                      </m:sSub>
                    </m:oMath>
                  </m:oMathPara>
                </a14:m>
                <a:endParaRPr lang="en-GB" sz="2000" b="1" dirty="0"/>
              </a:p>
            </p:txBody>
          </p:sp>
        </mc:Choice>
        <mc:Fallback>
          <p:sp>
            <p:nvSpPr>
              <p:cNvPr id="12" name="Google Shape;168;p30 1 1 1 1">
                <a:extLst>
                  <a:ext uri="{FF2B5EF4-FFF2-40B4-BE49-F238E27FC236}">
                    <a16:creationId xmlns:a16="http://schemas.microsoft.com/office/drawing/2014/main" id="{A61D7EFE-5BC2-9EFF-284B-4FC870541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425" y="3224054"/>
                <a:ext cx="1342663" cy="557934"/>
              </a:xfrm>
              <a:prstGeom prst="rect">
                <a:avLst/>
              </a:prstGeom>
              <a:blipFill>
                <a:blip r:embed="rId7"/>
                <a:stretch>
                  <a:fillRect b="-88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5F006355-4097-A4FA-5A3A-3BFFC472362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372902" y="3825647"/>
            <a:ext cx="1262369" cy="3557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2617FEC-40FE-3BFD-47DA-5C307C198D6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091514" y="3830855"/>
            <a:ext cx="1196697" cy="3794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7409847-8C01-743A-B794-98E992A2A3B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714795" y="3825647"/>
            <a:ext cx="1224060" cy="35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912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DF49950-FC03-DF34-0714-4B0549325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Google Shape;198;p33 1">
                <a:extLst>
                  <a:ext uri="{FF2B5EF4-FFF2-40B4-BE49-F238E27FC236}">
                    <a16:creationId xmlns:a16="http://schemas.microsoft.com/office/drawing/2014/main" id="{B0DAA032-4874-37BF-4612-20885987B1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274" y="789085"/>
                <a:ext cx="5197331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40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dirty="0"/>
                            <m:t>L</m:t>
                          </m:r>
                          <m:r>
                            <m:rPr>
                              <m:nor/>
                            </m:rPr>
                            <a:rPr lang="pt-PT" b="0" i="0" dirty="0" smtClean="0"/>
                            <m:t>K</m:t>
                          </m:r>
                          <m:r>
                            <m:rPr>
                              <m:nor/>
                            </m:rPr>
                            <a:rPr lang="en-GB" dirty="0"/>
                            <m:t>T</m:t>
                          </m:r>
                        </m:e>
                        <m:sub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𝜕</m:t>
                          </m:r>
                        </m:sub>
                      </m:sSub>
                    </m:oMath>
                  </m:oMathPara>
                </a14:m>
                <a:endParaRPr lang="pt-PT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9" name="Google Shape;198;p33 1">
                <a:extLst>
                  <a:ext uri="{FF2B5EF4-FFF2-40B4-BE49-F238E27FC236}">
                    <a16:creationId xmlns:a16="http://schemas.microsoft.com/office/drawing/2014/main" id="{B0DAA032-4874-37BF-4612-20885987B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74" y="789085"/>
                <a:ext cx="5197331" cy="698400"/>
              </a:xfrm>
              <a:prstGeom prst="rect">
                <a:avLst/>
              </a:prstGeom>
              <a:blipFill>
                <a:blip r:embed="rId13"/>
                <a:stretch>
                  <a:fillRect l="-1463" b="-157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AA1A9549-EDC0-7E19-4A9E-7C777F2167C3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259AA175-FFFF-D608-4275-31E7C9122A80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151E7B0E-4103-EDC3-6726-5C33DC2A5D16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168;p30 1 1 1 1">
            <a:extLst>
              <a:ext uri="{FF2B5EF4-FFF2-40B4-BE49-F238E27FC236}">
                <a16:creationId xmlns:a16="http://schemas.microsoft.com/office/drawing/2014/main" id="{608DF4AD-4759-6D96-27C6-F710B3C031B7}"/>
              </a:ext>
            </a:extLst>
          </p:cNvPr>
          <p:cNvSpPr txBox="1">
            <a:spLocks/>
          </p:cNvSpPr>
          <p:nvPr/>
        </p:nvSpPr>
        <p:spPr>
          <a:xfrm>
            <a:off x="713275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Inference Rules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20BD4B7-6BF7-B063-CFB9-4C17FD85E87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398522" y="1737049"/>
            <a:ext cx="1406144" cy="3962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E0298C-3C82-79C9-D1A6-A142F869CCE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5206342" y="1742257"/>
            <a:ext cx="1332992" cy="42265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A437928-7BAB-3FB8-D1E1-F20361B1454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941010" y="1737049"/>
            <a:ext cx="1363472" cy="39624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303F8A9-1852-E7AC-4DCD-BD3FA6276B8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656934" y="2552921"/>
            <a:ext cx="2501185" cy="33179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F612BF9-A6CD-219C-D899-B27EBFFDE6F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3431118" y="2560669"/>
            <a:ext cx="2348051" cy="32328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B6BA06E-9E61-ECAC-6CE3-8BD0ED98243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6089820" y="2439810"/>
            <a:ext cx="2635602" cy="59722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0041E15-D4B2-E42B-37CB-3AD68BAF99B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4485965" y="3295150"/>
            <a:ext cx="3818517" cy="5485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308CBDD-EAE0-4316-3473-71E218FEBF0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09732" y="3296763"/>
            <a:ext cx="2961891" cy="54688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136CE47-5BDF-27C9-08AF-36B5103906B1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151696" y="4167290"/>
            <a:ext cx="2819927" cy="508169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6937F9C-9026-9214-8CA5-3C25A7EEB458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4572000" y="4151727"/>
            <a:ext cx="3934669" cy="488810"/>
          </a:xfrm>
          <a:prstGeom prst="rect">
            <a:avLst/>
          </a:prstGeom>
        </p:spPr>
      </p:pic>
      <p:sp>
        <p:nvSpPr>
          <p:cNvPr id="60" name="Oval 59">
            <a:extLst>
              <a:ext uri="{FF2B5EF4-FFF2-40B4-BE49-F238E27FC236}">
                <a16:creationId xmlns:a16="http://schemas.microsoft.com/office/drawing/2014/main" id="{D515DF04-15CD-87A0-2A38-442CF62FBED5}"/>
              </a:ext>
            </a:extLst>
          </p:cNvPr>
          <p:cNvSpPr/>
          <p:nvPr/>
        </p:nvSpPr>
        <p:spPr>
          <a:xfrm>
            <a:off x="3320348" y="2615111"/>
            <a:ext cx="313138" cy="30683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6C25455-B662-6A02-F5F5-E6464D8FFAA3}"/>
              </a:ext>
            </a:extLst>
          </p:cNvPr>
          <p:cNvSpPr/>
          <p:nvPr/>
        </p:nvSpPr>
        <p:spPr>
          <a:xfrm>
            <a:off x="545903" y="2633554"/>
            <a:ext cx="313138" cy="306832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14953F2-ED55-1BF5-2E1E-B5E0327FF216}"/>
              </a:ext>
            </a:extLst>
          </p:cNvPr>
          <p:cNvSpPr/>
          <p:nvPr/>
        </p:nvSpPr>
        <p:spPr>
          <a:xfrm>
            <a:off x="4833582" y="4351069"/>
            <a:ext cx="765244" cy="351895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90999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794FFF74-5915-F73E-5038-CE22E626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E9F92278-BB16-9C8A-A70D-2D4541A87E56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Reduction</a:t>
            </a:r>
            <a:r>
              <a:rPr lang="pt-PT" dirty="0"/>
              <a:t> Rules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3DC1F20D-14A0-0601-D472-57EA50CF1335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1F7B934D-8549-381E-344B-DFA092B2B0A5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A60A0B5F-A652-D5F3-6812-9A035765C5EB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14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A38DF1C-E499-BE39-F49C-B9D417AC4B19}"/>
              </a:ext>
            </a:extLst>
          </p:cNvPr>
          <p:cNvSpPr/>
          <p:nvPr/>
        </p:nvSpPr>
        <p:spPr>
          <a:xfrm>
            <a:off x="3811415" y="1896207"/>
            <a:ext cx="184628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Define Focusing Reduction Rules</a:t>
            </a:r>
          </a:p>
        </p:txBody>
      </p:sp>
    </p:spTree>
    <p:extLst>
      <p:ext uri="{BB962C8B-B14F-4D97-AF65-F5344CB8AC3E}">
        <p14:creationId xmlns:p14="http://schemas.microsoft.com/office/powerpoint/2010/main" val="203749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  <p:bldP spid="3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D3B6DA8B-3C35-B25A-26C5-EAEB3611D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D088360B-5F02-3347-91BC-019EBD56EB36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Reduction</a:t>
            </a:r>
            <a:r>
              <a:rPr lang="pt-PT" dirty="0"/>
              <a:t> Rules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A5314E92-E8DF-01F9-ABCE-EACE9E06D14E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D506EED5-9DEF-FA54-5028-BDE003383B70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AE69D295-29E6-23FA-5714-F1B25E930D1E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14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D5FCE-5DD0-D69C-71A9-785DB56FC5B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2188881" y="1836790"/>
            <a:ext cx="5091355" cy="2903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60CA5D-5403-E9C4-ED90-CDD6D4442C4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2536120" y="2267886"/>
            <a:ext cx="3410369" cy="2548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8EEC68-C0B3-03EC-76E5-A5F37806C35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2964386" y="2663491"/>
            <a:ext cx="2795728" cy="2903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82C159-1C47-361D-D518-AE44AF6EB0A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2607102" y="3086165"/>
            <a:ext cx="3339387" cy="29038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327F7D-9C87-E7FC-F7CB-F17E36C053E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2501397" y="3528011"/>
            <a:ext cx="3649127" cy="23230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34BA40F-7090-5C95-7829-2F9B89F384F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2524546" y="3901030"/>
            <a:ext cx="1705184" cy="2145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FB84D45-573F-F913-E271-96673656DE0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2987536" y="4263421"/>
            <a:ext cx="1577739" cy="21456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2B82FAC-37E7-B8E2-D7FB-9B21AE944D3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1080742" y="1882767"/>
            <a:ext cx="508168" cy="19842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FAC8702-674F-C732-32BD-31F182FD1F38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1029119" y="2296117"/>
            <a:ext cx="559791" cy="19842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3F805FB-2EC0-0B5E-D32A-69F6366ACE2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1050013" y="2709467"/>
            <a:ext cx="532366" cy="19842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C15314E-B7BF-4553-95E1-2061ED73DFAD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1037107" y="3133082"/>
            <a:ext cx="545272" cy="19842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A91E0EA-832B-DE5A-6F4F-1D28F581214C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991234" y="3546432"/>
            <a:ext cx="595282" cy="19842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D9543C6-4F91-EE50-C042-D35C8B5675EB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720992" y="3909096"/>
            <a:ext cx="867918" cy="19842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AE0504B-7FF7-4DFF-E4A8-36E626300D39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855461" y="4271487"/>
            <a:ext cx="735633" cy="1984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3636F7-E8B1-8BF1-50D2-BC03D369A963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2970257" y="3106817"/>
            <a:ext cx="2940348" cy="5298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AD03B3-B972-4C76-9A43-D7E67EF255C2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2394915" y="2284319"/>
            <a:ext cx="3934669" cy="48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98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C3ED9949-A438-3DAD-71EC-E0237417A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8;p30 1 1 1 1 2">
            <a:extLst>
              <a:ext uri="{FF2B5EF4-FFF2-40B4-BE49-F238E27FC236}">
                <a16:creationId xmlns:a16="http://schemas.microsoft.com/office/drawing/2014/main" id="{E0D98EE0-B844-4332-4743-0AFD59113D2D}"/>
              </a:ext>
            </a:extLst>
          </p:cNvPr>
          <p:cNvSpPr txBox="1">
            <a:spLocks/>
          </p:cNvSpPr>
          <p:nvPr/>
        </p:nvSpPr>
        <p:spPr>
          <a:xfrm>
            <a:off x="713274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Informal Derivation</a:t>
            </a:r>
          </a:p>
        </p:txBody>
      </p:sp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CDF3492B-CC53-A6A9-90F6-D14FEA279641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Example</a:t>
            </a:r>
            <a:r>
              <a:rPr lang="pt-PT" dirty="0"/>
              <a:t> – </a:t>
            </a:r>
            <a:r>
              <a:rPr lang="pt-PT" dirty="0" err="1"/>
              <a:t>Peirce’s</a:t>
            </a:r>
            <a:r>
              <a:rPr lang="pt-PT" dirty="0"/>
              <a:t> </a:t>
            </a:r>
            <a:r>
              <a:rPr lang="pt-PT" dirty="0" err="1"/>
              <a:t>Law</a:t>
            </a:r>
            <a:r>
              <a:rPr lang="pt-PT" dirty="0"/>
              <a:t> </a:t>
            </a:r>
            <a:endParaRPr lang="pt-PT" b="0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739E2957-0668-233F-A712-BDA0538408C1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7C2F1985-44A3-D1F2-6D23-1BEE26BA6029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E17CFC27-AA4B-168B-AB0B-DFF8DCB3CCB4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168;p30 1 1 1 1 1">
            <a:extLst>
              <a:ext uri="{FF2B5EF4-FFF2-40B4-BE49-F238E27FC236}">
                <a16:creationId xmlns:a16="http://schemas.microsoft.com/office/drawing/2014/main" id="{3830E0FF-CB9A-67B6-1B81-B296291955B2}"/>
              </a:ext>
            </a:extLst>
          </p:cNvPr>
          <p:cNvSpPr txBox="1">
            <a:spLocks/>
          </p:cNvSpPr>
          <p:nvPr/>
        </p:nvSpPr>
        <p:spPr>
          <a:xfrm>
            <a:off x="713273" y="3167188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Reduction Sequence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BF8EE6-CA26-45FC-CB6F-541419AB812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510318" y="2913236"/>
            <a:ext cx="1716478" cy="2000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586CA4-041E-6A97-674B-4848619AB78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510318" y="3623441"/>
            <a:ext cx="1750355" cy="232306"/>
          </a:xfrm>
          <a:prstGeom prst="rect">
            <a:avLst/>
          </a:prstGeom>
        </p:spPr>
      </p:pic>
      <p:sp>
        <p:nvSpPr>
          <p:cNvPr id="7" name="Merge 6">
            <a:extLst>
              <a:ext uri="{FF2B5EF4-FFF2-40B4-BE49-F238E27FC236}">
                <a16:creationId xmlns:a16="http://schemas.microsoft.com/office/drawing/2014/main" id="{EDB98A77-8070-2C6A-67AB-89E4025536E3}"/>
              </a:ext>
            </a:extLst>
          </p:cNvPr>
          <p:cNvSpPr/>
          <p:nvPr/>
        </p:nvSpPr>
        <p:spPr>
          <a:xfrm>
            <a:off x="4002555" y="2416686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709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2" grpId="0"/>
      <p:bldP spid="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8560FEB7-D844-3024-FED3-33CEF626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B5A1C64-DE82-F7BD-3A0F-90DE4366349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363855" y="2564777"/>
            <a:ext cx="2565038" cy="548500"/>
          </a:xfrm>
          <a:prstGeom prst="rect">
            <a:avLst/>
          </a:prstGeom>
        </p:spPr>
      </p:pic>
      <p:sp>
        <p:nvSpPr>
          <p:cNvPr id="4" name="Google Shape;168;p30 1 1 1 1 2">
            <a:extLst>
              <a:ext uri="{FF2B5EF4-FFF2-40B4-BE49-F238E27FC236}">
                <a16:creationId xmlns:a16="http://schemas.microsoft.com/office/drawing/2014/main" id="{02240A8C-BC08-F614-5E31-99B3A11C15E9}"/>
              </a:ext>
            </a:extLst>
          </p:cNvPr>
          <p:cNvSpPr txBox="1">
            <a:spLocks/>
          </p:cNvSpPr>
          <p:nvPr/>
        </p:nvSpPr>
        <p:spPr>
          <a:xfrm>
            <a:off x="713274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Informal Derivation</a:t>
            </a:r>
          </a:p>
        </p:txBody>
      </p:sp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DEBC5644-BB07-0CA8-CC32-F21097F326FC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Example</a:t>
            </a:r>
            <a:r>
              <a:rPr lang="pt-PT" dirty="0"/>
              <a:t> – </a:t>
            </a:r>
            <a:r>
              <a:rPr lang="pt-PT" dirty="0" err="1"/>
              <a:t>Peirce’s</a:t>
            </a:r>
            <a:r>
              <a:rPr lang="pt-PT" dirty="0"/>
              <a:t> </a:t>
            </a:r>
            <a:r>
              <a:rPr lang="pt-PT" dirty="0" err="1"/>
              <a:t>Law</a:t>
            </a:r>
            <a:r>
              <a:rPr lang="pt-PT" dirty="0"/>
              <a:t> 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E99D96C1-9ED2-FF17-DFD0-CB32D57F26AB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E6963BD1-F523-E34D-A1B6-089B5EF4C3C7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AD828541-7CDA-3D0A-9D3A-926665782E1B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168;p30 1 1 1 1 1">
            <a:extLst>
              <a:ext uri="{FF2B5EF4-FFF2-40B4-BE49-F238E27FC236}">
                <a16:creationId xmlns:a16="http://schemas.microsoft.com/office/drawing/2014/main" id="{CD1B5C17-1073-267E-E8D4-D88E8F851395}"/>
              </a:ext>
            </a:extLst>
          </p:cNvPr>
          <p:cNvSpPr txBox="1">
            <a:spLocks/>
          </p:cNvSpPr>
          <p:nvPr/>
        </p:nvSpPr>
        <p:spPr>
          <a:xfrm>
            <a:off x="713273" y="3167188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Reduction Sequence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DB4C39-1884-7EBE-D19F-F068EBD5B02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510318" y="3623441"/>
            <a:ext cx="1750355" cy="232306"/>
          </a:xfrm>
          <a:prstGeom prst="rect">
            <a:avLst/>
          </a:prstGeom>
        </p:spPr>
      </p:pic>
      <p:sp>
        <p:nvSpPr>
          <p:cNvPr id="7" name="Merge 6">
            <a:extLst>
              <a:ext uri="{FF2B5EF4-FFF2-40B4-BE49-F238E27FC236}">
                <a16:creationId xmlns:a16="http://schemas.microsoft.com/office/drawing/2014/main" id="{7BB29B02-D3BD-E114-9EAC-6F1389E7CEF8}"/>
              </a:ext>
            </a:extLst>
          </p:cNvPr>
          <p:cNvSpPr/>
          <p:nvPr/>
        </p:nvSpPr>
        <p:spPr>
          <a:xfrm>
            <a:off x="4002555" y="2133222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D8F1595-1953-1C97-0C31-4CDF43CCEB4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198334" y="3963338"/>
            <a:ext cx="2747332" cy="29038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5509E42-0EA2-2964-4F4F-7356F8752F2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530773" y="4009315"/>
            <a:ext cx="532366" cy="19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49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F15EC413-D8D4-695B-75F2-03A383829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DF892B8-CDE4-D8B8-EE43-91724E6D56C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647835" y="2276008"/>
            <a:ext cx="4162137" cy="837269"/>
          </a:xfrm>
          <a:prstGeom prst="rect">
            <a:avLst/>
          </a:prstGeom>
        </p:spPr>
      </p:pic>
      <p:sp>
        <p:nvSpPr>
          <p:cNvPr id="4" name="Google Shape;168;p30 1 1 1 1 2">
            <a:extLst>
              <a:ext uri="{FF2B5EF4-FFF2-40B4-BE49-F238E27FC236}">
                <a16:creationId xmlns:a16="http://schemas.microsoft.com/office/drawing/2014/main" id="{2716D84D-5B6D-EB7C-D0BC-7E219A5E7C75}"/>
              </a:ext>
            </a:extLst>
          </p:cNvPr>
          <p:cNvSpPr txBox="1">
            <a:spLocks/>
          </p:cNvSpPr>
          <p:nvPr/>
        </p:nvSpPr>
        <p:spPr>
          <a:xfrm>
            <a:off x="713274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Informal Derivation</a:t>
            </a:r>
          </a:p>
        </p:txBody>
      </p:sp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E80F66FE-3174-C89A-4D3C-3347DF4C15DA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Example</a:t>
            </a:r>
            <a:r>
              <a:rPr lang="pt-PT" dirty="0"/>
              <a:t> – </a:t>
            </a:r>
            <a:r>
              <a:rPr lang="pt-PT" dirty="0" err="1"/>
              <a:t>Peirce’s</a:t>
            </a:r>
            <a:r>
              <a:rPr lang="pt-PT" dirty="0"/>
              <a:t> </a:t>
            </a:r>
            <a:r>
              <a:rPr lang="pt-PT" dirty="0" err="1"/>
              <a:t>Law</a:t>
            </a:r>
            <a:r>
              <a:rPr lang="pt-PT" dirty="0"/>
              <a:t> 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8286667C-AED7-5110-4E1E-6415DDD458C8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5C10E5F5-79F5-A141-B391-574D0FA84665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4061E8B6-BF79-704C-F033-573DA7435CF9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</a:p>
        </p:txBody>
      </p:sp>
      <p:sp>
        <p:nvSpPr>
          <p:cNvPr id="2" name="Google Shape;168;p30 1 1 1 1 1">
            <a:extLst>
              <a:ext uri="{FF2B5EF4-FFF2-40B4-BE49-F238E27FC236}">
                <a16:creationId xmlns:a16="http://schemas.microsoft.com/office/drawing/2014/main" id="{02141D2E-F134-7B0E-2B99-3715CABDD3D9}"/>
              </a:ext>
            </a:extLst>
          </p:cNvPr>
          <p:cNvSpPr txBox="1">
            <a:spLocks/>
          </p:cNvSpPr>
          <p:nvPr/>
        </p:nvSpPr>
        <p:spPr>
          <a:xfrm>
            <a:off x="713273" y="3167188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Reduction Sequence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792588-7373-B376-2F83-EBFF0AC50F5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510318" y="3623441"/>
            <a:ext cx="1750355" cy="232306"/>
          </a:xfrm>
          <a:prstGeom prst="rect">
            <a:avLst/>
          </a:prstGeom>
        </p:spPr>
      </p:pic>
      <p:sp>
        <p:nvSpPr>
          <p:cNvPr id="7" name="Merge 6">
            <a:extLst>
              <a:ext uri="{FF2B5EF4-FFF2-40B4-BE49-F238E27FC236}">
                <a16:creationId xmlns:a16="http://schemas.microsoft.com/office/drawing/2014/main" id="{A744C929-7D20-9DFC-D384-02EDB07E0902}"/>
              </a:ext>
            </a:extLst>
          </p:cNvPr>
          <p:cNvSpPr/>
          <p:nvPr/>
        </p:nvSpPr>
        <p:spPr>
          <a:xfrm>
            <a:off x="4002555" y="1804038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678F801-A47B-A9B5-0372-D2066855DC9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198334" y="3963338"/>
            <a:ext cx="2747332" cy="2903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282A8C-A62C-60EE-1889-26E466D9FA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530773" y="4009315"/>
            <a:ext cx="532366" cy="1984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A380511-49B3-09E2-7347-B9DDE942BB2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203575" y="4400084"/>
            <a:ext cx="4889702" cy="2323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C6F00B-619F-66E3-FA82-7CEB42A3CBE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536014" y="4409187"/>
            <a:ext cx="508168" cy="19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983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808C1CDC-AF83-A581-027E-CD6B00DF0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Picture 198">
            <a:extLst>
              <a:ext uri="{FF2B5EF4-FFF2-40B4-BE49-F238E27FC236}">
                <a16:creationId xmlns:a16="http://schemas.microsoft.com/office/drawing/2014/main" id="{4F3BD71E-84EE-B83C-FD7A-7B401333C75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450757" y="2864556"/>
            <a:ext cx="4162137" cy="322647"/>
          </a:xfrm>
          <a:prstGeom prst="rect">
            <a:avLst/>
          </a:prstGeom>
        </p:spPr>
      </p:pic>
      <p:sp>
        <p:nvSpPr>
          <p:cNvPr id="4" name="Google Shape;168;p30 1 1 1 1 2">
            <a:extLst>
              <a:ext uri="{FF2B5EF4-FFF2-40B4-BE49-F238E27FC236}">
                <a16:creationId xmlns:a16="http://schemas.microsoft.com/office/drawing/2014/main" id="{6197B7AB-F034-C638-2F02-27B46589C03B}"/>
              </a:ext>
            </a:extLst>
          </p:cNvPr>
          <p:cNvSpPr txBox="1">
            <a:spLocks/>
          </p:cNvSpPr>
          <p:nvPr/>
        </p:nvSpPr>
        <p:spPr>
          <a:xfrm>
            <a:off x="713274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Informal Derivation</a:t>
            </a:r>
          </a:p>
        </p:txBody>
      </p:sp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E17CB18E-AEB1-9878-5D73-2304F7496B68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Example</a:t>
            </a:r>
            <a:r>
              <a:rPr lang="pt-PT" dirty="0"/>
              <a:t> – </a:t>
            </a:r>
            <a:r>
              <a:rPr lang="pt-PT" dirty="0" err="1"/>
              <a:t>Peirce’s</a:t>
            </a:r>
            <a:r>
              <a:rPr lang="pt-PT" dirty="0"/>
              <a:t> </a:t>
            </a:r>
            <a:r>
              <a:rPr lang="pt-PT" dirty="0" err="1"/>
              <a:t>Law</a:t>
            </a:r>
            <a:r>
              <a:rPr lang="pt-PT" dirty="0"/>
              <a:t> 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126C422D-6E53-D3BE-2C83-ED90B9C0727B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BCE76342-579E-726D-8253-940DBC0662F9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A9D400B9-819F-1692-647D-2F2A3BB07DD4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</a:p>
        </p:txBody>
      </p:sp>
      <p:sp>
        <p:nvSpPr>
          <p:cNvPr id="2" name="Google Shape;168;p30 1 1 1 1 1 1">
            <a:extLst>
              <a:ext uri="{FF2B5EF4-FFF2-40B4-BE49-F238E27FC236}">
                <a16:creationId xmlns:a16="http://schemas.microsoft.com/office/drawing/2014/main" id="{C9DFABAA-F87E-6622-BAB3-294ACE1A2E4A}"/>
              </a:ext>
            </a:extLst>
          </p:cNvPr>
          <p:cNvSpPr txBox="1">
            <a:spLocks/>
          </p:cNvSpPr>
          <p:nvPr/>
        </p:nvSpPr>
        <p:spPr>
          <a:xfrm>
            <a:off x="713273" y="3167188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Reduction Sequence</a:t>
            </a:r>
          </a:p>
        </p:txBody>
      </p:sp>
      <p:sp>
        <p:nvSpPr>
          <p:cNvPr id="16" name="Google Shape;168;p30 1 1 1 1 1 2 1 1">
            <a:extLst>
              <a:ext uri="{FF2B5EF4-FFF2-40B4-BE49-F238E27FC236}">
                <a16:creationId xmlns:a16="http://schemas.microsoft.com/office/drawing/2014/main" id="{24AEB8EC-F077-E68D-B005-397B76703419}"/>
              </a:ext>
            </a:extLst>
          </p:cNvPr>
          <p:cNvSpPr txBox="1">
            <a:spLocks/>
          </p:cNvSpPr>
          <p:nvPr/>
        </p:nvSpPr>
        <p:spPr>
          <a:xfrm>
            <a:off x="4098809" y="2908236"/>
            <a:ext cx="539496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None/>
            </a:pPr>
            <a:r>
              <a:rPr lang="en-GB" sz="2000" b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44" name="Google Shape;168;p30 1 1 1 1 1 2 1 2">
            <a:extLst>
              <a:ext uri="{FF2B5EF4-FFF2-40B4-BE49-F238E27FC236}">
                <a16:creationId xmlns:a16="http://schemas.microsoft.com/office/drawing/2014/main" id="{B8A1CC05-3279-E2AC-1C80-DB62676EB695}"/>
              </a:ext>
            </a:extLst>
          </p:cNvPr>
          <p:cNvSpPr txBox="1">
            <a:spLocks/>
          </p:cNvSpPr>
          <p:nvPr/>
        </p:nvSpPr>
        <p:spPr>
          <a:xfrm>
            <a:off x="2496433" y="3411916"/>
            <a:ext cx="539496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None/>
            </a:pPr>
            <a:r>
              <a:rPr lang="en-GB" sz="2000" b="1" dirty="0">
                <a:solidFill>
                  <a:schemeClr val="bg1"/>
                </a:solidFill>
              </a:rPr>
              <a:t>…</a:t>
            </a:r>
          </a:p>
        </p:txBody>
      </p:sp>
      <p:pic>
        <p:nvPicPr>
          <p:cNvPr id="204" name="Picture 203">
            <a:extLst>
              <a:ext uri="{FF2B5EF4-FFF2-40B4-BE49-F238E27FC236}">
                <a16:creationId xmlns:a16="http://schemas.microsoft.com/office/drawing/2014/main" id="{8E3655FE-B846-D911-DD48-4772DA39E75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198334" y="3615167"/>
            <a:ext cx="4889702" cy="232306"/>
          </a:xfrm>
          <a:prstGeom prst="rect">
            <a:avLst/>
          </a:prstGeom>
        </p:spPr>
      </p:pic>
      <p:pic>
        <p:nvPicPr>
          <p:cNvPr id="194" name="Picture 193">
            <a:extLst>
              <a:ext uri="{FF2B5EF4-FFF2-40B4-BE49-F238E27FC236}">
                <a16:creationId xmlns:a16="http://schemas.microsoft.com/office/drawing/2014/main" id="{17ED4837-0185-9138-0888-663C16EF215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537423" y="3625908"/>
            <a:ext cx="508168" cy="198428"/>
          </a:xfrm>
          <a:prstGeom prst="rect">
            <a:avLst/>
          </a:prstGeom>
        </p:spPr>
      </p:pic>
      <p:sp>
        <p:nvSpPr>
          <p:cNvPr id="195" name="Merge 194">
            <a:extLst>
              <a:ext uri="{FF2B5EF4-FFF2-40B4-BE49-F238E27FC236}">
                <a16:creationId xmlns:a16="http://schemas.microsoft.com/office/drawing/2014/main" id="{67DED7C6-0973-E517-C74C-BEB09144DD15}"/>
              </a:ext>
            </a:extLst>
          </p:cNvPr>
          <p:cNvSpPr/>
          <p:nvPr/>
        </p:nvSpPr>
        <p:spPr>
          <a:xfrm>
            <a:off x="4002555" y="2416686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7A19A09C-C317-B67B-94EF-789603C8B25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510318" y="3623441"/>
            <a:ext cx="1750355" cy="232306"/>
          </a:xfrm>
          <a:prstGeom prst="rect">
            <a:avLst/>
          </a:prstGeom>
        </p:spPr>
      </p:pic>
      <p:pic>
        <p:nvPicPr>
          <p:cNvPr id="211" name="Picture 210">
            <a:extLst>
              <a:ext uri="{FF2B5EF4-FFF2-40B4-BE49-F238E27FC236}">
                <a16:creationId xmlns:a16="http://schemas.microsoft.com/office/drawing/2014/main" id="{18E9BBE1-4F74-B4BB-DB79-780548E464D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3198334" y="3963338"/>
            <a:ext cx="2747332" cy="290383"/>
          </a:xfrm>
          <a:prstGeom prst="rect">
            <a:avLst/>
          </a:prstGeom>
        </p:spPr>
      </p:pic>
      <p:pic>
        <p:nvPicPr>
          <p:cNvPr id="212" name="Picture 211">
            <a:extLst>
              <a:ext uri="{FF2B5EF4-FFF2-40B4-BE49-F238E27FC236}">
                <a16:creationId xmlns:a16="http://schemas.microsoft.com/office/drawing/2014/main" id="{454912A4-9EBB-7D93-078A-B5A49CD0D6A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530773" y="4009315"/>
            <a:ext cx="532366" cy="198428"/>
          </a:xfrm>
          <a:prstGeom prst="rect">
            <a:avLst/>
          </a:prstGeom>
        </p:spPr>
      </p:pic>
      <p:pic>
        <p:nvPicPr>
          <p:cNvPr id="213" name="Picture 212">
            <a:extLst>
              <a:ext uri="{FF2B5EF4-FFF2-40B4-BE49-F238E27FC236}">
                <a16:creationId xmlns:a16="http://schemas.microsoft.com/office/drawing/2014/main" id="{AFC16360-49F0-51E9-153C-8DA0B6229FD1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203575" y="4400084"/>
            <a:ext cx="4889702" cy="232306"/>
          </a:xfrm>
          <a:prstGeom prst="rect">
            <a:avLst/>
          </a:prstGeom>
        </p:spPr>
      </p:pic>
      <p:pic>
        <p:nvPicPr>
          <p:cNvPr id="214" name="Picture 213">
            <a:extLst>
              <a:ext uri="{FF2B5EF4-FFF2-40B4-BE49-F238E27FC236}">
                <a16:creationId xmlns:a16="http://schemas.microsoft.com/office/drawing/2014/main" id="{27E6AEAE-704B-C15E-B3B1-58E8B274A9DA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536014" y="4409187"/>
            <a:ext cx="508168" cy="19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64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1"/>
      <p:bldP spid="19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1E4468B1-BFAF-D5A6-3123-9303BCBE5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D1B7E1F-A52F-F177-1111-FF87C7AC994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283329" y="2516821"/>
            <a:ext cx="4337979" cy="671106"/>
          </a:xfrm>
          <a:prstGeom prst="rect">
            <a:avLst/>
          </a:prstGeom>
        </p:spPr>
      </p:pic>
      <p:sp>
        <p:nvSpPr>
          <p:cNvPr id="4" name="Google Shape;168;p30 1 1 1 1 2">
            <a:extLst>
              <a:ext uri="{FF2B5EF4-FFF2-40B4-BE49-F238E27FC236}">
                <a16:creationId xmlns:a16="http://schemas.microsoft.com/office/drawing/2014/main" id="{27F6ED45-7DD6-321E-7201-CE174D492E80}"/>
              </a:ext>
            </a:extLst>
          </p:cNvPr>
          <p:cNvSpPr txBox="1">
            <a:spLocks/>
          </p:cNvSpPr>
          <p:nvPr/>
        </p:nvSpPr>
        <p:spPr>
          <a:xfrm>
            <a:off x="713274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Informal Derivation</a:t>
            </a:r>
          </a:p>
        </p:txBody>
      </p:sp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25C825BF-7058-2AA1-076B-0FC2D8D69E32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Example</a:t>
            </a:r>
            <a:r>
              <a:rPr lang="pt-PT" dirty="0"/>
              <a:t> – </a:t>
            </a:r>
            <a:r>
              <a:rPr lang="pt-PT" dirty="0" err="1"/>
              <a:t>Peirce’s</a:t>
            </a:r>
            <a:r>
              <a:rPr lang="pt-PT" dirty="0"/>
              <a:t> </a:t>
            </a:r>
            <a:r>
              <a:rPr lang="pt-PT" dirty="0" err="1"/>
              <a:t>Law</a:t>
            </a:r>
            <a:r>
              <a:rPr lang="pt-PT" dirty="0"/>
              <a:t> 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6BC14662-693A-8467-3362-3AC8F26F5A98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CCB17941-FAC2-72B8-41C7-D99F296FA762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51F6530F-7834-5403-499C-9D546ECA97C6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</a:p>
        </p:txBody>
      </p:sp>
      <p:sp>
        <p:nvSpPr>
          <p:cNvPr id="2" name="Google Shape;168;p30 1 1 1 1 1 1">
            <a:extLst>
              <a:ext uri="{FF2B5EF4-FFF2-40B4-BE49-F238E27FC236}">
                <a16:creationId xmlns:a16="http://schemas.microsoft.com/office/drawing/2014/main" id="{11DF274F-9ACF-F747-3C17-3641124F6809}"/>
              </a:ext>
            </a:extLst>
          </p:cNvPr>
          <p:cNvSpPr txBox="1">
            <a:spLocks/>
          </p:cNvSpPr>
          <p:nvPr/>
        </p:nvSpPr>
        <p:spPr>
          <a:xfrm>
            <a:off x="713273" y="3167188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Reduction Sequence</a:t>
            </a:r>
          </a:p>
        </p:txBody>
      </p:sp>
      <p:sp>
        <p:nvSpPr>
          <p:cNvPr id="44" name="Google Shape;168;p30 1 1 1 1 1 2 1 2 1">
            <a:extLst>
              <a:ext uri="{FF2B5EF4-FFF2-40B4-BE49-F238E27FC236}">
                <a16:creationId xmlns:a16="http://schemas.microsoft.com/office/drawing/2014/main" id="{DE1D167D-AFCC-E31C-1FE8-6AC45402DE95}"/>
              </a:ext>
            </a:extLst>
          </p:cNvPr>
          <p:cNvSpPr txBox="1">
            <a:spLocks/>
          </p:cNvSpPr>
          <p:nvPr/>
        </p:nvSpPr>
        <p:spPr>
          <a:xfrm>
            <a:off x="2496433" y="3411916"/>
            <a:ext cx="539496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None/>
            </a:pPr>
            <a:r>
              <a:rPr lang="en-GB" sz="2000" b="1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57" name="Merge 56">
            <a:extLst>
              <a:ext uri="{FF2B5EF4-FFF2-40B4-BE49-F238E27FC236}">
                <a16:creationId xmlns:a16="http://schemas.microsoft.com/office/drawing/2014/main" id="{D1413BCA-5D28-68F3-2E7C-B71F86CA2A6E}"/>
              </a:ext>
            </a:extLst>
          </p:cNvPr>
          <p:cNvSpPr/>
          <p:nvPr/>
        </p:nvSpPr>
        <p:spPr>
          <a:xfrm>
            <a:off x="4002555" y="2133222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5188C2-97E1-573C-A928-4320F0A1091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198334" y="3615167"/>
            <a:ext cx="4889702" cy="2323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B6DA6E5-6CDA-0576-8FD0-D9AC2368E22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205786" y="3961231"/>
            <a:ext cx="5522088" cy="290383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D9C0202C-11FD-B5EC-2124-C04EFA741CA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534205" y="4007897"/>
            <a:ext cx="532366" cy="198428"/>
          </a:xfrm>
          <a:prstGeom prst="rect">
            <a:avLst/>
          </a:prstGeom>
        </p:spPr>
      </p:pic>
      <p:sp>
        <p:nvSpPr>
          <p:cNvPr id="7" name="Google Shape;168;p30 1 1 1 1 1 2 1 1">
            <a:extLst>
              <a:ext uri="{FF2B5EF4-FFF2-40B4-BE49-F238E27FC236}">
                <a16:creationId xmlns:a16="http://schemas.microsoft.com/office/drawing/2014/main" id="{EE06FD4D-6EFD-BD87-336E-EA7E63F9DAF1}"/>
              </a:ext>
            </a:extLst>
          </p:cNvPr>
          <p:cNvSpPr txBox="1">
            <a:spLocks/>
          </p:cNvSpPr>
          <p:nvPr/>
        </p:nvSpPr>
        <p:spPr>
          <a:xfrm>
            <a:off x="4098809" y="2908236"/>
            <a:ext cx="539496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None/>
            </a:pPr>
            <a:r>
              <a:rPr lang="en-GB" sz="2000" b="1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1FBB13-D0E6-C893-B37A-45F0E54AA94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537423" y="3625908"/>
            <a:ext cx="508168" cy="19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18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7DF986F4-2E05-41AB-470D-CFAB49622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CAC3BF1D-9815-6574-07CB-1852C2D9479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198334" y="3615167"/>
            <a:ext cx="4889702" cy="23230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2F96AA1-E775-CF72-332D-144E99D1A55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279625" y="2228339"/>
            <a:ext cx="4479944" cy="958262"/>
          </a:xfrm>
          <a:prstGeom prst="rect">
            <a:avLst/>
          </a:prstGeom>
        </p:spPr>
      </p:pic>
      <p:sp>
        <p:nvSpPr>
          <p:cNvPr id="4" name="Google Shape;168;p30 1 1 1 1 2">
            <a:extLst>
              <a:ext uri="{FF2B5EF4-FFF2-40B4-BE49-F238E27FC236}">
                <a16:creationId xmlns:a16="http://schemas.microsoft.com/office/drawing/2014/main" id="{A2202F5E-AEB8-075A-83AA-2884D892D088}"/>
              </a:ext>
            </a:extLst>
          </p:cNvPr>
          <p:cNvSpPr txBox="1">
            <a:spLocks/>
          </p:cNvSpPr>
          <p:nvPr/>
        </p:nvSpPr>
        <p:spPr>
          <a:xfrm>
            <a:off x="713274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Informal Derivation</a:t>
            </a:r>
          </a:p>
        </p:txBody>
      </p:sp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412090E8-A587-8387-DE18-AB721F4DDB65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Example</a:t>
            </a:r>
            <a:r>
              <a:rPr lang="pt-PT" dirty="0"/>
              <a:t> – </a:t>
            </a:r>
            <a:r>
              <a:rPr lang="pt-PT" dirty="0" err="1"/>
              <a:t>Peirce’s</a:t>
            </a:r>
            <a:r>
              <a:rPr lang="pt-PT" dirty="0"/>
              <a:t> </a:t>
            </a:r>
            <a:r>
              <a:rPr lang="pt-PT" dirty="0" err="1"/>
              <a:t>Law</a:t>
            </a:r>
            <a:r>
              <a:rPr lang="pt-PT" dirty="0"/>
              <a:t> 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A373833B-9467-A57D-0E51-2652B04D41C4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1151DBBC-FD63-646C-FBBD-BBAC59D606B3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BF8F4EF8-BF82-0DF1-52D1-259CACBEE69B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</a:p>
        </p:txBody>
      </p:sp>
      <p:sp>
        <p:nvSpPr>
          <p:cNvPr id="2" name="Google Shape;168;p30 1 1 1 1 1 1">
            <a:extLst>
              <a:ext uri="{FF2B5EF4-FFF2-40B4-BE49-F238E27FC236}">
                <a16:creationId xmlns:a16="http://schemas.microsoft.com/office/drawing/2014/main" id="{E2F04E47-5963-0673-F575-30A819900C68}"/>
              </a:ext>
            </a:extLst>
          </p:cNvPr>
          <p:cNvSpPr txBox="1">
            <a:spLocks/>
          </p:cNvSpPr>
          <p:nvPr/>
        </p:nvSpPr>
        <p:spPr>
          <a:xfrm>
            <a:off x="713273" y="3167188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Reduction Sequence</a:t>
            </a:r>
          </a:p>
        </p:txBody>
      </p:sp>
      <p:sp>
        <p:nvSpPr>
          <p:cNvPr id="7" name="Merge 6">
            <a:extLst>
              <a:ext uri="{FF2B5EF4-FFF2-40B4-BE49-F238E27FC236}">
                <a16:creationId xmlns:a16="http://schemas.microsoft.com/office/drawing/2014/main" id="{F0F1C2F7-5572-A2CD-0591-2F1027CB8834}"/>
              </a:ext>
            </a:extLst>
          </p:cNvPr>
          <p:cNvSpPr/>
          <p:nvPr/>
        </p:nvSpPr>
        <p:spPr>
          <a:xfrm>
            <a:off x="4002555" y="1804038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0F54B54-7A0A-A370-4276-C3A51A8B810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205786" y="3961231"/>
            <a:ext cx="5522088" cy="29038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3668B2C-D249-5660-31D9-7E9F699CAB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534205" y="4007897"/>
            <a:ext cx="532366" cy="19842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C1E6E06-869D-13E9-779B-254C1A55A33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203577" y="4333358"/>
            <a:ext cx="4881635" cy="2323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703C4C2-09B2-7CBF-999C-590C3A2A306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531994" y="4380023"/>
            <a:ext cx="545272" cy="1984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8B322C-BFE9-5C7E-8453-F7E8D515C1F1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537423" y="3625908"/>
            <a:ext cx="508168" cy="198428"/>
          </a:xfrm>
          <a:prstGeom prst="rect">
            <a:avLst/>
          </a:prstGeom>
        </p:spPr>
      </p:pic>
      <p:sp>
        <p:nvSpPr>
          <p:cNvPr id="26" name="Google Shape;168;p30 1 1 1 1 1 2 1 1">
            <a:extLst>
              <a:ext uri="{FF2B5EF4-FFF2-40B4-BE49-F238E27FC236}">
                <a16:creationId xmlns:a16="http://schemas.microsoft.com/office/drawing/2014/main" id="{28BDB552-C6ED-F852-C523-18C8BD40F51A}"/>
              </a:ext>
            </a:extLst>
          </p:cNvPr>
          <p:cNvSpPr txBox="1">
            <a:spLocks/>
          </p:cNvSpPr>
          <p:nvPr/>
        </p:nvSpPr>
        <p:spPr>
          <a:xfrm>
            <a:off x="4098809" y="2908236"/>
            <a:ext cx="539496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None/>
            </a:pPr>
            <a:r>
              <a:rPr lang="en-GB" sz="2000" b="1" dirty="0">
                <a:solidFill>
                  <a:schemeClr val="tx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93510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2C5ABDBB-420B-3110-488F-BA1029FD6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F1C97D86-FC01-BCFB-CD15-66172F9FF9F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198335" y="3616919"/>
            <a:ext cx="4881635" cy="2323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3ED3396-3859-CE33-ED6A-A8502FD3305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998482" y="2874259"/>
            <a:ext cx="3445862" cy="321034"/>
          </a:xfrm>
          <a:prstGeom prst="rect">
            <a:avLst/>
          </a:prstGeom>
        </p:spPr>
      </p:pic>
      <p:sp>
        <p:nvSpPr>
          <p:cNvPr id="4" name="Google Shape;168;p30 1 1 1 1 2">
            <a:extLst>
              <a:ext uri="{FF2B5EF4-FFF2-40B4-BE49-F238E27FC236}">
                <a16:creationId xmlns:a16="http://schemas.microsoft.com/office/drawing/2014/main" id="{58AA4C0A-F7EA-D67C-D280-50FFB4F4524A}"/>
              </a:ext>
            </a:extLst>
          </p:cNvPr>
          <p:cNvSpPr txBox="1">
            <a:spLocks/>
          </p:cNvSpPr>
          <p:nvPr/>
        </p:nvSpPr>
        <p:spPr>
          <a:xfrm>
            <a:off x="713274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Informal Derivation</a:t>
            </a:r>
          </a:p>
        </p:txBody>
      </p:sp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F02D45A6-F94F-D1AF-FB7E-473E7FD2304F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Example</a:t>
            </a:r>
            <a:r>
              <a:rPr lang="pt-PT" dirty="0"/>
              <a:t> – </a:t>
            </a:r>
            <a:r>
              <a:rPr lang="pt-PT" dirty="0" err="1"/>
              <a:t>Peirce’s</a:t>
            </a:r>
            <a:r>
              <a:rPr lang="pt-PT" dirty="0"/>
              <a:t> </a:t>
            </a:r>
            <a:r>
              <a:rPr lang="pt-PT" dirty="0" err="1"/>
              <a:t>Law</a:t>
            </a:r>
            <a:r>
              <a:rPr lang="pt-PT" dirty="0"/>
              <a:t> 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E833DD4C-BAE2-76FA-55E3-4C8470654119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A84550F0-DD29-6F4E-D16F-2AF439FE4C49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5854220E-7468-D2D8-D51D-C59C8403ADDB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</a:p>
        </p:txBody>
      </p:sp>
      <p:sp>
        <p:nvSpPr>
          <p:cNvPr id="2" name="Google Shape;168;p30 1 1 1 1 1 1">
            <a:extLst>
              <a:ext uri="{FF2B5EF4-FFF2-40B4-BE49-F238E27FC236}">
                <a16:creationId xmlns:a16="http://schemas.microsoft.com/office/drawing/2014/main" id="{3BB7B2D7-9F0B-2344-134D-1AAB58EA688E}"/>
              </a:ext>
            </a:extLst>
          </p:cNvPr>
          <p:cNvSpPr txBox="1">
            <a:spLocks/>
          </p:cNvSpPr>
          <p:nvPr/>
        </p:nvSpPr>
        <p:spPr>
          <a:xfrm>
            <a:off x="713273" y="3167188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Reduction Sequence</a:t>
            </a:r>
          </a:p>
        </p:txBody>
      </p:sp>
      <p:sp>
        <p:nvSpPr>
          <p:cNvPr id="26" name="Google Shape;168;p30 1 1 1 1 1 2 1 1">
            <a:extLst>
              <a:ext uri="{FF2B5EF4-FFF2-40B4-BE49-F238E27FC236}">
                <a16:creationId xmlns:a16="http://schemas.microsoft.com/office/drawing/2014/main" id="{19C1A41E-6AC4-75ED-4100-7B49BC751D95}"/>
              </a:ext>
            </a:extLst>
          </p:cNvPr>
          <p:cNvSpPr txBox="1">
            <a:spLocks/>
          </p:cNvSpPr>
          <p:nvPr/>
        </p:nvSpPr>
        <p:spPr>
          <a:xfrm>
            <a:off x="4098809" y="2908236"/>
            <a:ext cx="539496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None/>
            </a:pPr>
            <a:r>
              <a:rPr lang="en-GB" sz="2000" b="1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D4709B-6412-5C2D-F92D-103BCCB4B11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526752" y="3625908"/>
            <a:ext cx="545272" cy="198428"/>
          </a:xfrm>
          <a:prstGeom prst="rect">
            <a:avLst/>
          </a:prstGeom>
        </p:spPr>
      </p:pic>
      <p:sp>
        <p:nvSpPr>
          <p:cNvPr id="11" name="Merge 10">
            <a:extLst>
              <a:ext uri="{FF2B5EF4-FFF2-40B4-BE49-F238E27FC236}">
                <a16:creationId xmlns:a16="http://schemas.microsoft.com/office/drawing/2014/main" id="{DD5229D2-1E99-A410-D543-88CFA560DCD9}"/>
              </a:ext>
            </a:extLst>
          </p:cNvPr>
          <p:cNvSpPr/>
          <p:nvPr/>
        </p:nvSpPr>
        <p:spPr>
          <a:xfrm>
            <a:off x="4002555" y="2416686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E969BA4-FD17-9699-BA6C-470D481AE62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3198334" y="3615167"/>
            <a:ext cx="4889702" cy="23230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2378DB5-015D-1641-48D5-313624A9810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3205786" y="3961231"/>
            <a:ext cx="5522088" cy="29038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73213A4-7A50-2130-D972-2966AE82F24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2534205" y="4007897"/>
            <a:ext cx="532366" cy="19842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3FEFB5C-D486-87EA-6F01-250C15952CA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203577" y="4333358"/>
            <a:ext cx="4881635" cy="23230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4B50B7-A1D9-36D0-592F-F3E443A04ECF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531994" y="4380023"/>
            <a:ext cx="545272" cy="19842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3A895D6-9F4F-19CB-BFD7-78D71AE6D733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2537423" y="3625908"/>
            <a:ext cx="508168" cy="19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59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DDA809C4-50C9-C83E-5FD1-F3F59D6F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775C1C-CD1A-5B6D-2E0D-276CD1CBF23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241243" y="2588501"/>
            <a:ext cx="4694503" cy="61141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8955008-AC71-36F4-C202-E83123F06BC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198335" y="3616919"/>
            <a:ext cx="4881635" cy="232307"/>
          </a:xfrm>
          <a:prstGeom prst="rect">
            <a:avLst/>
          </a:prstGeom>
        </p:spPr>
      </p:pic>
      <p:sp>
        <p:nvSpPr>
          <p:cNvPr id="4" name="Google Shape;168;p30 1 1 1 1 2">
            <a:extLst>
              <a:ext uri="{FF2B5EF4-FFF2-40B4-BE49-F238E27FC236}">
                <a16:creationId xmlns:a16="http://schemas.microsoft.com/office/drawing/2014/main" id="{6E85000B-7096-5EE5-5870-BF2192A1C25F}"/>
              </a:ext>
            </a:extLst>
          </p:cNvPr>
          <p:cNvSpPr txBox="1">
            <a:spLocks/>
          </p:cNvSpPr>
          <p:nvPr/>
        </p:nvSpPr>
        <p:spPr>
          <a:xfrm>
            <a:off x="713274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Informal Derivation</a:t>
            </a:r>
          </a:p>
        </p:txBody>
      </p:sp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70C7AA02-7AF5-A090-2BE9-516FA53FDB7B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Example</a:t>
            </a:r>
            <a:r>
              <a:rPr lang="pt-PT" dirty="0"/>
              <a:t> – </a:t>
            </a:r>
            <a:r>
              <a:rPr lang="pt-PT" dirty="0" err="1"/>
              <a:t>Peirce’s</a:t>
            </a:r>
            <a:r>
              <a:rPr lang="pt-PT" dirty="0"/>
              <a:t> </a:t>
            </a:r>
            <a:r>
              <a:rPr lang="pt-PT" dirty="0" err="1"/>
              <a:t>Law</a:t>
            </a:r>
            <a:r>
              <a:rPr lang="pt-PT" dirty="0"/>
              <a:t> 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352E7933-77C6-55BD-4AC3-542157FD7E82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6435E88F-8E83-1FAF-EC12-E9CB6C431AD3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C7FEFF54-1FE3-D86F-2484-9E43B54F1DD7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</a:p>
        </p:txBody>
      </p:sp>
      <p:sp>
        <p:nvSpPr>
          <p:cNvPr id="2" name="Google Shape;168;p30 1 1 1 1 1 1">
            <a:extLst>
              <a:ext uri="{FF2B5EF4-FFF2-40B4-BE49-F238E27FC236}">
                <a16:creationId xmlns:a16="http://schemas.microsoft.com/office/drawing/2014/main" id="{E43AA1E0-C23B-A307-0541-85BB36BD10B6}"/>
              </a:ext>
            </a:extLst>
          </p:cNvPr>
          <p:cNvSpPr txBox="1">
            <a:spLocks/>
          </p:cNvSpPr>
          <p:nvPr/>
        </p:nvSpPr>
        <p:spPr>
          <a:xfrm>
            <a:off x="713273" y="3167188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Reduction Sequence</a:t>
            </a:r>
          </a:p>
        </p:txBody>
      </p:sp>
      <p:sp>
        <p:nvSpPr>
          <p:cNvPr id="26" name="Google Shape;168;p30 1 1 1 1 1 2 1 1">
            <a:extLst>
              <a:ext uri="{FF2B5EF4-FFF2-40B4-BE49-F238E27FC236}">
                <a16:creationId xmlns:a16="http://schemas.microsoft.com/office/drawing/2014/main" id="{97A57F77-B343-1560-8B27-93F51AFA14F6}"/>
              </a:ext>
            </a:extLst>
          </p:cNvPr>
          <p:cNvSpPr txBox="1">
            <a:spLocks/>
          </p:cNvSpPr>
          <p:nvPr/>
        </p:nvSpPr>
        <p:spPr>
          <a:xfrm>
            <a:off x="4098809" y="2908236"/>
            <a:ext cx="539496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None/>
            </a:pPr>
            <a:r>
              <a:rPr lang="en-GB" sz="2000" b="1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D7D24C-F812-6A49-C20B-410EE6B68F7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526752" y="3625908"/>
            <a:ext cx="545272" cy="198428"/>
          </a:xfrm>
          <a:prstGeom prst="rect">
            <a:avLst/>
          </a:prstGeom>
        </p:spPr>
      </p:pic>
      <p:sp>
        <p:nvSpPr>
          <p:cNvPr id="13" name="Merge 12">
            <a:extLst>
              <a:ext uri="{FF2B5EF4-FFF2-40B4-BE49-F238E27FC236}">
                <a16:creationId xmlns:a16="http://schemas.microsoft.com/office/drawing/2014/main" id="{F8B5BDA8-B421-5541-800C-4F67017C7B69}"/>
              </a:ext>
            </a:extLst>
          </p:cNvPr>
          <p:cNvSpPr/>
          <p:nvPr/>
        </p:nvSpPr>
        <p:spPr>
          <a:xfrm>
            <a:off x="3184046" y="2102481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sp>
        <p:nvSpPr>
          <p:cNvPr id="14" name="Merge 13">
            <a:extLst>
              <a:ext uri="{FF2B5EF4-FFF2-40B4-BE49-F238E27FC236}">
                <a16:creationId xmlns:a16="http://schemas.microsoft.com/office/drawing/2014/main" id="{20E2C484-F4DC-B369-04AB-E0C97A28E719}"/>
              </a:ext>
            </a:extLst>
          </p:cNvPr>
          <p:cNvSpPr/>
          <p:nvPr/>
        </p:nvSpPr>
        <p:spPr>
          <a:xfrm>
            <a:off x="5294239" y="2102481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DA457CD-AF63-3162-0D4B-25F183641BA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534205" y="4007897"/>
            <a:ext cx="595282" cy="19842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EB24027-06AD-A523-0052-0CEF3ABBA40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205789" y="4014298"/>
            <a:ext cx="5743342" cy="19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419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0341435F-ECD7-FC05-74F2-DB5DECA29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17D498C3-E9F5-DDDD-C0F0-4252A12CD54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241245" y="2476739"/>
            <a:ext cx="4694503" cy="72595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509B813-E453-5B2F-2274-DBAA3918607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198335" y="3616919"/>
            <a:ext cx="4881635" cy="232307"/>
          </a:xfrm>
          <a:prstGeom prst="rect">
            <a:avLst/>
          </a:prstGeom>
        </p:spPr>
      </p:pic>
      <p:sp>
        <p:nvSpPr>
          <p:cNvPr id="4" name="Google Shape;168;p30 1 1 1 1 2">
            <a:extLst>
              <a:ext uri="{FF2B5EF4-FFF2-40B4-BE49-F238E27FC236}">
                <a16:creationId xmlns:a16="http://schemas.microsoft.com/office/drawing/2014/main" id="{6532FCFA-3754-D13D-5500-D32047ACFA6C}"/>
              </a:ext>
            </a:extLst>
          </p:cNvPr>
          <p:cNvSpPr txBox="1">
            <a:spLocks/>
          </p:cNvSpPr>
          <p:nvPr/>
        </p:nvSpPr>
        <p:spPr>
          <a:xfrm>
            <a:off x="713274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Informal Derivation</a:t>
            </a:r>
          </a:p>
        </p:txBody>
      </p:sp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CD75CD91-779F-7BC9-E7F4-956AE53613EB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Example</a:t>
            </a:r>
            <a:r>
              <a:rPr lang="pt-PT" dirty="0"/>
              <a:t> – </a:t>
            </a:r>
            <a:r>
              <a:rPr lang="pt-PT" dirty="0" err="1"/>
              <a:t>Peirce’s</a:t>
            </a:r>
            <a:r>
              <a:rPr lang="pt-PT" dirty="0"/>
              <a:t> </a:t>
            </a:r>
            <a:r>
              <a:rPr lang="pt-PT" dirty="0" err="1"/>
              <a:t>Law</a:t>
            </a:r>
            <a:r>
              <a:rPr lang="pt-PT" dirty="0"/>
              <a:t> 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A3C1A784-45B5-6972-78E9-27CD8FBF5910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1DBD1176-07D9-3855-960F-B9BE7389B81E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B4E65C02-4B26-A591-4F5B-665F77E95C0D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</a:p>
        </p:txBody>
      </p:sp>
      <p:sp>
        <p:nvSpPr>
          <p:cNvPr id="2" name="Google Shape;168;p30 1 1 1 1 1 1">
            <a:extLst>
              <a:ext uri="{FF2B5EF4-FFF2-40B4-BE49-F238E27FC236}">
                <a16:creationId xmlns:a16="http://schemas.microsoft.com/office/drawing/2014/main" id="{C01F7836-2FC7-A544-6C30-CC70A25E5B2D}"/>
              </a:ext>
            </a:extLst>
          </p:cNvPr>
          <p:cNvSpPr txBox="1">
            <a:spLocks/>
          </p:cNvSpPr>
          <p:nvPr/>
        </p:nvSpPr>
        <p:spPr>
          <a:xfrm>
            <a:off x="713273" y="3167188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Reduction Sequence</a:t>
            </a:r>
          </a:p>
        </p:txBody>
      </p:sp>
      <p:sp>
        <p:nvSpPr>
          <p:cNvPr id="26" name="Google Shape;168;p30 1 1 1 1 1 2 1 1">
            <a:extLst>
              <a:ext uri="{FF2B5EF4-FFF2-40B4-BE49-F238E27FC236}">
                <a16:creationId xmlns:a16="http://schemas.microsoft.com/office/drawing/2014/main" id="{D368042A-EF64-9373-8326-AC50DE4A7BDF}"/>
              </a:ext>
            </a:extLst>
          </p:cNvPr>
          <p:cNvSpPr txBox="1">
            <a:spLocks/>
          </p:cNvSpPr>
          <p:nvPr/>
        </p:nvSpPr>
        <p:spPr>
          <a:xfrm>
            <a:off x="4098809" y="2908236"/>
            <a:ext cx="539496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None/>
            </a:pPr>
            <a:r>
              <a:rPr lang="en-GB" sz="2000" b="1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6E8A08-8EA7-4B73-8897-D42BEFB95C7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526752" y="3625908"/>
            <a:ext cx="545272" cy="198428"/>
          </a:xfrm>
          <a:prstGeom prst="rect">
            <a:avLst/>
          </a:prstGeom>
        </p:spPr>
      </p:pic>
      <p:sp>
        <p:nvSpPr>
          <p:cNvPr id="13" name="Merge 12">
            <a:extLst>
              <a:ext uri="{FF2B5EF4-FFF2-40B4-BE49-F238E27FC236}">
                <a16:creationId xmlns:a16="http://schemas.microsoft.com/office/drawing/2014/main" id="{5C67E089-DC28-60BB-FE55-65E135F0A3C0}"/>
              </a:ext>
            </a:extLst>
          </p:cNvPr>
          <p:cNvSpPr/>
          <p:nvPr/>
        </p:nvSpPr>
        <p:spPr>
          <a:xfrm>
            <a:off x="3184046" y="2102481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FFCB0D-E7B6-007B-CDEE-6954EF8E1B1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534205" y="4007897"/>
            <a:ext cx="595282" cy="19842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7F94452-DE4E-5673-C015-C3C5A3AB4D9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205789" y="4014298"/>
            <a:ext cx="5743342" cy="1984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CC6093A-8479-5464-E81E-A034E9126E2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3205791" y="4351792"/>
            <a:ext cx="4788067" cy="23230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CAC147B-1048-B8F0-4333-39E6402F240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526752" y="4359846"/>
            <a:ext cx="566244" cy="19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58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26FDAE38-B770-7398-D93F-4AE2FBAD6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563C325-B222-F674-05F4-B82763E136D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097823" y="2869045"/>
            <a:ext cx="3029649" cy="322647"/>
          </a:xfrm>
          <a:prstGeom prst="rect">
            <a:avLst/>
          </a:prstGeom>
        </p:spPr>
      </p:pic>
      <p:sp>
        <p:nvSpPr>
          <p:cNvPr id="4" name="Google Shape;168;p30 1 1 1 1 2">
            <a:extLst>
              <a:ext uri="{FF2B5EF4-FFF2-40B4-BE49-F238E27FC236}">
                <a16:creationId xmlns:a16="http://schemas.microsoft.com/office/drawing/2014/main" id="{FDB9074F-792F-63E4-8E94-7F88123C6489}"/>
              </a:ext>
            </a:extLst>
          </p:cNvPr>
          <p:cNvSpPr txBox="1">
            <a:spLocks/>
          </p:cNvSpPr>
          <p:nvPr/>
        </p:nvSpPr>
        <p:spPr>
          <a:xfrm>
            <a:off x="713274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Informal Derivation</a:t>
            </a:r>
          </a:p>
        </p:txBody>
      </p:sp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08379EA6-5649-0D80-40B3-FD6254830705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Example</a:t>
            </a:r>
            <a:r>
              <a:rPr lang="pt-PT" dirty="0"/>
              <a:t> – </a:t>
            </a:r>
            <a:r>
              <a:rPr lang="pt-PT" dirty="0" err="1"/>
              <a:t>Peirce’s</a:t>
            </a:r>
            <a:r>
              <a:rPr lang="pt-PT" dirty="0"/>
              <a:t> </a:t>
            </a:r>
            <a:r>
              <a:rPr lang="pt-PT" dirty="0" err="1"/>
              <a:t>Law</a:t>
            </a:r>
            <a:r>
              <a:rPr lang="pt-PT" dirty="0"/>
              <a:t> 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CA5DD325-7F1A-C123-4389-BA1BAAC7FE3C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ED43419B-1B2C-ED4D-C70F-EC01F7CBC81C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991AB928-EEB1-4008-D334-0E6306BED982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</a:p>
        </p:txBody>
      </p:sp>
      <p:sp>
        <p:nvSpPr>
          <p:cNvPr id="2" name="Google Shape;168;p30 1 1 1 1 1 1">
            <a:extLst>
              <a:ext uri="{FF2B5EF4-FFF2-40B4-BE49-F238E27FC236}">
                <a16:creationId xmlns:a16="http://schemas.microsoft.com/office/drawing/2014/main" id="{A0D94128-D323-EC36-A369-42AF0221FAB9}"/>
              </a:ext>
            </a:extLst>
          </p:cNvPr>
          <p:cNvSpPr txBox="1">
            <a:spLocks/>
          </p:cNvSpPr>
          <p:nvPr/>
        </p:nvSpPr>
        <p:spPr>
          <a:xfrm>
            <a:off x="713273" y="3167188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Reduction Sequence</a:t>
            </a:r>
          </a:p>
        </p:txBody>
      </p:sp>
      <p:sp>
        <p:nvSpPr>
          <p:cNvPr id="26" name="Google Shape;168;p30 1 1 1 1 1 2 1 1">
            <a:extLst>
              <a:ext uri="{FF2B5EF4-FFF2-40B4-BE49-F238E27FC236}">
                <a16:creationId xmlns:a16="http://schemas.microsoft.com/office/drawing/2014/main" id="{A61A2ADC-572E-44BE-9DDC-D0C63F1CDAD2}"/>
              </a:ext>
            </a:extLst>
          </p:cNvPr>
          <p:cNvSpPr txBox="1">
            <a:spLocks/>
          </p:cNvSpPr>
          <p:nvPr/>
        </p:nvSpPr>
        <p:spPr>
          <a:xfrm>
            <a:off x="4098809" y="2908236"/>
            <a:ext cx="539496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None/>
            </a:pPr>
            <a:r>
              <a:rPr lang="en-GB" sz="2000" b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3" name="Merge 12">
            <a:extLst>
              <a:ext uri="{FF2B5EF4-FFF2-40B4-BE49-F238E27FC236}">
                <a16:creationId xmlns:a16="http://schemas.microsoft.com/office/drawing/2014/main" id="{6ABB18A8-D6F7-B85E-CCF0-08095E44F474}"/>
              </a:ext>
            </a:extLst>
          </p:cNvPr>
          <p:cNvSpPr/>
          <p:nvPr/>
        </p:nvSpPr>
        <p:spPr>
          <a:xfrm>
            <a:off x="4002555" y="2421797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77A88E0-AA2F-9357-5FBB-686F91BC396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198335" y="3615064"/>
            <a:ext cx="4788067" cy="232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78A867-5827-2866-87DB-C0B60B1EDB8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516266" y="3621983"/>
            <a:ext cx="566244" cy="19842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912C18E-EDBF-448F-0D31-5106F58CC9C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3198335" y="3616919"/>
            <a:ext cx="4881635" cy="23230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9746260-8F06-C4D9-FE29-FEB21D0058D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526752" y="3625908"/>
            <a:ext cx="545272" cy="19842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409436C-4739-6994-2703-49FF9EA68C6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2534205" y="4007897"/>
            <a:ext cx="595282" cy="19842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3EA6A39-794B-140A-65C9-D426CF2E0C4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3205789" y="4014298"/>
            <a:ext cx="5743342" cy="19842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6C81C0D-E29A-6374-72BA-5EEE94CAE5D5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205791" y="4351792"/>
            <a:ext cx="4788067" cy="23230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E0F7D38-AE5D-02C5-F230-84D77633533A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526752" y="4359846"/>
            <a:ext cx="566244" cy="19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41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613FB0EC-E008-A37C-112D-DF41834B4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FD0D8C-6506-4B0B-EB92-E5B02DA3DD5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544986" y="2583070"/>
            <a:ext cx="3591054" cy="611416"/>
          </a:xfrm>
          <a:prstGeom prst="rect">
            <a:avLst/>
          </a:prstGeom>
        </p:spPr>
      </p:pic>
      <p:sp>
        <p:nvSpPr>
          <p:cNvPr id="4" name="Google Shape;168;p30 1 1 1 1 2">
            <a:extLst>
              <a:ext uri="{FF2B5EF4-FFF2-40B4-BE49-F238E27FC236}">
                <a16:creationId xmlns:a16="http://schemas.microsoft.com/office/drawing/2014/main" id="{C6A687DD-CF73-902B-EDE3-21B89F3713CF}"/>
              </a:ext>
            </a:extLst>
          </p:cNvPr>
          <p:cNvSpPr txBox="1">
            <a:spLocks/>
          </p:cNvSpPr>
          <p:nvPr/>
        </p:nvSpPr>
        <p:spPr>
          <a:xfrm>
            <a:off x="713274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Informal Derivation</a:t>
            </a:r>
          </a:p>
        </p:txBody>
      </p:sp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6806ECC1-933F-939A-A70B-FBEBB68D1A6A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Example</a:t>
            </a:r>
            <a:r>
              <a:rPr lang="pt-PT" dirty="0"/>
              <a:t> – </a:t>
            </a:r>
            <a:r>
              <a:rPr lang="pt-PT" dirty="0" err="1"/>
              <a:t>Peirce’s</a:t>
            </a:r>
            <a:r>
              <a:rPr lang="pt-PT" dirty="0"/>
              <a:t> </a:t>
            </a:r>
            <a:r>
              <a:rPr lang="pt-PT" dirty="0" err="1"/>
              <a:t>Law</a:t>
            </a:r>
            <a:r>
              <a:rPr lang="pt-PT" dirty="0"/>
              <a:t> 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A1E34D06-500B-FCDB-9B2E-5FFDB0E97DAB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02E7D578-93FB-CA13-752B-6B535082950E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063FA4D4-61FA-4824-3F49-AF811D874833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</a:p>
        </p:txBody>
      </p:sp>
      <p:sp>
        <p:nvSpPr>
          <p:cNvPr id="2" name="Google Shape;168;p30 1 1 1 1 1 1">
            <a:extLst>
              <a:ext uri="{FF2B5EF4-FFF2-40B4-BE49-F238E27FC236}">
                <a16:creationId xmlns:a16="http://schemas.microsoft.com/office/drawing/2014/main" id="{FBFF56EC-FDAC-ACE1-1F55-EA22AC51DF54}"/>
              </a:ext>
            </a:extLst>
          </p:cNvPr>
          <p:cNvSpPr txBox="1">
            <a:spLocks/>
          </p:cNvSpPr>
          <p:nvPr/>
        </p:nvSpPr>
        <p:spPr>
          <a:xfrm>
            <a:off x="713273" y="3167188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Reduction Sequence</a:t>
            </a:r>
          </a:p>
        </p:txBody>
      </p:sp>
      <p:sp>
        <p:nvSpPr>
          <p:cNvPr id="26" name="Google Shape;168;p30 1 1 1 1 1 2 1 1">
            <a:extLst>
              <a:ext uri="{FF2B5EF4-FFF2-40B4-BE49-F238E27FC236}">
                <a16:creationId xmlns:a16="http://schemas.microsoft.com/office/drawing/2014/main" id="{A363CB49-B373-D6B2-FE7A-A63A5CDE0E56}"/>
              </a:ext>
            </a:extLst>
          </p:cNvPr>
          <p:cNvSpPr txBox="1">
            <a:spLocks/>
          </p:cNvSpPr>
          <p:nvPr/>
        </p:nvSpPr>
        <p:spPr>
          <a:xfrm>
            <a:off x="4098809" y="2908236"/>
            <a:ext cx="539496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None/>
            </a:pPr>
            <a:r>
              <a:rPr lang="en-GB" sz="2000" b="1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6B9D7B5-8BFE-22D2-D9A9-35003CA689A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198335" y="3615064"/>
            <a:ext cx="4788067" cy="232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CB25E4-4B0B-EA4C-3FF0-8FEF079EEEE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516266" y="3621983"/>
            <a:ext cx="566244" cy="19842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B4BD566-DBB3-79BE-975D-852C6FEF953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205786" y="3961233"/>
            <a:ext cx="5352698" cy="23230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E49D7E8-425D-F715-179D-15CF9E5EEE4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545305" y="3978172"/>
            <a:ext cx="559791" cy="198428"/>
          </a:xfrm>
          <a:prstGeom prst="rect">
            <a:avLst/>
          </a:prstGeom>
        </p:spPr>
      </p:pic>
      <p:sp>
        <p:nvSpPr>
          <p:cNvPr id="22" name="Merge 21">
            <a:extLst>
              <a:ext uri="{FF2B5EF4-FFF2-40B4-BE49-F238E27FC236}">
                <a16:creationId xmlns:a16="http://schemas.microsoft.com/office/drawing/2014/main" id="{6565DF79-B4DB-C7FF-9482-A959F36A911E}"/>
              </a:ext>
            </a:extLst>
          </p:cNvPr>
          <p:cNvSpPr/>
          <p:nvPr/>
        </p:nvSpPr>
        <p:spPr>
          <a:xfrm>
            <a:off x="3311939" y="2109473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7516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EBDEF347-6DF3-788E-3E23-ACD54C956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B0D2CD-BC64-1D92-32EC-CD47609EB0C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124390" y="2239203"/>
            <a:ext cx="4015333" cy="959875"/>
          </a:xfrm>
          <a:prstGeom prst="rect">
            <a:avLst/>
          </a:prstGeom>
        </p:spPr>
      </p:pic>
      <p:sp>
        <p:nvSpPr>
          <p:cNvPr id="4" name="Google Shape;168;p30 1 1 1 1 2">
            <a:extLst>
              <a:ext uri="{FF2B5EF4-FFF2-40B4-BE49-F238E27FC236}">
                <a16:creationId xmlns:a16="http://schemas.microsoft.com/office/drawing/2014/main" id="{8E3867E8-C0B7-40E0-2AAB-74EC51B7958E}"/>
              </a:ext>
            </a:extLst>
          </p:cNvPr>
          <p:cNvSpPr txBox="1">
            <a:spLocks/>
          </p:cNvSpPr>
          <p:nvPr/>
        </p:nvSpPr>
        <p:spPr>
          <a:xfrm>
            <a:off x="713274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Informal Derivation</a:t>
            </a:r>
          </a:p>
        </p:txBody>
      </p:sp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3C39AD03-5085-0167-02F7-4FD3854B4B28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Example</a:t>
            </a:r>
            <a:r>
              <a:rPr lang="pt-PT" dirty="0"/>
              <a:t> – </a:t>
            </a:r>
            <a:r>
              <a:rPr lang="pt-PT" dirty="0" err="1"/>
              <a:t>Peirce’s</a:t>
            </a:r>
            <a:r>
              <a:rPr lang="pt-PT" dirty="0"/>
              <a:t> </a:t>
            </a:r>
            <a:r>
              <a:rPr lang="pt-PT" dirty="0" err="1"/>
              <a:t>Law</a:t>
            </a:r>
            <a:r>
              <a:rPr lang="pt-PT" dirty="0"/>
              <a:t> 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96B26951-8BCD-9F22-E27E-7C6025CD1BF7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A9FF4B44-8105-9CE5-57DF-40B35B5D8308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56E419D7-3255-2D11-853C-5DCE243BB2D7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</a:p>
        </p:txBody>
      </p:sp>
      <p:sp>
        <p:nvSpPr>
          <p:cNvPr id="2" name="Google Shape;168;p30 1 1 1 1 1 1">
            <a:extLst>
              <a:ext uri="{FF2B5EF4-FFF2-40B4-BE49-F238E27FC236}">
                <a16:creationId xmlns:a16="http://schemas.microsoft.com/office/drawing/2014/main" id="{E3056AF5-AAAF-59E9-3CD1-5C6AB2DBED41}"/>
              </a:ext>
            </a:extLst>
          </p:cNvPr>
          <p:cNvSpPr txBox="1">
            <a:spLocks/>
          </p:cNvSpPr>
          <p:nvPr/>
        </p:nvSpPr>
        <p:spPr>
          <a:xfrm>
            <a:off x="713273" y="3167188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Reduction Sequence</a:t>
            </a:r>
          </a:p>
        </p:txBody>
      </p:sp>
      <p:sp>
        <p:nvSpPr>
          <p:cNvPr id="26" name="Google Shape;168;p30 1 1 1 1 1 2 1 1">
            <a:extLst>
              <a:ext uri="{FF2B5EF4-FFF2-40B4-BE49-F238E27FC236}">
                <a16:creationId xmlns:a16="http://schemas.microsoft.com/office/drawing/2014/main" id="{1F3EF6C0-4D99-49CF-2804-B15321A2B1EC}"/>
              </a:ext>
            </a:extLst>
          </p:cNvPr>
          <p:cNvSpPr txBox="1">
            <a:spLocks/>
          </p:cNvSpPr>
          <p:nvPr/>
        </p:nvSpPr>
        <p:spPr>
          <a:xfrm>
            <a:off x="4098809" y="2908236"/>
            <a:ext cx="539496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None/>
            </a:pPr>
            <a:r>
              <a:rPr lang="en-GB" sz="2000" b="1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5E2EAED-7A52-61CC-B426-BFB80237E44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198335" y="3615064"/>
            <a:ext cx="4788067" cy="232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91E1F9-F150-48FF-5C02-27CB5F6BAB3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516266" y="3621983"/>
            <a:ext cx="566244" cy="19842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997321D-E52E-554B-5A94-F6558769C58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205786" y="3961233"/>
            <a:ext cx="5352698" cy="2323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09F495-3975-AA48-B93C-CCC7C7166D6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545305" y="3978172"/>
            <a:ext cx="559791" cy="1984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E14A836-2EED-1852-E555-73A3EA9A78A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3198335" y="4307402"/>
            <a:ext cx="5724452" cy="27073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59353F1-6E99-E048-2DBD-F1E7465A76B1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526752" y="4359846"/>
            <a:ext cx="532366" cy="198428"/>
          </a:xfrm>
          <a:prstGeom prst="rect">
            <a:avLst/>
          </a:prstGeom>
        </p:spPr>
      </p:pic>
      <p:sp>
        <p:nvSpPr>
          <p:cNvPr id="28" name="Merge 27">
            <a:extLst>
              <a:ext uri="{FF2B5EF4-FFF2-40B4-BE49-F238E27FC236}">
                <a16:creationId xmlns:a16="http://schemas.microsoft.com/office/drawing/2014/main" id="{A3C45183-5AEB-EEF6-C44F-F96DF930AEB4}"/>
              </a:ext>
            </a:extLst>
          </p:cNvPr>
          <p:cNvSpPr/>
          <p:nvPr/>
        </p:nvSpPr>
        <p:spPr>
          <a:xfrm>
            <a:off x="3286867" y="1804336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46473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F95BC1CC-AB1A-977E-DED8-466A31129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AF0C46DA-89F2-80BB-24DE-910A9132D3A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198335" y="3580915"/>
            <a:ext cx="5724452" cy="270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D22934-E31C-D9AC-24ED-8DF0A4025F7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526752" y="3633359"/>
            <a:ext cx="532366" cy="1984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EFD3A8-A70E-9819-86EA-6E494468E88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885722" y="2812046"/>
            <a:ext cx="3174839" cy="382337"/>
          </a:xfrm>
          <a:prstGeom prst="rect">
            <a:avLst/>
          </a:prstGeom>
        </p:spPr>
      </p:pic>
      <p:sp>
        <p:nvSpPr>
          <p:cNvPr id="4" name="Google Shape;168;p30 1 1 1 1 2">
            <a:extLst>
              <a:ext uri="{FF2B5EF4-FFF2-40B4-BE49-F238E27FC236}">
                <a16:creationId xmlns:a16="http://schemas.microsoft.com/office/drawing/2014/main" id="{AA6D5AD2-E74E-EC25-3526-EC8B132C369B}"/>
              </a:ext>
            </a:extLst>
          </p:cNvPr>
          <p:cNvSpPr txBox="1">
            <a:spLocks/>
          </p:cNvSpPr>
          <p:nvPr/>
        </p:nvSpPr>
        <p:spPr>
          <a:xfrm>
            <a:off x="713274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Informal Derivation</a:t>
            </a:r>
          </a:p>
        </p:txBody>
      </p:sp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2F35F52A-0F83-545A-6B51-446CA25BFC7B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Example</a:t>
            </a:r>
            <a:r>
              <a:rPr lang="pt-PT" dirty="0"/>
              <a:t> – </a:t>
            </a:r>
            <a:r>
              <a:rPr lang="pt-PT" dirty="0" err="1"/>
              <a:t>Peirce’s</a:t>
            </a:r>
            <a:r>
              <a:rPr lang="pt-PT" dirty="0"/>
              <a:t> </a:t>
            </a:r>
            <a:r>
              <a:rPr lang="pt-PT" dirty="0" err="1"/>
              <a:t>Law</a:t>
            </a:r>
            <a:r>
              <a:rPr lang="pt-PT" dirty="0"/>
              <a:t> 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5C60E396-2329-ED20-9AB4-EF89353446FF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9D9BD865-D650-ABDB-77B1-9EAC2C850336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D8B6ADA3-1F0A-46A0-244B-221DE22A29DE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</a:p>
        </p:txBody>
      </p:sp>
      <p:sp>
        <p:nvSpPr>
          <p:cNvPr id="2" name="Google Shape;168;p30 1 1 1 1 1 1">
            <a:extLst>
              <a:ext uri="{FF2B5EF4-FFF2-40B4-BE49-F238E27FC236}">
                <a16:creationId xmlns:a16="http://schemas.microsoft.com/office/drawing/2014/main" id="{64BDB013-F2A6-D627-2301-67F87D198169}"/>
              </a:ext>
            </a:extLst>
          </p:cNvPr>
          <p:cNvSpPr txBox="1">
            <a:spLocks/>
          </p:cNvSpPr>
          <p:nvPr/>
        </p:nvSpPr>
        <p:spPr>
          <a:xfrm>
            <a:off x="713273" y="3167188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Reduction Sequence</a:t>
            </a:r>
          </a:p>
        </p:txBody>
      </p:sp>
      <p:sp>
        <p:nvSpPr>
          <p:cNvPr id="26" name="Google Shape;168;p30 1 1 1 1 1 2 1 1">
            <a:extLst>
              <a:ext uri="{FF2B5EF4-FFF2-40B4-BE49-F238E27FC236}">
                <a16:creationId xmlns:a16="http://schemas.microsoft.com/office/drawing/2014/main" id="{2474D911-B3FA-58C0-D072-6CCE0B57BD73}"/>
              </a:ext>
            </a:extLst>
          </p:cNvPr>
          <p:cNvSpPr txBox="1">
            <a:spLocks/>
          </p:cNvSpPr>
          <p:nvPr/>
        </p:nvSpPr>
        <p:spPr>
          <a:xfrm>
            <a:off x="4098809" y="2908236"/>
            <a:ext cx="539496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None/>
            </a:pPr>
            <a:r>
              <a:rPr lang="en-GB" sz="2000" b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0" name="Merge 9">
            <a:extLst>
              <a:ext uri="{FF2B5EF4-FFF2-40B4-BE49-F238E27FC236}">
                <a16:creationId xmlns:a16="http://schemas.microsoft.com/office/drawing/2014/main" id="{95AC4D05-934C-38D4-E320-D03AD9511567}"/>
              </a:ext>
            </a:extLst>
          </p:cNvPr>
          <p:cNvSpPr/>
          <p:nvPr/>
        </p:nvSpPr>
        <p:spPr>
          <a:xfrm>
            <a:off x="4002555" y="2416686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FF432DE-B227-6890-8CB1-272DCC6AF2D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3198335" y="3615064"/>
            <a:ext cx="4788067" cy="23230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CB892FA-9B39-F302-D511-94A549A996A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516266" y="3621983"/>
            <a:ext cx="566244" cy="19842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CC5EBE3-36DB-8AA0-CD35-C5B76AE134C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3205786" y="3961233"/>
            <a:ext cx="5352698" cy="23230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27C1140-AB02-3431-6794-0CB69E0A332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2545305" y="3978172"/>
            <a:ext cx="559791" cy="19842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FD537D1-3963-2561-2381-853C6BFBFC72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198335" y="4307402"/>
            <a:ext cx="5724452" cy="27073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8DC318A-1F71-818C-15CE-5628BF150038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526752" y="4359846"/>
            <a:ext cx="532366" cy="19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17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0F9FC16D-7385-286F-6659-7A7EBC6B2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9AEB0F97-C28A-59CE-7266-3CBA57FB840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198335" y="3580915"/>
            <a:ext cx="5724452" cy="270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E38D08-5D87-EFF6-E5DA-BD7C68152CE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526752" y="3633359"/>
            <a:ext cx="532366" cy="1984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655BE2-0052-6445-3623-157CB7A5B86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816448" y="2521093"/>
            <a:ext cx="3460381" cy="669493"/>
          </a:xfrm>
          <a:prstGeom prst="rect">
            <a:avLst/>
          </a:prstGeom>
        </p:spPr>
      </p:pic>
      <p:sp>
        <p:nvSpPr>
          <p:cNvPr id="4" name="Google Shape;168;p30 1 1 1 1 2">
            <a:extLst>
              <a:ext uri="{FF2B5EF4-FFF2-40B4-BE49-F238E27FC236}">
                <a16:creationId xmlns:a16="http://schemas.microsoft.com/office/drawing/2014/main" id="{72C774D6-57F9-EEFE-BF8D-3F33354B1E03}"/>
              </a:ext>
            </a:extLst>
          </p:cNvPr>
          <p:cNvSpPr txBox="1">
            <a:spLocks/>
          </p:cNvSpPr>
          <p:nvPr/>
        </p:nvSpPr>
        <p:spPr>
          <a:xfrm>
            <a:off x="713274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Informal Derivation</a:t>
            </a:r>
          </a:p>
        </p:txBody>
      </p:sp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7F40220F-95AE-9683-B902-874EC95E83F8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Example</a:t>
            </a:r>
            <a:r>
              <a:rPr lang="pt-PT" dirty="0"/>
              <a:t> – </a:t>
            </a:r>
            <a:r>
              <a:rPr lang="pt-PT" dirty="0" err="1"/>
              <a:t>Peirce’s</a:t>
            </a:r>
            <a:r>
              <a:rPr lang="pt-PT" dirty="0"/>
              <a:t> </a:t>
            </a:r>
            <a:r>
              <a:rPr lang="pt-PT" dirty="0" err="1"/>
              <a:t>Law</a:t>
            </a:r>
            <a:r>
              <a:rPr lang="pt-PT" dirty="0"/>
              <a:t> 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02A65C19-EB70-CC84-9101-C9C3496499FB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A94397EF-5246-6CC7-1072-044497A5627B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857D842B-E8AB-7B9C-A605-98E8EA725735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</a:p>
        </p:txBody>
      </p:sp>
      <p:sp>
        <p:nvSpPr>
          <p:cNvPr id="2" name="Google Shape;168;p30 1 1 1 1 1 1">
            <a:extLst>
              <a:ext uri="{FF2B5EF4-FFF2-40B4-BE49-F238E27FC236}">
                <a16:creationId xmlns:a16="http://schemas.microsoft.com/office/drawing/2014/main" id="{B037F41F-F205-8D93-F634-088283649824}"/>
              </a:ext>
            </a:extLst>
          </p:cNvPr>
          <p:cNvSpPr txBox="1">
            <a:spLocks/>
          </p:cNvSpPr>
          <p:nvPr/>
        </p:nvSpPr>
        <p:spPr>
          <a:xfrm>
            <a:off x="713273" y="3167188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Reduction Sequence</a:t>
            </a:r>
          </a:p>
        </p:txBody>
      </p:sp>
      <p:sp>
        <p:nvSpPr>
          <p:cNvPr id="26" name="Google Shape;168;p30 1 1 1 1 1 2 1 1">
            <a:extLst>
              <a:ext uri="{FF2B5EF4-FFF2-40B4-BE49-F238E27FC236}">
                <a16:creationId xmlns:a16="http://schemas.microsoft.com/office/drawing/2014/main" id="{9D3C17D9-3A60-4FFC-9D38-076F904A2CAC}"/>
              </a:ext>
            </a:extLst>
          </p:cNvPr>
          <p:cNvSpPr txBox="1">
            <a:spLocks/>
          </p:cNvSpPr>
          <p:nvPr/>
        </p:nvSpPr>
        <p:spPr>
          <a:xfrm>
            <a:off x="4098809" y="2908236"/>
            <a:ext cx="539496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None/>
            </a:pPr>
            <a:r>
              <a:rPr lang="en-GB" sz="2000" b="1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E540DB5-4725-DB0B-27A8-0CDDCC2EE91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205787" y="3961231"/>
            <a:ext cx="5717000" cy="199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874D25-453E-08AA-8F51-E9074EE6C19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545305" y="3978172"/>
            <a:ext cx="545272" cy="198428"/>
          </a:xfrm>
          <a:prstGeom prst="rect">
            <a:avLst/>
          </a:prstGeom>
        </p:spPr>
      </p:pic>
      <p:sp>
        <p:nvSpPr>
          <p:cNvPr id="16" name="Merge 15">
            <a:extLst>
              <a:ext uri="{FF2B5EF4-FFF2-40B4-BE49-F238E27FC236}">
                <a16:creationId xmlns:a16="http://schemas.microsoft.com/office/drawing/2014/main" id="{6B04A49A-406A-139B-9A3B-8684E69D98F0}"/>
              </a:ext>
            </a:extLst>
          </p:cNvPr>
          <p:cNvSpPr/>
          <p:nvPr/>
        </p:nvSpPr>
        <p:spPr>
          <a:xfrm>
            <a:off x="3989428" y="2042657"/>
            <a:ext cx="732004" cy="393354"/>
          </a:xfrm>
          <a:prstGeom prst="flowChartMerg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PT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7333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58302163-6767-4C09-3071-77791910E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C38CD499-549B-9528-58FE-85C38430915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198335" y="3580915"/>
            <a:ext cx="5724452" cy="270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BA79EA-7C51-A0D1-F53F-B32DBBFDDBB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526752" y="3633359"/>
            <a:ext cx="532366" cy="1984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0679F2-0310-75E0-B6BD-391F5024A26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816450" y="2410253"/>
            <a:ext cx="3460381" cy="785646"/>
          </a:xfrm>
          <a:prstGeom prst="rect">
            <a:avLst/>
          </a:prstGeom>
        </p:spPr>
      </p:pic>
      <p:sp>
        <p:nvSpPr>
          <p:cNvPr id="4" name="Google Shape;168;p30 1 1 1 1 2">
            <a:extLst>
              <a:ext uri="{FF2B5EF4-FFF2-40B4-BE49-F238E27FC236}">
                <a16:creationId xmlns:a16="http://schemas.microsoft.com/office/drawing/2014/main" id="{B1EF364A-F862-EE9F-1DE9-5ABC175A6145}"/>
              </a:ext>
            </a:extLst>
          </p:cNvPr>
          <p:cNvSpPr txBox="1">
            <a:spLocks/>
          </p:cNvSpPr>
          <p:nvPr/>
        </p:nvSpPr>
        <p:spPr>
          <a:xfrm>
            <a:off x="713274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Informal Derivation</a:t>
            </a:r>
          </a:p>
        </p:txBody>
      </p:sp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F7A4C100-8266-B5E5-8A4B-A330CA99A885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Example</a:t>
            </a:r>
            <a:r>
              <a:rPr lang="pt-PT" dirty="0"/>
              <a:t> – </a:t>
            </a:r>
            <a:r>
              <a:rPr lang="pt-PT" dirty="0" err="1"/>
              <a:t>Peirce’s</a:t>
            </a:r>
            <a:r>
              <a:rPr lang="pt-PT" dirty="0"/>
              <a:t> </a:t>
            </a:r>
            <a:r>
              <a:rPr lang="pt-PT" dirty="0" err="1"/>
              <a:t>Law</a:t>
            </a:r>
            <a:r>
              <a:rPr lang="pt-PT" dirty="0"/>
              <a:t> 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0FB0FC39-40AE-72DC-CD99-419980FF0F35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7C2CFE17-17D6-8777-4108-C62ABDC4E0C5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5B62C426-5068-12AA-8E4D-C341E6375611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</a:p>
        </p:txBody>
      </p:sp>
      <p:sp>
        <p:nvSpPr>
          <p:cNvPr id="2" name="Google Shape;168;p30 1 1 1 1 1 1">
            <a:extLst>
              <a:ext uri="{FF2B5EF4-FFF2-40B4-BE49-F238E27FC236}">
                <a16:creationId xmlns:a16="http://schemas.microsoft.com/office/drawing/2014/main" id="{2AA7E2AF-35F4-F09D-5FDF-7D93B6B39336}"/>
              </a:ext>
            </a:extLst>
          </p:cNvPr>
          <p:cNvSpPr txBox="1">
            <a:spLocks/>
          </p:cNvSpPr>
          <p:nvPr/>
        </p:nvSpPr>
        <p:spPr>
          <a:xfrm>
            <a:off x="713273" y="3167188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Reduction Sequence</a:t>
            </a:r>
          </a:p>
        </p:txBody>
      </p:sp>
      <p:sp>
        <p:nvSpPr>
          <p:cNvPr id="26" name="Google Shape;168;p30 1 1 1 1 1 2 1 1">
            <a:extLst>
              <a:ext uri="{FF2B5EF4-FFF2-40B4-BE49-F238E27FC236}">
                <a16:creationId xmlns:a16="http://schemas.microsoft.com/office/drawing/2014/main" id="{BE3F9DBB-CADD-A616-2D6C-A8B9A34ABE5A}"/>
              </a:ext>
            </a:extLst>
          </p:cNvPr>
          <p:cNvSpPr txBox="1">
            <a:spLocks/>
          </p:cNvSpPr>
          <p:nvPr/>
        </p:nvSpPr>
        <p:spPr>
          <a:xfrm>
            <a:off x="4098809" y="2908236"/>
            <a:ext cx="539496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None/>
            </a:pPr>
            <a:r>
              <a:rPr lang="en-GB" sz="2000" b="1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4A4BED6-5C9B-2642-3DF8-335F03C3BBA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205787" y="3961231"/>
            <a:ext cx="5717000" cy="199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58DEA9-8828-D907-6CA7-916E7A2FC9E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545305" y="3978172"/>
            <a:ext cx="545272" cy="19842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53BB400-D05C-C0DA-A153-4DC84C12165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3198337" y="4307400"/>
            <a:ext cx="3569134" cy="1880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167809-3570-7823-63EE-622F80C75970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526752" y="4359846"/>
            <a:ext cx="566244" cy="19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389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C732C5C2-E3A6-E4A7-E0F2-1AB390DF7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67D7710-E8FB-88B1-9A93-12195696F83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466466" y="4307399"/>
            <a:ext cx="3304420" cy="188008"/>
          </a:xfrm>
          <a:prstGeom prst="rect">
            <a:avLst/>
          </a:prstGeom>
        </p:spPr>
      </p:pic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B856F1FF-443C-2950-1B26-6126846A0BDE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Example</a:t>
            </a:r>
            <a:r>
              <a:rPr lang="pt-PT" dirty="0"/>
              <a:t> – </a:t>
            </a:r>
            <a:r>
              <a:rPr lang="pt-PT" dirty="0" err="1"/>
              <a:t>Peirce’s</a:t>
            </a:r>
            <a:r>
              <a:rPr lang="pt-PT" dirty="0"/>
              <a:t> </a:t>
            </a:r>
            <a:r>
              <a:rPr lang="pt-PT" dirty="0" err="1"/>
              <a:t>Law</a:t>
            </a:r>
            <a:r>
              <a:rPr lang="pt-PT" dirty="0"/>
              <a:t> </a:t>
            </a:r>
            <a:endParaRPr lang="pt-PT" b="0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D9EC197B-765D-F921-AADA-240A3DDEB200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5E04AFCA-A3CB-9D35-CA7F-26CBAAF20927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CA085E99-9E3D-EB19-280C-13AB0D7B621B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3F885CE-611C-5DA6-D504-96A9E7EAC0C6}"/>
              </a:ext>
            </a:extLst>
          </p:cNvPr>
          <p:cNvSpPr/>
          <p:nvPr/>
        </p:nvSpPr>
        <p:spPr>
          <a:xfrm>
            <a:off x="3240290" y="4200524"/>
            <a:ext cx="3776324" cy="4017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B87026-8EDC-0731-607B-E43AC8FD79A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734328" y="1736201"/>
            <a:ext cx="4788248" cy="225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2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3882A121-64E1-BC17-96AA-E425D5554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19BCCAE4-E914-0272-A358-E400CCDBD488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Results</a:t>
            </a:r>
            <a:endParaRPr lang="pt-PT" b="0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AB8BBC0B-35D8-048E-3A83-51CFE6D39936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4BDD2900-8E0D-64AA-0287-2FB327C820C7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43C043B5-C646-85D5-1D92-6B0549E4064D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16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168;p30 1 1 1 1 1">
            <a:extLst>
              <a:ext uri="{FF2B5EF4-FFF2-40B4-BE49-F238E27FC236}">
                <a16:creationId xmlns:a16="http://schemas.microsoft.com/office/drawing/2014/main" id="{31D790A5-1EEC-19E0-F281-2D178C935691}"/>
              </a:ext>
            </a:extLst>
          </p:cNvPr>
          <p:cNvSpPr txBox="1">
            <a:spLocks/>
          </p:cNvSpPr>
          <p:nvPr/>
        </p:nvSpPr>
        <p:spPr>
          <a:xfrm>
            <a:off x="713275" y="1639756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Conservativity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CE4C81-AF42-0A83-E97E-2A439F2F48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114500" y="2194653"/>
            <a:ext cx="1176130" cy="2455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Google Shape;168;p30 2 1 1">
                <a:extLst>
                  <a:ext uri="{FF2B5EF4-FFF2-40B4-BE49-F238E27FC236}">
                    <a16:creationId xmlns:a16="http://schemas.microsoft.com/office/drawing/2014/main" id="{3D403AD2-63CE-5A8E-C7AB-68CD241F95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9754" y="2010779"/>
                <a:ext cx="1254328" cy="5579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396875" algn="l"/>
                  </a:tabLst>
                </a:pPr>
                <a:r>
                  <a:rPr lang="en-GB" sz="16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LKT</a:t>
                </a:r>
                <a14:m>
                  <m:oMath xmlns:m="http://schemas.openxmlformats.org/officeDocument/2006/math">
                    <m:r>
                      <a:rPr lang="en-GB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derives</a:t>
                </a:r>
                <a:endParaRPr lang="en-GB" sz="16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16" name="Google Shape;168;p30 2 1 1">
                <a:extLst>
                  <a:ext uri="{FF2B5EF4-FFF2-40B4-BE49-F238E27FC236}">
                    <a16:creationId xmlns:a16="http://schemas.microsoft.com/office/drawing/2014/main" id="{3D403AD2-63CE-5A8E-C7AB-68CD241F9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54" y="2010779"/>
                <a:ext cx="1254328" cy="557934"/>
              </a:xfrm>
              <a:prstGeom prst="rect">
                <a:avLst/>
              </a:prstGeom>
              <a:blipFill>
                <a:blip r:embed="rId13"/>
                <a:stretch>
                  <a:fillRect l="-2000" r="-1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Google Shape;168;p30 2 2 1">
                <a:extLst>
                  <a:ext uri="{FF2B5EF4-FFF2-40B4-BE49-F238E27FC236}">
                    <a16:creationId xmlns:a16="http://schemas.microsoft.com/office/drawing/2014/main" id="{78106CC3-C7D2-F91B-D4A9-0D1C428D66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53054" y="2018514"/>
                <a:ext cx="1618842" cy="5579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b="1" dirty="0"/>
                  <a:t>iff</a:t>
                </a: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GB" sz="1600" dirty="0"/>
                          <m:t>LKT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sub>
                    </m:sSub>
                  </m:oMath>
                </a14:m>
                <a:r>
                  <a:rPr lang="en-GB" sz="1600" b="1" dirty="0"/>
                  <a:t> </a:t>
                </a:r>
                <a:r>
                  <a:rPr lang="en-GB" sz="1600" dirty="0"/>
                  <a:t>derives</a:t>
                </a:r>
              </a:p>
            </p:txBody>
          </p:sp>
        </mc:Choice>
        <mc:Fallback>
          <p:sp>
            <p:nvSpPr>
              <p:cNvPr id="17" name="Google Shape;168;p30 2 2 1">
                <a:extLst>
                  <a:ext uri="{FF2B5EF4-FFF2-40B4-BE49-F238E27FC236}">
                    <a16:creationId xmlns:a16="http://schemas.microsoft.com/office/drawing/2014/main" id="{78106CC3-C7D2-F91B-D4A9-0D1C428D6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054" y="2018514"/>
                <a:ext cx="1618842" cy="557934"/>
              </a:xfrm>
              <a:prstGeom prst="rect">
                <a:avLst/>
              </a:prstGeom>
              <a:blipFill>
                <a:blip r:embed="rId14"/>
                <a:stretch>
                  <a:fillRect l="-2344" r="-7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DF27F04A-650F-36C2-E263-1D14E70BD11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956601" y="2194655"/>
            <a:ext cx="1837456" cy="245523"/>
          </a:xfrm>
          <a:prstGeom prst="rect">
            <a:avLst/>
          </a:prstGeom>
        </p:spPr>
      </p:pic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5F9F768-9A67-3089-6CD6-4A4482F60AFE}"/>
              </a:ext>
            </a:extLst>
          </p:cNvPr>
          <p:cNvSpPr/>
          <p:nvPr/>
        </p:nvSpPr>
        <p:spPr>
          <a:xfrm>
            <a:off x="929632" y="2096117"/>
            <a:ext cx="2423422" cy="40176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A4BA903-1B0F-0D17-57DE-4FF20DC139D6}"/>
              </a:ext>
            </a:extLst>
          </p:cNvPr>
          <p:cNvSpPr/>
          <p:nvPr/>
        </p:nvSpPr>
        <p:spPr>
          <a:xfrm>
            <a:off x="3667841" y="2097135"/>
            <a:ext cx="3157896" cy="40176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4" name="Down Arrow 43">
            <a:extLst>
              <a:ext uri="{FF2B5EF4-FFF2-40B4-BE49-F238E27FC236}">
                <a16:creationId xmlns:a16="http://schemas.microsoft.com/office/drawing/2014/main" id="{163B9C9B-7CA7-F09E-9407-3D59994C51D1}"/>
              </a:ext>
            </a:extLst>
          </p:cNvPr>
          <p:cNvSpPr/>
          <p:nvPr/>
        </p:nvSpPr>
        <p:spPr>
          <a:xfrm>
            <a:off x="4971896" y="2010779"/>
            <a:ext cx="66159" cy="183874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" name="Google Shape;168;p30 1 1 1 1 2">
            <a:extLst>
              <a:ext uri="{FF2B5EF4-FFF2-40B4-BE49-F238E27FC236}">
                <a16:creationId xmlns:a16="http://schemas.microsoft.com/office/drawing/2014/main" id="{C4E55423-C0FF-091F-C695-D63B3F31A191}"/>
              </a:ext>
            </a:extLst>
          </p:cNvPr>
          <p:cNvSpPr txBox="1">
            <a:spLocks/>
          </p:cNvSpPr>
          <p:nvPr/>
        </p:nvSpPr>
        <p:spPr>
          <a:xfrm>
            <a:off x="713275" y="2725611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Record of </a:t>
            </a:r>
            <a:r>
              <a:rPr lang="en-GB" sz="2000" b="1" dirty="0" err="1"/>
              <a:t>Serch</a:t>
            </a:r>
            <a:endParaRPr lang="en-GB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7851AF-3184-3B95-CAEE-4930ABFAD8D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235532" y="3323976"/>
            <a:ext cx="904868" cy="174242"/>
          </a:xfrm>
          <a:prstGeom prst="rect">
            <a:avLst/>
          </a:prstGeom>
        </p:spPr>
      </p:pic>
      <p:sp>
        <p:nvSpPr>
          <p:cNvPr id="5" name="Google Shape;168;p30 2 1 1 2 1">
            <a:extLst>
              <a:ext uri="{FF2B5EF4-FFF2-40B4-BE49-F238E27FC236}">
                <a16:creationId xmlns:a16="http://schemas.microsoft.com/office/drawing/2014/main" id="{C40688F0-3FE3-A8AB-CCF7-588668ADA223}"/>
              </a:ext>
            </a:extLst>
          </p:cNvPr>
          <p:cNvSpPr txBox="1">
            <a:spLocks/>
          </p:cNvSpPr>
          <p:nvPr/>
        </p:nvSpPr>
        <p:spPr>
          <a:xfrm>
            <a:off x="909754" y="3117167"/>
            <a:ext cx="713974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If</a:t>
            </a:r>
            <a:endParaRPr lang="en-GB"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Google Shape;168;p30 2 2 1 2 1">
            <a:extLst>
              <a:ext uri="{FF2B5EF4-FFF2-40B4-BE49-F238E27FC236}">
                <a16:creationId xmlns:a16="http://schemas.microsoft.com/office/drawing/2014/main" id="{F7213816-CBFE-419A-561A-C5CB0CB341AB}"/>
              </a:ext>
            </a:extLst>
          </p:cNvPr>
          <p:cNvSpPr txBox="1">
            <a:spLocks/>
          </p:cNvSpPr>
          <p:nvPr/>
        </p:nvSpPr>
        <p:spPr>
          <a:xfrm>
            <a:off x="2160276" y="3117167"/>
            <a:ext cx="621312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GB" sz="1600" b="1" dirty="0"/>
              <a:t>then</a:t>
            </a:r>
            <a:endParaRPr lang="en-GB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9D22E3-AE3A-9313-2CBF-C011DC76D3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2831281" y="3308136"/>
            <a:ext cx="669246" cy="190082"/>
          </a:xfrm>
          <a:prstGeom prst="rect">
            <a:avLst/>
          </a:prstGeom>
        </p:spPr>
      </p:pic>
      <p:sp>
        <p:nvSpPr>
          <p:cNvPr id="8" name="Google Shape;168;p30 1 1 1 1 3">
            <a:extLst>
              <a:ext uri="{FF2B5EF4-FFF2-40B4-BE49-F238E27FC236}">
                <a16:creationId xmlns:a16="http://schemas.microsoft.com/office/drawing/2014/main" id="{0BC406DE-0C6B-D984-C2A1-09FE7E218C68}"/>
              </a:ext>
            </a:extLst>
          </p:cNvPr>
          <p:cNvSpPr txBox="1">
            <a:spLocks/>
          </p:cNvSpPr>
          <p:nvPr/>
        </p:nvSpPr>
        <p:spPr>
          <a:xfrm>
            <a:off x="713275" y="3732253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Subject Reduction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80202B-1EC9-AF26-AAD3-D0B6386A907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245304" y="4314519"/>
            <a:ext cx="904868" cy="174242"/>
          </a:xfrm>
          <a:prstGeom prst="rect">
            <a:avLst/>
          </a:prstGeom>
        </p:spPr>
      </p:pic>
      <p:sp>
        <p:nvSpPr>
          <p:cNvPr id="11" name="Google Shape;168;p30 2 1 1 2 2 1">
            <a:extLst>
              <a:ext uri="{FF2B5EF4-FFF2-40B4-BE49-F238E27FC236}">
                <a16:creationId xmlns:a16="http://schemas.microsoft.com/office/drawing/2014/main" id="{D1EB447E-721A-971D-9441-1FF43F758D43}"/>
              </a:ext>
            </a:extLst>
          </p:cNvPr>
          <p:cNvSpPr txBox="1">
            <a:spLocks/>
          </p:cNvSpPr>
          <p:nvPr/>
        </p:nvSpPr>
        <p:spPr>
          <a:xfrm>
            <a:off x="909754" y="4113870"/>
            <a:ext cx="713974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If</a:t>
            </a:r>
            <a:endParaRPr lang="en-GB"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Google Shape;168;p30 2 2 1 2 2 1">
            <a:extLst>
              <a:ext uri="{FF2B5EF4-FFF2-40B4-BE49-F238E27FC236}">
                <a16:creationId xmlns:a16="http://schemas.microsoft.com/office/drawing/2014/main" id="{71308EE6-5F3B-BAEF-8374-29294D71C6F2}"/>
              </a:ext>
            </a:extLst>
          </p:cNvPr>
          <p:cNvSpPr txBox="1">
            <a:spLocks/>
          </p:cNvSpPr>
          <p:nvPr/>
        </p:nvSpPr>
        <p:spPr>
          <a:xfrm>
            <a:off x="3311939" y="4112533"/>
            <a:ext cx="1329636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GB" sz="1600" b="1" dirty="0"/>
              <a:t>then </a:t>
            </a:r>
            <a:r>
              <a:rPr lang="en-GB" sz="1600" dirty="0"/>
              <a:t>there is</a:t>
            </a:r>
            <a:endParaRPr lang="pt-PT" sz="1600" b="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EE3C69E-33FB-3E45-E7A1-BE61DF97F54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5827252" y="4303812"/>
            <a:ext cx="754387" cy="188102"/>
          </a:xfrm>
          <a:prstGeom prst="rect">
            <a:avLst/>
          </a:prstGeom>
        </p:spPr>
      </p:pic>
      <p:sp>
        <p:nvSpPr>
          <p:cNvPr id="20" name="Google Shape;168;p30 2 1 1 2 2 2">
            <a:extLst>
              <a:ext uri="{FF2B5EF4-FFF2-40B4-BE49-F238E27FC236}">
                <a16:creationId xmlns:a16="http://schemas.microsoft.com/office/drawing/2014/main" id="{15D87B99-20F3-4F19-7051-A063DD9A6A5F}"/>
              </a:ext>
            </a:extLst>
          </p:cNvPr>
          <p:cNvSpPr txBox="1">
            <a:spLocks/>
          </p:cNvSpPr>
          <p:nvPr/>
        </p:nvSpPr>
        <p:spPr>
          <a:xfrm>
            <a:off x="2160276" y="4116916"/>
            <a:ext cx="621312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and</a:t>
            </a:r>
            <a:endParaRPr lang="en-GB"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6FC13A6-1EE3-5895-2753-D3ADF65C51D1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2704074" y="4301832"/>
            <a:ext cx="607865" cy="18810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AEB768C-F8D8-8F0E-F030-70ED1D12E53A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4611756" y="4305792"/>
            <a:ext cx="207902" cy="184142"/>
          </a:xfrm>
          <a:prstGeom prst="rect">
            <a:avLst/>
          </a:prstGeom>
        </p:spPr>
      </p:pic>
      <p:sp>
        <p:nvSpPr>
          <p:cNvPr id="34" name="Google Shape;168;p30 2 2 1 2 2 2 1">
            <a:extLst>
              <a:ext uri="{FF2B5EF4-FFF2-40B4-BE49-F238E27FC236}">
                <a16:creationId xmlns:a16="http://schemas.microsoft.com/office/drawing/2014/main" id="{D4576F75-9672-D060-4674-958C3F8BEABB}"/>
              </a:ext>
            </a:extLst>
          </p:cNvPr>
          <p:cNvSpPr txBox="1">
            <a:spLocks/>
          </p:cNvSpPr>
          <p:nvPr/>
        </p:nvSpPr>
        <p:spPr>
          <a:xfrm>
            <a:off x="4805237" y="4118896"/>
            <a:ext cx="1105366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GB" sz="1600" dirty="0"/>
              <a:t>such that</a:t>
            </a:r>
            <a:endParaRPr lang="pt-PT" sz="1600" dirty="0"/>
          </a:p>
        </p:txBody>
      </p:sp>
      <p:sp>
        <p:nvSpPr>
          <p:cNvPr id="41" name="Google Shape;168;p30 2 2 1 2 2 2 2">
            <a:extLst>
              <a:ext uri="{FF2B5EF4-FFF2-40B4-BE49-F238E27FC236}">
                <a16:creationId xmlns:a16="http://schemas.microsoft.com/office/drawing/2014/main" id="{E2FAC126-BD85-EA08-ABAA-C2B8E766A738}"/>
              </a:ext>
            </a:extLst>
          </p:cNvPr>
          <p:cNvSpPr txBox="1">
            <a:spLocks/>
          </p:cNvSpPr>
          <p:nvPr/>
        </p:nvSpPr>
        <p:spPr>
          <a:xfrm>
            <a:off x="6561761" y="4112533"/>
            <a:ext cx="1105366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GB" sz="1600" dirty="0"/>
              <a:t>and</a:t>
            </a:r>
            <a:endParaRPr lang="pt-PT" sz="16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ECE48EA-C581-A601-4D16-D0460F17E509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7074077" y="4300236"/>
            <a:ext cx="1098910" cy="18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080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7" grpId="0"/>
      <p:bldP spid="39" grpId="0" animBg="1"/>
      <p:bldP spid="39" grpId="1" animBg="1"/>
      <p:bldP spid="40" grpId="0" animBg="1"/>
      <p:bldP spid="40" grpId="1" animBg="1"/>
      <p:bldP spid="44" grpId="0" animBg="1"/>
      <p:bldP spid="44" grpId="1" animBg="1"/>
      <p:bldP spid="3" grpId="0"/>
      <p:bldP spid="5" grpId="0"/>
      <p:bldP spid="6" grpId="0"/>
      <p:bldP spid="8" grpId="0"/>
      <p:bldP spid="11" grpId="0"/>
      <p:bldP spid="12" grpId="0"/>
      <p:bldP spid="20" grpId="0"/>
      <p:bldP spid="34" grpId="0"/>
      <p:bldP spid="4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A0E3F248-2B2A-AE91-BB27-A8735748B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CE58AAC5-317C-4DCE-C811-395959749961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Main</a:t>
            </a:r>
            <a:r>
              <a:rPr lang="pt-PT" dirty="0"/>
              <a:t> </a:t>
            </a:r>
            <a:r>
              <a:rPr lang="pt-PT" dirty="0" err="1"/>
              <a:t>Result</a:t>
            </a:r>
            <a:endParaRPr lang="pt-PT" b="0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0891E4EF-9CB2-59E7-0433-0DA8E17786A0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LKT &amp; Focusing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7795B52E-180C-3E8B-FF4E-04A677A05CE7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7CF1CA8F-DBC9-6BFF-2BC4-66997570E9EB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168;p30 1 1 1 1 1">
            <a:extLst>
              <a:ext uri="{FF2B5EF4-FFF2-40B4-BE49-F238E27FC236}">
                <a16:creationId xmlns:a16="http://schemas.microsoft.com/office/drawing/2014/main" id="{92812382-C5B1-2CD4-74C6-880E5D611A7A}"/>
              </a:ext>
            </a:extLst>
          </p:cNvPr>
          <p:cNvSpPr txBox="1">
            <a:spLocks/>
          </p:cNvSpPr>
          <p:nvPr/>
        </p:nvSpPr>
        <p:spPr>
          <a:xfrm>
            <a:off x="713275" y="1639756"/>
            <a:ext cx="4021284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Proof Search as Normalization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EB1760C-C329-9125-CE63-8E7E2A9313C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78869" y="2272338"/>
            <a:ext cx="1176130" cy="2455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3" name="Google Shape;168;p30 2 1 1">
                <a:extLst>
                  <a:ext uri="{FF2B5EF4-FFF2-40B4-BE49-F238E27FC236}">
                    <a16:creationId xmlns:a16="http://schemas.microsoft.com/office/drawing/2014/main" id="{51B61764-E3D7-63D6-53C1-24D22B47B4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5324" y="2088464"/>
                <a:ext cx="1293272" cy="5579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LKT</a:t>
                </a:r>
                <a14:m>
                  <m:oMath xmlns:m="http://schemas.openxmlformats.org/officeDocument/2006/math">
                    <m:r>
                      <a:rPr lang="en-GB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derives</a:t>
                </a:r>
                <a:endParaRPr lang="en-GB" sz="16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33" name="Google Shape;168;p30 2 1 1">
                <a:extLst>
                  <a:ext uri="{FF2B5EF4-FFF2-40B4-BE49-F238E27FC236}">
                    <a16:creationId xmlns:a16="http://schemas.microsoft.com/office/drawing/2014/main" id="{51B61764-E3D7-63D6-53C1-24D22B47B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324" y="2088464"/>
                <a:ext cx="1293272" cy="557934"/>
              </a:xfrm>
              <a:prstGeom prst="rect">
                <a:avLst/>
              </a:prstGeom>
              <a:blipFill>
                <a:blip r:embed="rId6"/>
                <a:stretch>
                  <a:fillRect l="-29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Google Shape;168;p30 2 2 1">
            <a:extLst>
              <a:ext uri="{FF2B5EF4-FFF2-40B4-BE49-F238E27FC236}">
                <a16:creationId xmlns:a16="http://schemas.microsoft.com/office/drawing/2014/main" id="{7612FE86-2AC5-B660-BEC3-A9C9E78D26CE}"/>
              </a:ext>
            </a:extLst>
          </p:cNvPr>
          <p:cNvSpPr txBox="1">
            <a:spLocks/>
          </p:cNvSpPr>
          <p:nvPr/>
        </p:nvSpPr>
        <p:spPr>
          <a:xfrm>
            <a:off x="3833535" y="2096199"/>
            <a:ext cx="465187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GB" sz="1600" b="1" dirty="0" err="1"/>
              <a:t>iff</a:t>
            </a:r>
            <a:endParaRPr lang="en-GB" sz="16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AE1D53C5-DA38-DBF6-13DE-BB2FC325712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9940" y="2270206"/>
            <a:ext cx="1502833" cy="285123"/>
          </a:xfrm>
          <a:prstGeom prst="rect">
            <a:avLst/>
          </a:prstGeom>
        </p:spPr>
      </p:pic>
      <p:sp>
        <p:nvSpPr>
          <p:cNvPr id="192" name="Rounded Rectangle 191">
            <a:extLst>
              <a:ext uri="{FF2B5EF4-FFF2-40B4-BE49-F238E27FC236}">
                <a16:creationId xmlns:a16="http://schemas.microsoft.com/office/drawing/2014/main" id="{178E8948-8C12-86A7-0702-90BF80495D5F}"/>
              </a:ext>
            </a:extLst>
          </p:cNvPr>
          <p:cNvSpPr/>
          <p:nvPr/>
        </p:nvSpPr>
        <p:spPr>
          <a:xfrm>
            <a:off x="1235324" y="2188026"/>
            <a:ext cx="2482099" cy="40176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93" name="Google Shape;168;p30 2 2 1 2 2 2 1">
            <a:extLst>
              <a:ext uri="{FF2B5EF4-FFF2-40B4-BE49-F238E27FC236}">
                <a16:creationId xmlns:a16="http://schemas.microsoft.com/office/drawing/2014/main" id="{E8512DB3-BB1B-2614-67A3-AB8791649E37}"/>
              </a:ext>
            </a:extLst>
          </p:cNvPr>
          <p:cNvSpPr txBox="1">
            <a:spLocks/>
          </p:cNvSpPr>
          <p:nvPr/>
        </p:nvSpPr>
        <p:spPr>
          <a:xfrm>
            <a:off x="1294001" y="2548780"/>
            <a:ext cx="2423422" cy="44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GB" sz="1600" b="1" dirty="0">
                <a:solidFill>
                  <a:schemeClr val="tx1"/>
                </a:solidFill>
              </a:rPr>
              <a:t>proof search succeeds</a:t>
            </a:r>
            <a:endParaRPr lang="pt-PT" sz="1600" b="1" dirty="0">
              <a:solidFill>
                <a:schemeClr val="tx1"/>
              </a:solidFill>
            </a:endParaRPr>
          </a:p>
        </p:txBody>
      </p:sp>
      <p:sp>
        <p:nvSpPr>
          <p:cNvPr id="194" name="Rounded Rectangle 193">
            <a:extLst>
              <a:ext uri="{FF2B5EF4-FFF2-40B4-BE49-F238E27FC236}">
                <a16:creationId xmlns:a16="http://schemas.microsoft.com/office/drawing/2014/main" id="{246D5843-0891-ADB2-F15E-F0CA742B98CF}"/>
              </a:ext>
            </a:extLst>
          </p:cNvPr>
          <p:cNvSpPr/>
          <p:nvPr/>
        </p:nvSpPr>
        <p:spPr>
          <a:xfrm>
            <a:off x="4298723" y="2183322"/>
            <a:ext cx="1502834" cy="40176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95" name="Google Shape;168;p30 2 2 1 2 2 2 1">
            <a:extLst>
              <a:ext uri="{FF2B5EF4-FFF2-40B4-BE49-F238E27FC236}">
                <a16:creationId xmlns:a16="http://schemas.microsoft.com/office/drawing/2014/main" id="{EAD5F879-1770-8C73-D4FC-44FF701B8BE5}"/>
              </a:ext>
            </a:extLst>
          </p:cNvPr>
          <p:cNvSpPr txBox="1">
            <a:spLocks/>
          </p:cNvSpPr>
          <p:nvPr/>
        </p:nvSpPr>
        <p:spPr>
          <a:xfrm>
            <a:off x="4239472" y="2566360"/>
            <a:ext cx="2966065" cy="44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chemeClr val="tx1"/>
                </a:solidFill>
              </a:rPr>
              <a:t>formal sequent normalizes</a:t>
            </a:r>
            <a:endParaRPr lang="pt-PT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05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3" grpId="0"/>
      <p:bldP spid="35" grpId="0"/>
      <p:bldP spid="192" grpId="0" animBg="1"/>
      <p:bldP spid="193" grpId="0"/>
      <p:bldP spid="194" grpId="0" animBg="1"/>
      <p:bldP spid="19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875C16E7-1B89-EB23-D54C-4AF7ED937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>
            <a:extLst>
              <a:ext uri="{FF2B5EF4-FFF2-40B4-BE49-F238E27FC236}">
                <a16:creationId xmlns:a16="http://schemas.microsoft.com/office/drawing/2014/main" id="{48FFCE22-1A05-4D89-ADA9-1E44861C5A15}"/>
              </a:ext>
            </a:extLst>
          </p:cNvPr>
          <p:cNvSpPr txBox="1"/>
          <p:nvPr/>
        </p:nvSpPr>
        <p:spPr>
          <a:xfrm>
            <a:off x="1343324" y="4851000"/>
            <a:ext cx="378747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Proof Search in Classical Propositional Logic with Partial Proof Terms</a:t>
            </a:r>
            <a:endParaRPr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2">
            <a:extLst>
              <a:ext uri="{FF2B5EF4-FFF2-40B4-BE49-F238E27FC236}">
                <a16:creationId xmlns:a16="http://schemas.microsoft.com/office/drawing/2014/main" id="{7C6981AF-3EF1-31E9-4C1C-0689460E98AE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  <a:endParaRPr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2">
            <a:extLst>
              <a:ext uri="{FF2B5EF4-FFF2-40B4-BE49-F238E27FC236}">
                <a16:creationId xmlns:a16="http://schemas.microsoft.com/office/drawing/2014/main" id="{6116F8B8-40DB-046E-9BE8-7CA108440E96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endParaRPr lang="en-GB"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r"/>
            <a:endParaRPr lang="en-GB"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2">
            <a:extLst>
              <a:ext uri="{FF2B5EF4-FFF2-40B4-BE49-F238E27FC236}">
                <a16:creationId xmlns:a16="http://schemas.microsoft.com/office/drawing/2014/main" id="{58C0C7E2-6581-E28B-8EF0-B9E7711A59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1861301"/>
            <a:ext cx="4798748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NKT &amp;</a:t>
            </a:r>
            <a:br>
              <a:rPr lang="en" dirty="0"/>
            </a:br>
            <a:r>
              <a:rPr lang="en" dirty="0"/>
              <a:t>Intercalation</a:t>
            </a:r>
            <a:endParaRPr dirty="0"/>
          </a:p>
        </p:txBody>
      </p:sp>
      <p:sp>
        <p:nvSpPr>
          <p:cNvPr id="192" name="Google Shape;192;p32">
            <a:extLst>
              <a:ext uri="{FF2B5EF4-FFF2-40B4-BE49-F238E27FC236}">
                <a16:creationId xmlns:a16="http://schemas.microsoft.com/office/drawing/2014/main" id="{56D247FB-7616-9C68-B8DF-B9040FF9F6C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2376" y="984098"/>
            <a:ext cx="1235700" cy="8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095875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9E7EE281-A079-6A44-5CB7-91E9352CD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08A15A0A-1B3F-347B-9FEE-D48FCB2AA8D6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7287726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Bidirectional Natural Deduction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E58E792A-C721-BD65-355C-A48628FEBA98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NKT &amp; Intercalation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11342FCA-A8ED-7DDC-6D31-EA349218093A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0BCAEF56-BD17-02C6-F211-C9DD5372C4E1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CC430E7C-4648-0A45-2E8D-CB7EA48E88D9}"/>
              </a:ext>
            </a:extLst>
          </p:cNvPr>
          <p:cNvSpPr/>
          <p:nvPr/>
        </p:nvSpPr>
        <p:spPr>
          <a:xfrm>
            <a:off x="1158627" y="1896207"/>
            <a:ext cx="184628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1113" algn="ctr">
              <a:tabLst>
                <a:tab pos="1546225" algn="l"/>
              </a:tabLst>
            </a:pPr>
            <a:r>
              <a:rPr lang="en-GB" dirty="0">
                <a:solidFill>
                  <a:schemeClr val="bg2"/>
                </a:solidFill>
              </a:rPr>
              <a:t>Define a Natural Deduction NKT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74C59214-5B9E-238B-BF87-645C92C8C0E6}"/>
              </a:ext>
            </a:extLst>
          </p:cNvPr>
          <p:cNvSpPr/>
          <p:nvPr/>
        </p:nvSpPr>
        <p:spPr>
          <a:xfrm>
            <a:off x="1158627" y="3186036"/>
            <a:ext cx="184628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Add Proof Terms</a:t>
            </a:r>
          </a:p>
          <a:p>
            <a:pPr algn="ctr"/>
            <a:r>
              <a:rPr lang="en-GB" dirty="0">
                <a:solidFill>
                  <a:schemeClr val="bg2"/>
                </a:solidFill>
              </a:rPr>
              <a:t> to NKT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8C02048D-5222-2DE0-6845-EC94CCB0364F}"/>
              </a:ext>
            </a:extLst>
          </p:cNvPr>
          <p:cNvSpPr/>
          <p:nvPr/>
        </p:nvSpPr>
        <p:spPr>
          <a:xfrm>
            <a:off x="875834" y="1606901"/>
            <a:ext cx="2378347" cy="2832307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9" name="Google Shape;168;p30 1">
            <a:extLst>
              <a:ext uri="{FF2B5EF4-FFF2-40B4-BE49-F238E27FC236}">
                <a16:creationId xmlns:a16="http://schemas.microsoft.com/office/drawing/2014/main" id="{07461E18-BD0A-3DE3-AEF2-0D7AAD1D4B74}"/>
              </a:ext>
            </a:extLst>
          </p:cNvPr>
          <p:cNvSpPr txBox="1">
            <a:spLocks/>
          </p:cNvSpPr>
          <p:nvPr/>
        </p:nvSpPr>
        <p:spPr>
          <a:xfrm>
            <a:off x="1670914" y="4313788"/>
            <a:ext cx="1583267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r">
              <a:lnSpc>
                <a:spcPct val="150000"/>
              </a:lnSpc>
              <a:buFont typeface="Roboto"/>
              <a:buNone/>
            </a:pPr>
            <a:r>
              <a:rPr lang="en-GB" sz="1400" b="1" dirty="0"/>
              <a:t>Finished Proofs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F58CE3FD-7E4E-D4CC-0734-018CCA7118D3}"/>
              </a:ext>
            </a:extLst>
          </p:cNvPr>
          <p:cNvSpPr/>
          <p:nvPr/>
        </p:nvSpPr>
        <p:spPr>
          <a:xfrm>
            <a:off x="3811415" y="3186036"/>
            <a:ext cx="184628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Intercalation </a:t>
            </a:r>
          </a:p>
          <a:p>
            <a:pPr algn="ctr"/>
            <a:r>
              <a:rPr lang="en-GB" i="1" dirty="0">
                <a:solidFill>
                  <a:schemeClr val="bg2"/>
                </a:solidFill>
              </a:rPr>
              <a:t>(with words)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C0AADADA-D619-3A35-39A5-D588FEAA40B3}"/>
              </a:ext>
            </a:extLst>
          </p:cNvPr>
          <p:cNvSpPr/>
          <p:nvPr/>
        </p:nvSpPr>
        <p:spPr>
          <a:xfrm>
            <a:off x="3545384" y="1606901"/>
            <a:ext cx="2378347" cy="2832307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2" name="Google Shape;168;p30 1">
            <a:extLst>
              <a:ext uri="{FF2B5EF4-FFF2-40B4-BE49-F238E27FC236}">
                <a16:creationId xmlns:a16="http://schemas.microsoft.com/office/drawing/2014/main" id="{175955A8-0E03-D76A-2D85-51395601C5A3}"/>
              </a:ext>
            </a:extLst>
          </p:cNvPr>
          <p:cNvSpPr txBox="1">
            <a:spLocks/>
          </p:cNvSpPr>
          <p:nvPr/>
        </p:nvSpPr>
        <p:spPr>
          <a:xfrm>
            <a:off x="4451206" y="4313787"/>
            <a:ext cx="1472525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r">
              <a:lnSpc>
                <a:spcPct val="150000"/>
              </a:lnSpc>
              <a:buFont typeface="Roboto"/>
              <a:buNone/>
            </a:pPr>
            <a:r>
              <a:rPr lang="en-GB" sz="1400" b="1" dirty="0"/>
              <a:t>Proof Search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840BE713-2A2F-2974-B0F5-3B6D81A8E12C}"/>
              </a:ext>
            </a:extLst>
          </p:cNvPr>
          <p:cNvSpPr/>
          <p:nvPr/>
        </p:nvSpPr>
        <p:spPr>
          <a:xfrm>
            <a:off x="6214937" y="1606901"/>
            <a:ext cx="2378347" cy="2832307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92" name="Google Shape;168;p30 1">
            <a:extLst>
              <a:ext uri="{FF2B5EF4-FFF2-40B4-BE49-F238E27FC236}">
                <a16:creationId xmlns:a16="http://schemas.microsoft.com/office/drawing/2014/main" id="{15EE9E8B-2B5E-8718-B037-E587EF8C3188}"/>
              </a:ext>
            </a:extLst>
          </p:cNvPr>
          <p:cNvSpPr txBox="1">
            <a:spLocks/>
          </p:cNvSpPr>
          <p:nvPr/>
        </p:nvSpPr>
        <p:spPr>
          <a:xfrm>
            <a:off x="7120759" y="4313787"/>
            <a:ext cx="1472525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r">
              <a:lnSpc>
                <a:spcPct val="150000"/>
              </a:lnSpc>
              <a:buFont typeface="Roboto"/>
              <a:buNone/>
            </a:pPr>
            <a:r>
              <a:rPr lang="en-GB" sz="1400" b="1" dirty="0"/>
              <a:t>Partial Proofs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Rounded Rectangle 192">
                <a:extLst>
                  <a:ext uri="{FF2B5EF4-FFF2-40B4-BE49-F238E27FC236}">
                    <a16:creationId xmlns:a16="http://schemas.microsoft.com/office/drawing/2014/main" id="{64DB8CE3-D4CC-32C3-F9AC-A670DE2170DA}"/>
                  </a:ext>
                </a:extLst>
              </p:cNvPr>
              <p:cNvSpPr/>
              <p:nvPr/>
            </p:nvSpPr>
            <p:spPr>
              <a:xfrm>
                <a:off x="6480968" y="2565854"/>
                <a:ext cx="1846283" cy="914400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90000" rtlCol="0" anchor="ctr"/>
              <a:lstStyle/>
              <a:p>
                <a:pPr algn="ctr"/>
                <a:r>
                  <a:rPr lang="en-GB" dirty="0">
                    <a:solidFill>
                      <a:schemeClr val="bg2"/>
                    </a:solidFill>
                  </a:rPr>
                  <a:t>Define a </a:t>
                </a:r>
                <a:r>
                  <a:rPr lang="en-GB" b="1" dirty="0">
                    <a:solidFill>
                      <a:schemeClr val="bg2"/>
                    </a:solidFill>
                  </a:rPr>
                  <a:t>Partial</a:t>
                </a:r>
                <a:r>
                  <a:rPr lang="en-GB" dirty="0">
                    <a:solidFill>
                      <a:schemeClr val="bg2"/>
                    </a:solidFill>
                  </a:rPr>
                  <a:t> Natural Deduction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𝑁𝐾𝑇</m:t>
                        </m:r>
                      </m:e>
                      <m:sub>
                        <m:r>
                          <a:rPr lang="pt-PT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sub>
                    </m:sSub>
                  </m:oMath>
                </a14:m>
                <a:endParaRPr lang="pt-PT" b="0" i="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93" name="Rounded Rectangle 192">
                <a:extLst>
                  <a:ext uri="{FF2B5EF4-FFF2-40B4-BE49-F238E27FC236}">
                    <a16:creationId xmlns:a16="http://schemas.microsoft.com/office/drawing/2014/main" id="{64DB8CE3-D4CC-32C3-F9AC-A670DE217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968" y="2565854"/>
                <a:ext cx="1846283" cy="914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Rounded Rectangle 193">
            <a:extLst>
              <a:ext uri="{FF2B5EF4-FFF2-40B4-BE49-F238E27FC236}">
                <a16:creationId xmlns:a16="http://schemas.microsoft.com/office/drawing/2014/main" id="{F47BBB77-8526-77BC-3F39-C230BBBAAD4D}"/>
              </a:ext>
            </a:extLst>
          </p:cNvPr>
          <p:cNvSpPr/>
          <p:nvPr/>
        </p:nvSpPr>
        <p:spPr>
          <a:xfrm>
            <a:off x="3811415" y="1896207"/>
            <a:ext cx="184628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Define Intercalation Reduction Rules</a:t>
            </a:r>
          </a:p>
        </p:txBody>
      </p:sp>
    </p:spTree>
    <p:extLst>
      <p:ext uri="{BB962C8B-B14F-4D97-AF65-F5344CB8AC3E}">
        <p14:creationId xmlns:p14="http://schemas.microsoft.com/office/powerpoint/2010/main" val="323890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60" grpId="0" animBg="1"/>
      <p:bldP spid="61" grpId="0" animBg="1"/>
      <p:bldP spid="62" grpId="0"/>
      <p:bldP spid="63" grpId="0" animBg="1"/>
      <p:bldP spid="192" grpId="0"/>
      <p:bldP spid="193" grpId="0" animBg="1"/>
      <p:bldP spid="19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A6DDBAAC-BE05-7426-8E82-A039FE9AE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1544D4EE-36B6-63E9-EE2D-3031F8EADF2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837475" y="3501424"/>
            <a:ext cx="2705363" cy="5155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C80810-CB40-A9A0-8EAF-A2C8B1415E4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524210" y="3501424"/>
            <a:ext cx="1759337" cy="5155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439670F-C80E-D57D-1C91-26FF3E2F2B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173164" y="3438469"/>
            <a:ext cx="1728710" cy="578506"/>
          </a:xfrm>
          <a:prstGeom prst="rect">
            <a:avLst/>
          </a:prstGeom>
        </p:spPr>
      </p:pic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959ED348-CB7F-9B2A-E24C-F6436D845C45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6829564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Bidirectional Natural Deduction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F90DDCA8-339D-7CAA-8F39-BF4177E80A2E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NKT &amp; Intercalation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3402AF7D-6C55-68B6-6402-74B456122B0B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949FD63E-EF7E-AC7A-B78C-CFA281F33EF5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CB20202D-47B8-0037-4E2D-CB1D0AF0F0D1}"/>
              </a:ext>
            </a:extLst>
          </p:cNvPr>
          <p:cNvSpPr/>
          <p:nvPr/>
        </p:nvSpPr>
        <p:spPr>
          <a:xfrm>
            <a:off x="1158627" y="1896207"/>
            <a:ext cx="184628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1113" algn="ctr">
              <a:tabLst>
                <a:tab pos="1546225" algn="l"/>
              </a:tabLst>
            </a:pPr>
            <a:r>
              <a:rPr lang="en-GB" dirty="0">
                <a:solidFill>
                  <a:schemeClr val="bg2"/>
                </a:solidFill>
              </a:rPr>
              <a:t>Define a Natural Deduction NKT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5CC966A1-9C84-5009-E58E-B270D421D81F}"/>
              </a:ext>
            </a:extLst>
          </p:cNvPr>
          <p:cNvSpPr/>
          <p:nvPr/>
        </p:nvSpPr>
        <p:spPr>
          <a:xfrm>
            <a:off x="875834" y="1606901"/>
            <a:ext cx="2378347" cy="2832307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9" name="Google Shape;168;p30 1">
            <a:extLst>
              <a:ext uri="{FF2B5EF4-FFF2-40B4-BE49-F238E27FC236}">
                <a16:creationId xmlns:a16="http://schemas.microsoft.com/office/drawing/2014/main" id="{A51C8130-BBDD-9429-2B20-DB2215B88EB2}"/>
              </a:ext>
            </a:extLst>
          </p:cNvPr>
          <p:cNvSpPr txBox="1">
            <a:spLocks/>
          </p:cNvSpPr>
          <p:nvPr/>
        </p:nvSpPr>
        <p:spPr>
          <a:xfrm>
            <a:off x="1670914" y="4313788"/>
            <a:ext cx="1583267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r">
              <a:lnSpc>
                <a:spcPct val="150000"/>
              </a:lnSpc>
              <a:buFont typeface="Roboto"/>
              <a:buNone/>
            </a:pPr>
            <a:r>
              <a:rPr lang="en-GB" sz="1400" b="1" dirty="0"/>
              <a:t>Finished Proofs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566D46E-F646-1474-CD8C-7DF84D93FB7E}"/>
              </a:ext>
            </a:extLst>
          </p:cNvPr>
          <p:cNvSpPr/>
          <p:nvPr/>
        </p:nvSpPr>
        <p:spPr>
          <a:xfrm>
            <a:off x="3545384" y="1606901"/>
            <a:ext cx="5047900" cy="2832307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Google Shape;168;p30 1 2 1">
            <a:extLst>
              <a:ext uri="{FF2B5EF4-FFF2-40B4-BE49-F238E27FC236}">
                <a16:creationId xmlns:a16="http://schemas.microsoft.com/office/drawing/2014/main" id="{7AB9DF0D-084A-734D-ED00-797749193256}"/>
              </a:ext>
            </a:extLst>
          </p:cNvPr>
          <p:cNvSpPr txBox="1">
            <a:spLocks/>
          </p:cNvSpPr>
          <p:nvPr/>
        </p:nvSpPr>
        <p:spPr>
          <a:xfrm>
            <a:off x="3780512" y="1730147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 err="1"/>
              <a:t>Sequents</a:t>
            </a:r>
            <a:endParaRPr lang="en-GB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4F4DEB-61DF-16E5-CD97-04A897D374A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072723" y="2332872"/>
            <a:ext cx="858860" cy="239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47EB2F-C138-58AF-9272-0E61D305D0E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537368" y="2353658"/>
            <a:ext cx="872370" cy="2393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70A67F-F561-F8E2-B407-62982B34C0E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5399617" y="2297166"/>
            <a:ext cx="669717" cy="310734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D10B689-0E0E-2B4F-7EB0-79189148A6DC}"/>
              </a:ext>
            </a:extLst>
          </p:cNvPr>
          <p:cNvSpPr/>
          <p:nvPr/>
        </p:nvSpPr>
        <p:spPr>
          <a:xfrm>
            <a:off x="6403879" y="2251653"/>
            <a:ext cx="1138959" cy="40176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0" name="Google Shape;168;p30 1 2 2">
            <a:extLst>
              <a:ext uri="{FF2B5EF4-FFF2-40B4-BE49-F238E27FC236}">
                <a16:creationId xmlns:a16="http://schemas.microsoft.com/office/drawing/2014/main" id="{6F89CDA7-E3D4-DE40-6FA0-5A0BFFED14B7}"/>
              </a:ext>
            </a:extLst>
          </p:cNvPr>
          <p:cNvSpPr txBox="1">
            <a:spLocks/>
          </p:cNvSpPr>
          <p:nvPr/>
        </p:nvSpPr>
        <p:spPr>
          <a:xfrm>
            <a:off x="3780511" y="2810607"/>
            <a:ext cx="228882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/>
              <a:t>Inference Rules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19CEE4-D9C2-DC9A-E18A-02EA24ADEAA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168025" y="3501424"/>
            <a:ext cx="1771247" cy="57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26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2" grpId="0"/>
      <p:bldP spid="2" grpId="1"/>
      <p:bldP spid="8" grpId="0" animBg="1"/>
      <p:bldP spid="8" grpId="1" animBg="1"/>
      <p:bldP spid="10" grpId="0"/>
      <p:bldP spid="10" grpId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E9E8ECB4-B0F8-FAFB-676A-CF68AE8B4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DE5815E1-F212-E560-869D-27E0A574A1F6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6829564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Bidirectional Natural Deduction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AC7675BB-1A8F-459C-B7EE-4508A5A725AF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NKT &amp; Intercalation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9F7276D4-0D5C-8CF9-C6E1-1A11EAEB65DE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E384B701-F555-E2A4-F371-65E94F009957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34000FD8-F88A-2642-1B66-09944C3D3F59}"/>
              </a:ext>
            </a:extLst>
          </p:cNvPr>
          <p:cNvSpPr/>
          <p:nvPr/>
        </p:nvSpPr>
        <p:spPr>
          <a:xfrm>
            <a:off x="875834" y="1606901"/>
            <a:ext cx="2378347" cy="2832307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59" name="Google Shape;168;p30 1">
            <a:extLst>
              <a:ext uri="{FF2B5EF4-FFF2-40B4-BE49-F238E27FC236}">
                <a16:creationId xmlns:a16="http://schemas.microsoft.com/office/drawing/2014/main" id="{C9EAAF2A-9F84-4DD6-1218-B38E6E4B5E2D}"/>
              </a:ext>
            </a:extLst>
          </p:cNvPr>
          <p:cNvSpPr txBox="1">
            <a:spLocks/>
          </p:cNvSpPr>
          <p:nvPr/>
        </p:nvSpPr>
        <p:spPr>
          <a:xfrm>
            <a:off x="1670914" y="4313788"/>
            <a:ext cx="1583267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r">
              <a:lnSpc>
                <a:spcPct val="150000"/>
              </a:lnSpc>
              <a:buFont typeface="Roboto"/>
              <a:buNone/>
            </a:pPr>
            <a:r>
              <a:rPr lang="en-GB" sz="1400" b="1" dirty="0"/>
              <a:t>Finished Proofs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D76A9403-FA8E-B365-B8AE-649416FC9632}"/>
              </a:ext>
            </a:extLst>
          </p:cNvPr>
          <p:cNvSpPr/>
          <p:nvPr/>
        </p:nvSpPr>
        <p:spPr>
          <a:xfrm>
            <a:off x="3545384" y="1606901"/>
            <a:ext cx="5047900" cy="2832307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Google Shape;168;p30 1 2 1">
            <a:extLst>
              <a:ext uri="{FF2B5EF4-FFF2-40B4-BE49-F238E27FC236}">
                <a16:creationId xmlns:a16="http://schemas.microsoft.com/office/drawing/2014/main" id="{F1DEADCF-C81B-2DDA-5524-404EBFA04D35}"/>
              </a:ext>
            </a:extLst>
          </p:cNvPr>
          <p:cNvSpPr txBox="1">
            <a:spLocks/>
          </p:cNvSpPr>
          <p:nvPr/>
        </p:nvSpPr>
        <p:spPr>
          <a:xfrm>
            <a:off x="3780512" y="1730147"/>
            <a:ext cx="190809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 err="1"/>
              <a:t>Sequents</a:t>
            </a:r>
            <a:endParaRPr lang="en-GB" sz="20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1333CA3-A699-A463-671E-654BC463CF2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072725" y="2332874"/>
            <a:ext cx="1318205" cy="2393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AA02A8-9FAE-58CD-3A58-96A1C73E3EB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821402" y="2332427"/>
            <a:ext cx="1291185" cy="2393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10CBB38-EC9C-D1FB-2C97-019D02F3217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755867" y="2257070"/>
            <a:ext cx="700598" cy="320384"/>
          </a:xfrm>
          <a:prstGeom prst="rect">
            <a:avLst/>
          </a:prstGeom>
        </p:spPr>
      </p:pic>
      <p:sp>
        <p:nvSpPr>
          <p:cNvPr id="10" name="Google Shape;168;p30 1 2 2">
            <a:extLst>
              <a:ext uri="{FF2B5EF4-FFF2-40B4-BE49-F238E27FC236}">
                <a16:creationId xmlns:a16="http://schemas.microsoft.com/office/drawing/2014/main" id="{7ABCC0A2-3DE7-89CC-E1CC-F5A3F0BDC53A}"/>
              </a:ext>
            </a:extLst>
          </p:cNvPr>
          <p:cNvSpPr txBox="1">
            <a:spLocks/>
          </p:cNvSpPr>
          <p:nvPr/>
        </p:nvSpPr>
        <p:spPr>
          <a:xfrm>
            <a:off x="3780511" y="2810607"/>
            <a:ext cx="228882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/>
              <a:t>Proof Terms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49800B-BA22-D2F4-0C53-09C6A2E8FB28}"/>
              </a:ext>
            </a:extLst>
          </p:cNvPr>
          <p:cNvSpPr/>
          <p:nvPr/>
        </p:nvSpPr>
        <p:spPr>
          <a:xfrm>
            <a:off x="1158627" y="3186036"/>
            <a:ext cx="184628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Add Proof Terms</a:t>
            </a:r>
          </a:p>
          <a:p>
            <a:pPr algn="ctr"/>
            <a:r>
              <a:rPr lang="en-GB" dirty="0">
                <a:solidFill>
                  <a:schemeClr val="bg2"/>
                </a:solidFill>
              </a:rPr>
              <a:t> to NKT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C719BE5-FF62-47F8-5ADC-9F975FD0A16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894197" y="3291141"/>
            <a:ext cx="2708656" cy="28041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6C2DDB4-372F-6DC1-1030-30EF2E86EE1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261125" y="3927511"/>
            <a:ext cx="1452880" cy="2519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2827CB2-DC4A-334F-262C-9260B63B8BC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321562" y="3597458"/>
            <a:ext cx="3594608" cy="28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7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CB1797DE-135F-50A2-7451-080CE932E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3D800B8C-84FE-3F34-7552-DE173CE6871C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6195526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Proof Search - Intercalation</a:t>
            </a:r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E928D083-A961-5819-98B6-1153CE90277D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NKT &amp; Intercalation</a:t>
            </a: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0AFA9647-E8C5-3B00-7C3E-2B2BB35F70B5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DA13B9B1-08B0-840B-B840-4D763B0DE76E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21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6E8549C-B67E-50D8-6025-ADC425AA85FD}"/>
              </a:ext>
            </a:extLst>
          </p:cNvPr>
          <p:cNvSpPr/>
          <p:nvPr/>
        </p:nvSpPr>
        <p:spPr>
          <a:xfrm>
            <a:off x="3811415" y="3186036"/>
            <a:ext cx="184628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Intercalation </a:t>
            </a:r>
          </a:p>
          <a:p>
            <a:pPr algn="ctr"/>
            <a:r>
              <a:rPr lang="en-GB" i="1" dirty="0">
                <a:solidFill>
                  <a:schemeClr val="bg2"/>
                </a:solidFill>
              </a:rPr>
              <a:t>(with words)</a:t>
            </a:r>
          </a:p>
        </p:txBody>
      </p:sp>
    </p:spTree>
    <p:extLst>
      <p:ext uri="{BB962C8B-B14F-4D97-AF65-F5344CB8AC3E}">
        <p14:creationId xmlns:p14="http://schemas.microsoft.com/office/powerpoint/2010/main" val="247215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  <p:bldP spid="3" grpId="1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49BA7B72-F833-6578-6C2E-B90A33002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2C5677-6FC1-4265-E8B8-6EA0851CC77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714482" y="4173585"/>
            <a:ext cx="1551154" cy="454546"/>
          </a:xfrm>
          <a:prstGeom prst="rect">
            <a:avLst/>
          </a:prstGeom>
        </p:spPr>
      </p:pic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C37DEEE9-2BCD-0DFB-D568-7E42B92A96C9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NKT &amp; Intercalation</a:t>
            </a: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CE342213-9586-0C86-76CD-31EE953E9102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49744301-C5FC-6574-50B1-FCD749E6CE80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21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168;p30 1 1 1">
                <a:extLst>
                  <a:ext uri="{FF2B5EF4-FFF2-40B4-BE49-F238E27FC236}">
                    <a16:creationId xmlns:a16="http://schemas.microsoft.com/office/drawing/2014/main" id="{15B23409-ECA8-F1B0-5269-9601A2D14B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00894" y="4160469"/>
                <a:ext cx="2331469" cy="467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0" indent="0">
                  <a:buFont typeface="Roboto"/>
                  <a:buNone/>
                </a:pPr>
                <a:r>
                  <a:rPr lang="en-GB" sz="1800" b="1" dirty="0"/>
                  <a:t>Invert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PT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pt-P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⊃</m:t>
                    </m:r>
                  </m:oMath>
                </a14:m>
                <a:endParaRPr lang="pt-PT" sz="1800" dirty="0"/>
              </a:p>
              <a:p>
                <a:pPr marL="0" indent="0" algn="ctr">
                  <a:buFont typeface="Roboto"/>
                  <a:buNone/>
                </a:pPr>
                <a:r>
                  <a:rPr lang="en-GB" sz="1800" b="1" dirty="0"/>
                  <a:t> </a:t>
                </a:r>
              </a:p>
            </p:txBody>
          </p:sp>
        </mc:Choice>
        <mc:Fallback>
          <p:sp>
            <p:nvSpPr>
              <p:cNvPr id="4" name="Google Shape;168;p30 1 1 1">
                <a:extLst>
                  <a:ext uri="{FF2B5EF4-FFF2-40B4-BE49-F238E27FC236}">
                    <a16:creationId xmlns:a16="http://schemas.microsoft.com/office/drawing/2014/main" id="{15B23409-ECA8-F1B0-5269-9601A2D14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894" y="4160469"/>
                <a:ext cx="2331469" cy="467662"/>
              </a:xfrm>
              <a:prstGeom prst="rect">
                <a:avLst/>
              </a:prstGeom>
              <a:blipFill>
                <a:blip r:embed="rId6"/>
                <a:stretch>
                  <a:fillRect l="-2717" b="-78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38D3C6B-C54F-C345-E214-4241109036E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714482" y="3551716"/>
            <a:ext cx="1551154" cy="519088"/>
          </a:xfrm>
          <a:prstGeom prst="rect">
            <a:avLst/>
          </a:prstGeom>
        </p:spPr>
      </p:pic>
      <p:sp>
        <p:nvSpPr>
          <p:cNvPr id="7" name="Google Shape;168;p30 1 1 1">
            <a:extLst>
              <a:ext uri="{FF2B5EF4-FFF2-40B4-BE49-F238E27FC236}">
                <a16:creationId xmlns:a16="http://schemas.microsoft.com/office/drawing/2014/main" id="{A2B942D1-7A0E-1506-7394-C884634E8EC7}"/>
              </a:ext>
            </a:extLst>
          </p:cNvPr>
          <p:cNvSpPr txBox="1">
            <a:spLocks/>
          </p:cNvSpPr>
          <p:nvPr/>
        </p:nvSpPr>
        <p:spPr>
          <a:xfrm>
            <a:off x="4800896" y="3627132"/>
            <a:ext cx="2331469" cy="5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800" b="1" dirty="0"/>
              <a:t>Finish </a:t>
            </a:r>
            <a:r>
              <a:rPr lang="en-GB" sz="1800" dirty="0"/>
              <a:t>inversion</a:t>
            </a:r>
            <a:endParaRPr lang="pt-PT" sz="1800" dirty="0"/>
          </a:p>
          <a:p>
            <a:pPr marL="0" indent="0" algn="ctr">
              <a:buFont typeface="Roboto"/>
              <a:buNone/>
            </a:pPr>
            <a:r>
              <a:rPr lang="en-GB" sz="1800" b="1" dirty="0"/>
              <a:t>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D2F921B-0DD5-0151-39F9-1E5A4E535484}"/>
              </a:ext>
            </a:extLst>
          </p:cNvPr>
          <p:cNvSpPr/>
          <p:nvPr/>
        </p:nvSpPr>
        <p:spPr>
          <a:xfrm>
            <a:off x="4572000" y="3551716"/>
            <a:ext cx="2560365" cy="1142404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9" name="Google Shape;168;p30 1">
            <a:extLst>
              <a:ext uri="{FF2B5EF4-FFF2-40B4-BE49-F238E27FC236}">
                <a16:creationId xmlns:a16="http://schemas.microsoft.com/office/drawing/2014/main" id="{D66A4225-0850-D19B-7777-C7878DEB1FE1}"/>
              </a:ext>
            </a:extLst>
          </p:cNvPr>
          <p:cNvSpPr txBox="1">
            <a:spLocks/>
          </p:cNvSpPr>
          <p:nvPr/>
        </p:nvSpPr>
        <p:spPr>
          <a:xfrm>
            <a:off x="7136089" y="3867474"/>
            <a:ext cx="1795741" cy="73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400" b="1" dirty="0"/>
              <a:t>Inversion Phase</a:t>
            </a:r>
          </a:p>
          <a:p>
            <a:pPr marL="0" indent="0">
              <a:buNone/>
            </a:pPr>
            <a:r>
              <a:rPr lang="en-GB" sz="1400" b="1" i="1" dirty="0"/>
              <a:t>(bottom-up)</a:t>
            </a:r>
          </a:p>
          <a:p>
            <a:pPr marL="0" indent="0">
              <a:buFont typeface="Roboto"/>
              <a:buNone/>
            </a:pPr>
            <a:endParaRPr lang="en-GB" sz="1400" b="1" dirty="0"/>
          </a:p>
        </p:txBody>
      </p:sp>
      <p:sp>
        <p:nvSpPr>
          <p:cNvPr id="3" name="Google Shape;198;p33 1">
            <a:extLst>
              <a:ext uri="{FF2B5EF4-FFF2-40B4-BE49-F238E27FC236}">
                <a16:creationId xmlns:a16="http://schemas.microsoft.com/office/drawing/2014/main" id="{5425C9B2-7615-BA3A-91AD-1D564AEE308B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6195526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Proof Search - Intercalation</a:t>
            </a:r>
          </a:p>
        </p:txBody>
      </p:sp>
    </p:spTree>
    <p:extLst>
      <p:ext uri="{BB962C8B-B14F-4D97-AF65-F5344CB8AC3E}">
        <p14:creationId xmlns:p14="http://schemas.microsoft.com/office/powerpoint/2010/main" val="374576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1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66B3AF74-0005-C984-9227-AF52329E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C52F54D4-D025-FCCA-8A76-8A5EC8EECC5F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NKT &amp; Intercalation</a:t>
            </a: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959F54F2-A850-8E2F-15F6-CEA7D484A50C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105934F4-C29D-FE8F-D0E0-0CAB1E8A2CE9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21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68;p30 1 1 1 1">
            <a:extLst>
              <a:ext uri="{FF2B5EF4-FFF2-40B4-BE49-F238E27FC236}">
                <a16:creationId xmlns:a16="http://schemas.microsoft.com/office/drawing/2014/main" id="{37850F93-ECBF-B95F-4200-AE692F7CED09}"/>
              </a:ext>
            </a:extLst>
          </p:cNvPr>
          <p:cNvSpPr txBox="1">
            <a:spLocks/>
          </p:cNvSpPr>
          <p:nvPr/>
        </p:nvSpPr>
        <p:spPr>
          <a:xfrm>
            <a:off x="4800896" y="2842722"/>
            <a:ext cx="2331468" cy="5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800" b="1" dirty="0"/>
              <a:t>Finish </a:t>
            </a:r>
            <a:r>
              <a:rPr lang="en-GB" sz="1800" dirty="0"/>
              <a:t>the focus</a:t>
            </a:r>
            <a:endParaRPr lang="pt-PT" sz="1800" dirty="0"/>
          </a:p>
          <a:p>
            <a:pPr marL="0" indent="0" algn="ctr">
              <a:buFont typeface="Roboto"/>
              <a:buNone/>
            </a:pPr>
            <a:r>
              <a:rPr lang="en-GB" sz="1800" b="1" dirty="0"/>
              <a:t> </a:t>
            </a:r>
          </a:p>
        </p:txBody>
      </p:sp>
      <p:sp>
        <p:nvSpPr>
          <p:cNvPr id="15" name="Google Shape;168;p30 1 1 1 2">
            <a:extLst>
              <a:ext uri="{FF2B5EF4-FFF2-40B4-BE49-F238E27FC236}">
                <a16:creationId xmlns:a16="http://schemas.microsoft.com/office/drawing/2014/main" id="{00A0C5C2-860D-BDE8-920A-287B2D9581B9}"/>
              </a:ext>
            </a:extLst>
          </p:cNvPr>
          <p:cNvSpPr txBox="1">
            <a:spLocks/>
          </p:cNvSpPr>
          <p:nvPr/>
        </p:nvSpPr>
        <p:spPr>
          <a:xfrm>
            <a:off x="4800896" y="2300678"/>
            <a:ext cx="2327741" cy="5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800" b="1" dirty="0"/>
              <a:t>Keep </a:t>
            </a:r>
            <a:r>
              <a:rPr lang="en-GB" sz="1800" dirty="0"/>
              <a:t>the focus</a:t>
            </a:r>
            <a:endParaRPr lang="pt-PT" sz="1800" dirty="0"/>
          </a:p>
          <a:p>
            <a:pPr marL="0" indent="0" algn="ctr">
              <a:buFont typeface="Roboto"/>
              <a:buNone/>
            </a:pPr>
            <a:r>
              <a:rPr lang="en-GB" sz="1800" b="1" dirty="0"/>
              <a:t> 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3D6338C-7065-170D-3DD9-A53147A81C73}"/>
              </a:ext>
            </a:extLst>
          </p:cNvPr>
          <p:cNvSpPr/>
          <p:nvPr/>
        </p:nvSpPr>
        <p:spPr>
          <a:xfrm>
            <a:off x="4571999" y="1756263"/>
            <a:ext cx="2560365" cy="1630372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8" name="Google Shape;168;p30 1 1">
            <a:extLst>
              <a:ext uri="{FF2B5EF4-FFF2-40B4-BE49-F238E27FC236}">
                <a16:creationId xmlns:a16="http://schemas.microsoft.com/office/drawing/2014/main" id="{FF90D4AD-8E3C-BF50-EF3D-439B5DADB9FA}"/>
              </a:ext>
            </a:extLst>
          </p:cNvPr>
          <p:cNvSpPr txBox="1">
            <a:spLocks/>
          </p:cNvSpPr>
          <p:nvPr/>
        </p:nvSpPr>
        <p:spPr>
          <a:xfrm>
            <a:off x="7128638" y="2207582"/>
            <a:ext cx="1795741" cy="73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400" b="1" dirty="0"/>
              <a:t>Focus Down Phase</a:t>
            </a:r>
          </a:p>
          <a:p>
            <a:pPr marL="0" indent="0">
              <a:buNone/>
            </a:pPr>
            <a:r>
              <a:rPr lang="en-GB" sz="1400" b="1" i="1" dirty="0"/>
              <a:t>(top-down)</a:t>
            </a:r>
            <a:endParaRPr lang="en-GB" sz="1400" b="1" dirty="0"/>
          </a:p>
          <a:p>
            <a:pPr marL="0" indent="0">
              <a:buFont typeface="Roboto"/>
              <a:buNone/>
            </a:pPr>
            <a:endParaRPr lang="en-GB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Google Shape;168;p30 1 1 1 3">
                <a:extLst>
                  <a:ext uri="{FF2B5EF4-FFF2-40B4-BE49-F238E27FC236}">
                    <a16:creationId xmlns:a16="http://schemas.microsoft.com/office/drawing/2014/main" id="{A6E99FD1-0081-E336-ABBD-655CE46BEC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00898" y="1758635"/>
                <a:ext cx="2327740" cy="519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0" indent="0">
                  <a:buFont typeface="Roboto"/>
                  <a:buNone/>
                </a:pPr>
                <a:r>
                  <a:rPr lang="en-GB" sz="1800" b="1" dirty="0"/>
                  <a:t>Focus </a:t>
                </a:r>
                <a:r>
                  <a:rPr lang="en-GB" sz="1800" dirty="0"/>
                  <a:t>A</a:t>
                </a:r>
                <a14:m>
                  <m:oMath xmlns:m="http://schemas.openxmlformats.org/officeDocument/2006/math">
                    <m:r>
                      <a:rPr lang="pt-PT" sz="1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pt-PT" sz="1800" b="0" i="1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endParaRPr lang="pt-PT" sz="1800" b="0" dirty="0"/>
              </a:p>
              <a:p>
                <a:pPr marL="0" indent="0">
                  <a:buFont typeface="Roboto"/>
                  <a:buNone/>
                </a:pPr>
                <a:endParaRPr lang="pt-PT" sz="1800" dirty="0"/>
              </a:p>
              <a:p>
                <a:pPr marL="0" indent="0">
                  <a:buFont typeface="Roboto"/>
                  <a:buNone/>
                </a:pPr>
                <a:r>
                  <a:rPr lang="en-GB" sz="1800" b="1" dirty="0"/>
                  <a:t> </a:t>
                </a:r>
              </a:p>
            </p:txBody>
          </p:sp>
        </mc:Choice>
        <mc:Fallback>
          <p:sp>
            <p:nvSpPr>
              <p:cNvPr id="23" name="Google Shape;168;p30 1 1 1 3">
                <a:extLst>
                  <a:ext uri="{FF2B5EF4-FFF2-40B4-BE49-F238E27FC236}">
                    <a16:creationId xmlns:a16="http://schemas.microsoft.com/office/drawing/2014/main" id="{A6E99FD1-0081-E336-ABBD-655CE46BE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898" y="1758635"/>
                <a:ext cx="2327740" cy="519088"/>
              </a:xfrm>
              <a:prstGeom prst="rect">
                <a:avLst/>
              </a:prstGeom>
              <a:blipFill>
                <a:blip r:embed="rId9"/>
                <a:stretch>
                  <a:fillRect l="-27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1C24DA01-B73A-A900-EBC6-F7698F11152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714482" y="4173585"/>
            <a:ext cx="1551154" cy="4545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Google Shape;168;p30 1 1 1 4">
                <a:extLst>
                  <a:ext uri="{FF2B5EF4-FFF2-40B4-BE49-F238E27FC236}">
                    <a16:creationId xmlns:a16="http://schemas.microsoft.com/office/drawing/2014/main" id="{D1F5BF16-89F3-3C05-6626-DBF5DE5522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00894" y="4160469"/>
                <a:ext cx="2331469" cy="467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0" indent="0">
                  <a:buFont typeface="Roboto"/>
                  <a:buNone/>
                </a:pPr>
                <a:r>
                  <a:rPr lang="en-GB" sz="1800" b="1" dirty="0"/>
                  <a:t>Invert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PT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pt-P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⊃</m:t>
                    </m:r>
                  </m:oMath>
                </a14:m>
                <a:endParaRPr lang="pt-PT" sz="1800" dirty="0"/>
              </a:p>
              <a:p>
                <a:pPr marL="0" indent="0" algn="ctr">
                  <a:buFont typeface="Roboto"/>
                  <a:buNone/>
                </a:pPr>
                <a:r>
                  <a:rPr lang="en-GB" sz="1800" b="1" dirty="0"/>
                  <a:t> </a:t>
                </a:r>
              </a:p>
            </p:txBody>
          </p:sp>
        </mc:Choice>
        <mc:Fallback>
          <p:sp>
            <p:nvSpPr>
              <p:cNvPr id="13" name="Google Shape;168;p30 1 1 1 4">
                <a:extLst>
                  <a:ext uri="{FF2B5EF4-FFF2-40B4-BE49-F238E27FC236}">
                    <a16:creationId xmlns:a16="http://schemas.microsoft.com/office/drawing/2014/main" id="{D1F5BF16-89F3-3C05-6626-DBF5DE552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894" y="4160469"/>
                <a:ext cx="2331469" cy="467662"/>
              </a:xfrm>
              <a:prstGeom prst="rect">
                <a:avLst/>
              </a:prstGeom>
              <a:blipFill>
                <a:blip r:embed="rId11"/>
                <a:stretch>
                  <a:fillRect l="-2717" b="-78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AC131299-0EB5-1DDB-A4C0-F8337F4F3DB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714482" y="3551716"/>
            <a:ext cx="1551154" cy="519088"/>
          </a:xfrm>
          <a:prstGeom prst="rect">
            <a:avLst/>
          </a:prstGeom>
        </p:spPr>
      </p:pic>
      <p:sp>
        <p:nvSpPr>
          <p:cNvPr id="20" name="Google Shape;168;p30 1 1 1 5">
            <a:extLst>
              <a:ext uri="{FF2B5EF4-FFF2-40B4-BE49-F238E27FC236}">
                <a16:creationId xmlns:a16="http://schemas.microsoft.com/office/drawing/2014/main" id="{8CB272F0-F21E-CAB4-D1BF-08848DD5EC6C}"/>
              </a:ext>
            </a:extLst>
          </p:cNvPr>
          <p:cNvSpPr txBox="1">
            <a:spLocks/>
          </p:cNvSpPr>
          <p:nvPr/>
        </p:nvSpPr>
        <p:spPr>
          <a:xfrm>
            <a:off x="4800896" y="3627132"/>
            <a:ext cx="2331469" cy="5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800" b="1" dirty="0"/>
              <a:t>Finish </a:t>
            </a:r>
            <a:r>
              <a:rPr lang="en-GB" sz="1800" dirty="0"/>
              <a:t>inversion</a:t>
            </a:r>
            <a:endParaRPr lang="pt-PT" sz="1800" dirty="0"/>
          </a:p>
          <a:p>
            <a:pPr marL="0" indent="0" algn="ctr">
              <a:buFont typeface="Roboto"/>
              <a:buNone/>
            </a:pPr>
            <a:r>
              <a:rPr lang="en-GB" sz="1800" b="1" dirty="0"/>
              <a:t> </a:t>
            </a:r>
          </a:p>
        </p:txBody>
      </p:sp>
      <p:sp>
        <p:nvSpPr>
          <p:cNvPr id="24" name="Google Shape;168;p30 1 2">
            <a:extLst>
              <a:ext uri="{FF2B5EF4-FFF2-40B4-BE49-F238E27FC236}">
                <a16:creationId xmlns:a16="http://schemas.microsoft.com/office/drawing/2014/main" id="{9EB23237-235E-9659-58EC-3844E8817100}"/>
              </a:ext>
            </a:extLst>
          </p:cNvPr>
          <p:cNvSpPr txBox="1">
            <a:spLocks/>
          </p:cNvSpPr>
          <p:nvPr/>
        </p:nvSpPr>
        <p:spPr>
          <a:xfrm>
            <a:off x="7136089" y="3867474"/>
            <a:ext cx="1795741" cy="73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400" b="1" dirty="0"/>
              <a:t>Inversion Phase</a:t>
            </a:r>
          </a:p>
          <a:p>
            <a:pPr marL="0" indent="0">
              <a:buNone/>
            </a:pPr>
            <a:r>
              <a:rPr lang="en-GB" sz="1400" b="1" i="1" dirty="0"/>
              <a:t>(bottom-up)</a:t>
            </a:r>
          </a:p>
          <a:p>
            <a:pPr marL="0" indent="0">
              <a:buFont typeface="Roboto"/>
              <a:buNone/>
            </a:pPr>
            <a:endParaRPr lang="en-GB" sz="1400" b="1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AAAE0D8-E3B9-3B7D-7BD2-543EBFAA06F2}"/>
              </a:ext>
            </a:extLst>
          </p:cNvPr>
          <p:cNvSpPr/>
          <p:nvPr/>
        </p:nvSpPr>
        <p:spPr>
          <a:xfrm>
            <a:off x="4572000" y="3551716"/>
            <a:ext cx="2560365" cy="1142404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AD5C853-D0D5-C59A-E29B-5B95FD5A94A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269458" y="2310023"/>
            <a:ext cx="2441201" cy="46521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71ADE3D-16BF-231E-28C3-2983527799A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600321" y="1832121"/>
            <a:ext cx="1438620" cy="29939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54D7ABD-CC30-1E3A-7D0F-D992E7A1973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941439" y="2851984"/>
            <a:ext cx="1598296" cy="52201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31788C4-A51F-4D64-E6B3-53FAE551F7A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754911" y="2851984"/>
            <a:ext cx="1120803" cy="522019"/>
          </a:xfrm>
          <a:prstGeom prst="rect">
            <a:avLst/>
          </a:prstGeom>
        </p:spPr>
      </p:pic>
      <p:sp>
        <p:nvSpPr>
          <p:cNvPr id="37" name="Google Shape;198;p33 1">
            <a:extLst>
              <a:ext uri="{FF2B5EF4-FFF2-40B4-BE49-F238E27FC236}">
                <a16:creationId xmlns:a16="http://schemas.microsoft.com/office/drawing/2014/main" id="{F856C34D-76D3-1837-C51F-2D63FA51410F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6195526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Proof Search - Intercalation</a:t>
            </a:r>
          </a:p>
        </p:txBody>
      </p:sp>
    </p:spTree>
    <p:extLst>
      <p:ext uri="{BB962C8B-B14F-4D97-AF65-F5344CB8AC3E}">
        <p14:creationId xmlns:p14="http://schemas.microsoft.com/office/powerpoint/2010/main" val="1585713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7" grpId="0" animBg="1"/>
      <p:bldP spid="18" grpId="0"/>
      <p:bldP spid="2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DE99071D-BC95-A3C9-9B3B-4032EB17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F968AFFE-B829-FB61-98D0-7A432FE80715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NKT &amp; Intercalation</a:t>
            </a: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3A4C667A-C8D5-B9FD-7D35-D2E861B4E341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4119179C-33C1-2DE4-9063-C64ACAC8CA55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21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606041-4D43-879B-292D-53A1B0643BE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14482" y="4173585"/>
            <a:ext cx="1551154" cy="4545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Google Shape;168;p30 1 1 1 4">
                <a:extLst>
                  <a:ext uri="{FF2B5EF4-FFF2-40B4-BE49-F238E27FC236}">
                    <a16:creationId xmlns:a16="http://schemas.microsoft.com/office/drawing/2014/main" id="{85FC09FB-5088-9B2A-D268-E42A5985A6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00894" y="4160469"/>
                <a:ext cx="2331469" cy="467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0" indent="0">
                  <a:buFont typeface="Roboto"/>
                  <a:buNone/>
                </a:pPr>
                <a:r>
                  <a:rPr lang="en-GB" sz="1800" b="1" dirty="0"/>
                  <a:t>Invert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PT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pt-P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⊃</m:t>
                    </m:r>
                  </m:oMath>
                </a14:m>
                <a:endParaRPr lang="pt-PT" sz="1800" dirty="0"/>
              </a:p>
              <a:p>
                <a:pPr marL="0" indent="0" algn="ctr">
                  <a:buFont typeface="Roboto"/>
                  <a:buNone/>
                </a:pPr>
                <a:r>
                  <a:rPr lang="en-GB" sz="1800" b="1" dirty="0"/>
                  <a:t> </a:t>
                </a:r>
              </a:p>
            </p:txBody>
          </p:sp>
        </mc:Choice>
        <mc:Fallback>
          <p:sp>
            <p:nvSpPr>
              <p:cNvPr id="13" name="Google Shape;168;p30 1 1 1 4">
                <a:extLst>
                  <a:ext uri="{FF2B5EF4-FFF2-40B4-BE49-F238E27FC236}">
                    <a16:creationId xmlns:a16="http://schemas.microsoft.com/office/drawing/2014/main" id="{85FC09FB-5088-9B2A-D268-E42A5985A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894" y="4160469"/>
                <a:ext cx="2331469" cy="467662"/>
              </a:xfrm>
              <a:prstGeom prst="rect">
                <a:avLst/>
              </a:prstGeom>
              <a:blipFill>
                <a:blip r:embed="rId7"/>
                <a:stretch>
                  <a:fillRect l="-2717" b="-78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83FAA5C6-77CC-C829-E939-2C5F77396AB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714482" y="3551716"/>
            <a:ext cx="1551154" cy="519088"/>
          </a:xfrm>
          <a:prstGeom prst="rect">
            <a:avLst/>
          </a:prstGeom>
        </p:spPr>
      </p:pic>
      <p:sp>
        <p:nvSpPr>
          <p:cNvPr id="20" name="Google Shape;168;p30 1 1 1 5">
            <a:extLst>
              <a:ext uri="{FF2B5EF4-FFF2-40B4-BE49-F238E27FC236}">
                <a16:creationId xmlns:a16="http://schemas.microsoft.com/office/drawing/2014/main" id="{9B5B6C18-6534-FE59-4936-83CFC9D13DC6}"/>
              </a:ext>
            </a:extLst>
          </p:cNvPr>
          <p:cNvSpPr txBox="1">
            <a:spLocks/>
          </p:cNvSpPr>
          <p:nvPr/>
        </p:nvSpPr>
        <p:spPr>
          <a:xfrm>
            <a:off x="4800896" y="3627132"/>
            <a:ext cx="2331469" cy="5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800" b="1" dirty="0"/>
              <a:t>Finish </a:t>
            </a:r>
            <a:r>
              <a:rPr lang="en-GB" sz="1800" dirty="0"/>
              <a:t>inversion</a:t>
            </a:r>
            <a:endParaRPr lang="pt-PT" sz="1800" dirty="0"/>
          </a:p>
          <a:p>
            <a:pPr marL="0" indent="0" algn="ctr">
              <a:buFont typeface="Roboto"/>
              <a:buNone/>
            </a:pPr>
            <a:r>
              <a:rPr lang="en-GB" sz="1800" b="1" dirty="0"/>
              <a:t> </a:t>
            </a:r>
          </a:p>
        </p:txBody>
      </p:sp>
      <p:sp>
        <p:nvSpPr>
          <p:cNvPr id="24" name="Google Shape;168;p30 1 2">
            <a:extLst>
              <a:ext uri="{FF2B5EF4-FFF2-40B4-BE49-F238E27FC236}">
                <a16:creationId xmlns:a16="http://schemas.microsoft.com/office/drawing/2014/main" id="{2441EA85-4A9D-3426-796E-7CF7ECE69952}"/>
              </a:ext>
            </a:extLst>
          </p:cNvPr>
          <p:cNvSpPr txBox="1">
            <a:spLocks/>
          </p:cNvSpPr>
          <p:nvPr/>
        </p:nvSpPr>
        <p:spPr>
          <a:xfrm>
            <a:off x="7136089" y="3867474"/>
            <a:ext cx="1795741" cy="73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400" b="1" dirty="0"/>
              <a:t>Inversion Phase</a:t>
            </a:r>
          </a:p>
          <a:p>
            <a:pPr marL="0" indent="0">
              <a:buNone/>
            </a:pPr>
            <a:r>
              <a:rPr lang="en-GB" sz="1400" b="1" i="1" dirty="0"/>
              <a:t>(bottom-up)</a:t>
            </a:r>
          </a:p>
          <a:p>
            <a:pPr marL="0" indent="0">
              <a:buFont typeface="Roboto"/>
              <a:buNone/>
            </a:pPr>
            <a:endParaRPr lang="en-GB" sz="1400" b="1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8F23C85-A742-63C6-7458-8D2AD26AE934}"/>
              </a:ext>
            </a:extLst>
          </p:cNvPr>
          <p:cNvSpPr/>
          <p:nvPr/>
        </p:nvSpPr>
        <p:spPr>
          <a:xfrm>
            <a:off x="4572000" y="3551716"/>
            <a:ext cx="2560365" cy="1142404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Google Shape;168;p30 1 1 1">
            <a:extLst>
              <a:ext uri="{FF2B5EF4-FFF2-40B4-BE49-F238E27FC236}">
                <a16:creationId xmlns:a16="http://schemas.microsoft.com/office/drawing/2014/main" id="{1775213C-F600-BCA2-909D-66D81300F9A9}"/>
              </a:ext>
            </a:extLst>
          </p:cNvPr>
          <p:cNvSpPr txBox="1">
            <a:spLocks/>
          </p:cNvSpPr>
          <p:nvPr/>
        </p:nvSpPr>
        <p:spPr>
          <a:xfrm>
            <a:off x="4800894" y="2875748"/>
            <a:ext cx="2275445" cy="5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1800" b="1" dirty="0"/>
              <a:t>Resume </a:t>
            </a:r>
            <a:r>
              <a:rPr lang="en-GB" sz="1800" dirty="0"/>
              <a:t>inversion</a:t>
            </a:r>
            <a:endParaRPr lang="pt-PT" sz="1800" dirty="0"/>
          </a:p>
          <a:p>
            <a:pPr marL="0" indent="0" algn="ctr">
              <a:buFont typeface="Roboto"/>
              <a:buNone/>
            </a:pPr>
            <a:r>
              <a:rPr lang="en-GB" sz="1800" b="1" dirty="0"/>
              <a:t>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43D96A0-0943-EF9F-D932-CA0195A951B7}"/>
              </a:ext>
            </a:extLst>
          </p:cNvPr>
          <p:cNvSpPr/>
          <p:nvPr/>
        </p:nvSpPr>
        <p:spPr>
          <a:xfrm>
            <a:off x="4568276" y="2778826"/>
            <a:ext cx="2560365" cy="706901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971934-ED21-D34C-E0C3-D0AA7F53E03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207632" y="2846340"/>
            <a:ext cx="2633119" cy="522019"/>
          </a:xfrm>
          <a:prstGeom prst="rect">
            <a:avLst/>
          </a:prstGeom>
        </p:spPr>
      </p:pic>
      <p:sp>
        <p:nvSpPr>
          <p:cNvPr id="11" name="Google Shape;198;p33 1">
            <a:extLst>
              <a:ext uri="{FF2B5EF4-FFF2-40B4-BE49-F238E27FC236}">
                <a16:creationId xmlns:a16="http://schemas.microsoft.com/office/drawing/2014/main" id="{8728C2EA-96CB-48BE-90EC-C0C69E1771B4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6195526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en-GB" dirty="0"/>
              <a:t>Proof Search - Intercalation</a:t>
            </a:r>
          </a:p>
        </p:txBody>
      </p:sp>
    </p:spTree>
    <p:extLst>
      <p:ext uri="{BB962C8B-B14F-4D97-AF65-F5344CB8AC3E}">
        <p14:creationId xmlns:p14="http://schemas.microsoft.com/office/powerpoint/2010/main" val="3169292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6" grpId="1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AD7D5070-59D2-6D23-10E8-559697280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Google Shape;198;p33 1">
                <a:extLst>
                  <a:ext uri="{FF2B5EF4-FFF2-40B4-BE49-F238E27FC236}">
                    <a16:creationId xmlns:a16="http://schemas.microsoft.com/office/drawing/2014/main" id="{9383B019-0DB1-BF38-1520-8D13774FE8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274" y="789085"/>
                <a:ext cx="7287726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40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9pPr>
              </a:lstStyle>
              <a:p>
                <a:r>
                  <a:rPr lang="pt-PT" dirty="0"/>
                  <a:t>FROM NKT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pt-PT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pt-PT" dirty="0"/>
                          <m:t>K</m:t>
                        </m:r>
                        <m:r>
                          <m:rPr>
                            <m:nor/>
                          </m:rPr>
                          <a:rPr lang="en-GB" dirty="0"/>
                          <m:t>T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𝜕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9" name="Google Shape;198;p33 1">
                <a:extLst>
                  <a:ext uri="{FF2B5EF4-FFF2-40B4-BE49-F238E27FC236}">
                    <a16:creationId xmlns:a16="http://schemas.microsoft.com/office/drawing/2014/main" id="{9383B019-0DB1-BF38-1520-8D13774FE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74" y="789085"/>
                <a:ext cx="7287726" cy="698400"/>
              </a:xfrm>
              <a:prstGeom prst="rect">
                <a:avLst/>
              </a:prstGeom>
              <a:blipFill>
                <a:blip r:embed="rId6"/>
                <a:stretch>
                  <a:fillRect l="-2957" t="-5263" b="-438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C5ABADDE-1714-02B9-9511-A96C3DA1EA02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NKT &amp; Intercalation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1C834446-E230-1835-51B4-D5C4A4EFDA04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B2F3AF35-A507-7FBA-8755-7E50B0A10167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C9E3382E-7A23-151E-FA2A-D86626BB81E1}"/>
              </a:ext>
            </a:extLst>
          </p:cNvPr>
          <p:cNvSpPr/>
          <p:nvPr/>
        </p:nvSpPr>
        <p:spPr>
          <a:xfrm>
            <a:off x="875834" y="1606901"/>
            <a:ext cx="5047897" cy="2832307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EF49D1F6-E206-0FB1-8D83-2DC77C39D3AE}"/>
              </a:ext>
            </a:extLst>
          </p:cNvPr>
          <p:cNvSpPr/>
          <p:nvPr/>
        </p:nvSpPr>
        <p:spPr>
          <a:xfrm>
            <a:off x="6214937" y="1606901"/>
            <a:ext cx="2378347" cy="2832307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92" name="Google Shape;168;p30 1">
            <a:extLst>
              <a:ext uri="{FF2B5EF4-FFF2-40B4-BE49-F238E27FC236}">
                <a16:creationId xmlns:a16="http://schemas.microsoft.com/office/drawing/2014/main" id="{B526FA45-1EAC-A253-CB18-EF1E4B37CD87}"/>
              </a:ext>
            </a:extLst>
          </p:cNvPr>
          <p:cNvSpPr txBox="1">
            <a:spLocks/>
          </p:cNvSpPr>
          <p:nvPr/>
        </p:nvSpPr>
        <p:spPr>
          <a:xfrm>
            <a:off x="7120759" y="4313787"/>
            <a:ext cx="1472525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r">
              <a:lnSpc>
                <a:spcPct val="150000"/>
              </a:lnSpc>
              <a:buFont typeface="Roboto"/>
              <a:buNone/>
            </a:pPr>
            <a:r>
              <a:rPr lang="en-GB" sz="1400" b="1" dirty="0"/>
              <a:t>Partial Proofs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Rounded Rectangle 192">
                <a:extLst>
                  <a:ext uri="{FF2B5EF4-FFF2-40B4-BE49-F238E27FC236}">
                    <a16:creationId xmlns:a16="http://schemas.microsoft.com/office/drawing/2014/main" id="{BFA2399E-1182-ED02-8872-96F6A99C9AE9}"/>
                  </a:ext>
                </a:extLst>
              </p:cNvPr>
              <p:cNvSpPr/>
              <p:nvPr/>
            </p:nvSpPr>
            <p:spPr>
              <a:xfrm>
                <a:off x="6480968" y="2565854"/>
                <a:ext cx="1846283" cy="914400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90000" rtlCol="0" anchor="ctr"/>
              <a:lstStyle/>
              <a:p>
                <a:pPr algn="ctr"/>
                <a:r>
                  <a:rPr lang="en-GB" dirty="0">
                    <a:solidFill>
                      <a:schemeClr val="bg2"/>
                    </a:solidFill>
                  </a:rPr>
                  <a:t>Define a </a:t>
                </a:r>
                <a:r>
                  <a:rPr lang="en-GB" b="1" dirty="0">
                    <a:solidFill>
                      <a:schemeClr val="bg2"/>
                    </a:solidFill>
                  </a:rPr>
                  <a:t>Partial</a:t>
                </a:r>
                <a:r>
                  <a:rPr lang="en-GB" dirty="0">
                    <a:solidFill>
                      <a:schemeClr val="bg2"/>
                    </a:solidFill>
                  </a:rPr>
                  <a:t> Natural Deduction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𝑁𝐾𝑇</m:t>
                        </m:r>
                      </m:e>
                      <m:sub>
                        <m:r>
                          <a:rPr lang="pt-PT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sub>
                    </m:sSub>
                  </m:oMath>
                </a14:m>
                <a:endParaRPr lang="pt-PT" b="0" i="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93" name="Rounded Rectangle 192">
                <a:extLst>
                  <a:ext uri="{FF2B5EF4-FFF2-40B4-BE49-F238E27FC236}">
                    <a16:creationId xmlns:a16="http://schemas.microsoft.com/office/drawing/2014/main" id="{BFA2399E-1182-ED02-8872-96F6A99C9A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968" y="2565854"/>
                <a:ext cx="1846283" cy="9144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168;p30 1 2 2">
            <a:extLst>
              <a:ext uri="{FF2B5EF4-FFF2-40B4-BE49-F238E27FC236}">
                <a16:creationId xmlns:a16="http://schemas.microsoft.com/office/drawing/2014/main" id="{2FD8F589-6D15-3390-922A-68F078839CE2}"/>
              </a:ext>
            </a:extLst>
          </p:cNvPr>
          <p:cNvSpPr txBox="1">
            <a:spLocks/>
          </p:cNvSpPr>
          <p:nvPr/>
        </p:nvSpPr>
        <p:spPr>
          <a:xfrm>
            <a:off x="1806677" y="1727120"/>
            <a:ext cx="1949723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/>
              <a:t>Proof Terms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7CA608-C7D6-0621-F7BC-2C3C45A705B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39708" y="2206338"/>
            <a:ext cx="2466343" cy="2553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F3AA55-1082-1D27-F8F4-361CA3A9457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443438" y="2884749"/>
            <a:ext cx="1363678" cy="2364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98E1AD-D2CC-505C-9732-494BA91BE25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528179" y="2558704"/>
            <a:ext cx="3043821" cy="2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37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3" grpId="0" animBg="1"/>
      <p:bldP spid="192" grpId="0"/>
      <p:bldP spid="193" grpId="0" animBg="1"/>
      <p:bldP spid="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79E99C27-C73F-68B5-DC8F-CA656D0FE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Google Shape;198;p33 1">
                <a:extLst>
                  <a:ext uri="{FF2B5EF4-FFF2-40B4-BE49-F238E27FC236}">
                    <a16:creationId xmlns:a16="http://schemas.microsoft.com/office/drawing/2014/main" id="{676D20B3-9291-CFC1-E6EF-5CA5467DAE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274" y="789085"/>
                <a:ext cx="7287726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40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600"/>
                  <a:buFont typeface="Inter Medium"/>
                  <a:buNone/>
                  <a:defRPr sz="2600" b="0" i="0" u="none" strike="noStrike" cap="none">
                    <a:solidFill>
                      <a:schemeClr val="dk1"/>
                    </a:solidFill>
                    <a:latin typeface="Inter Medium"/>
                    <a:ea typeface="Inter Medium"/>
                    <a:cs typeface="Inter Medium"/>
                    <a:sym typeface="Inter Medium"/>
                  </a:defRPr>
                </a:lvl9pPr>
              </a:lstStyle>
              <a:p>
                <a:r>
                  <a:rPr lang="pt-PT" dirty="0"/>
                  <a:t>FROM NKT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pt-PT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pt-PT" dirty="0"/>
                          <m:t>K</m:t>
                        </m:r>
                        <m:r>
                          <m:rPr>
                            <m:nor/>
                          </m:rPr>
                          <a:rPr lang="en-GB" dirty="0"/>
                          <m:t>T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𝜕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9" name="Google Shape;198;p33 1">
                <a:extLst>
                  <a:ext uri="{FF2B5EF4-FFF2-40B4-BE49-F238E27FC236}">
                    <a16:creationId xmlns:a16="http://schemas.microsoft.com/office/drawing/2014/main" id="{676D20B3-9291-CFC1-E6EF-5CA5467DA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74" y="789085"/>
                <a:ext cx="7287726" cy="698400"/>
              </a:xfrm>
              <a:prstGeom prst="rect">
                <a:avLst/>
              </a:prstGeom>
              <a:blipFill>
                <a:blip r:embed="rId10"/>
                <a:stretch>
                  <a:fillRect l="-2957" t="-5263" b="-438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4719F445-4D75-F19B-DCE6-0FCB5B79A779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NKT &amp; Intercalation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729C04E2-0D90-473C-C557-F44B559BD006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09A37C84-67FD-42FA-CDF5-6AE782943389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7B32F196-5E28-80F5-AD11-CCE84411FAC5}"/>
              </a:ext>
            </a:extLst>
          </p:cNvPr>
          <p:cNvSpPr/>
          <p:nvPr/>
        </p:nvSpPr>
        <p:spPr>
          <a:xfrm>
            <a:off x="875834" y="1606901"/>
            <a:ext cx="5047897" cy="2832307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CEF5EB94-2A4B-31AD-8EFD-F1F45F48C298}"/>
              </a:ext>
            </a:extLst>
          </p:cNvPr>
          <p:cNvSpPr/>
          <p:nvPr/>
        </p:nvSpPr>
        <p:spPr>
          <a:xfrm>
            <a:off x="6214937" y="1606901"/>
            <a:ext cx="2378347" cy="2832307"/>
          </a:xfrm>
          <a:prstGeom prst="roundRect">
            <a:avLst>
              <a:gd name="adj" fmla="val 2622"/>
            </a:avLst>
          </a:prstGeom>
          <a:noFill/>
          <a:ln w="12700">
            <a:solidFill>
              <a:schemeClr val="tx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98141"/>
                      <a:gd name="connsiteY0" fmla="*/ 430314 h 2581835"/>
                      <a:gd name="connsiteX1" fmla="*/ 430314 w 5298141"/>
                      <a:gd name="connsiteY1" fmla="*/ 0 h 2581835"/>
                      <a:gd name="connsiteX2" fmla="*/ 1152995 w 5298141"/>
                      <a:gd name="connsiteY2" fmla="*/ 0 h 2581835"/>
                      <a:gd name="connsiteX3" fmla="*/ 1742550 w 5298141"/>
                      <a:gd name="connsiteY3" fmla="*/ 0 h 2581835"/>
                      <a:gd name="connsiteX4" fmla="*/ 2287730 w 5298141"/>
                      <a:gd name="connsiteY4" fmla="*/ 0 h 2581835"/>
                      <a:gd name="connsiteX5" fmla="*/ 2966036 w 5298141"/>
                      <a:gd name="connsiteY5" fmla="*/ 0 h 2581835"/>
                      <a:gd name="connsiteX6" fmla="*/ 3555591 w 5298141"/>
                      <a:gd name="connsiteY6" fmla="*/ 0 h 2581835"/>
                      <a:gd name="connsiteX7" fmla="*/ 4278272 w 5298141"/>
                      <a:gd name="connsiteY7" fmla="*/ 0 h 2581835"/>
                      <a:gd name="connsiteX8" fmla="*/ 4867827 w 5298141"/>
                      <a:gd name="connsiteY8" fmla="*/ 0 h 2581835"/>
                      <a:gd name="connsiteX9" fmla="*/ 5298141 w 5298141"/>
                      <a:gd name="connsiteY9" fmla="*/ 430314 h 2581835"/>
                      <a:gd name="connsiteX10" fmla="*/ 5298141 w 5298141"/>
                      <a:gd name="connsiteY10" fmla="*/ 969626 h 2581835"/>
                      <a:gd name="connsiteX11" fmla="*/ 5298141 w 5298141"/>
                      <a:gd name="connsiteY11" fmla="*/ 1543361 h 2581835"/>
                      <a:gd name="connsiteX12" fmla="*/ 5298141 w 5298141"/>
                      <a:gd name="connsiteY12" fmla="*/ 2151521 h 2581835"/>
                      <a:gd name="connsiteX13" fmla="*/ 4867827 w 5298141"/>
                      <a:gd name="connsiteY13" fmla="*/ 2581835 h 2581835"/>
                      <a:gd name="connsiteX14" fmla="*/ 4233897 w 5298141"/>
                      <a:gd name="connsiteY14" fmla="*/ 2581835 h 2581835"/>
                      <a:gd name="connsiteX15" fmla="*/ 3599966 w 5298141"/>
                      <a:gd name="connsiteY15" fmla="*/ 2581835 h 2581835"/>
                      <a:gd name="connsiteX16" fmla="*/ 2877285 w 5298141"/>
                      <a:gd name="connsiteY16" fmla="*/ 2581835 h 2581835"/>
                      <a:gd name="connsiteX17" fmla="*/ 2243355 w 5298141"/>
                      <a:gd name="connsiteY17" fmla="*/ 2581835 h 2581835"/>
                      <a:gd name="connsiteX18" fmla="*/ 1742550 w 5298141"/>
                      <a:gd name="connsiteY18" fmla="*/ 2581835 h 2581835"/>
                      <a:gd name="connsiteX19" fmla="*/ 1197370 w 5298141"/>
                      <a:gd name="connsiteY19" fmla="*/ 2581835 h 2581835"/>
                      <a:gd name="connsiteX20" fmla="*/ 430314 w 5298141"/>
                      <a:gd name="connsiteY20" fmla="*/ 2581835 h 2581835"/>
                      <a:gd name="connsiteX21" fmla="*/ 0 w 5298141"/>
                      <a:gd name="connsiteY21" fmla="*/ 2151521 h 2581835"/>
                      <a:gd name="connsiteX22" fmla="*/ 0 w 5298141"/>
                      <a:gd name="connsiteY22" fmla="*/ 1612209 h 2581835"/>
                      <a:gd name="connsiteX23" fmla="*/ 0 w 5298141"/>
                      <a:gd name="connsiteY23" fmla="*/ 1090110 h 2581835"/>
                      <a:gd name="connsiteX24" fmla="*/ 0 w 5298141"/>
                      <a:gd name="connsiteY24" fmla="*/ 430314 h 2581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298141" h="2581835" extrusionOk="0">
                        <a:moveTo>
                          <a:pt x="0" y="430314"/>
                        </a:moveTo>
                        <a:cubicBezTo>
                          <a:pt x="-22745" y="178628"/>
                          <a:pt x="177518" y="5682"/>
                          <a:pt x="430314" y="0"/>
                        </a:cubicBezTo>
                        <a:cubicBezTo>
                          <a:pt x="686609" y="992"/>
                          <a:pt x="798462" y="8502"/>
                          <a:pt x="1152995" y="0"/>
                        </a:cubicBezTo>
                        <a:cubicBezTo>
                          <a:pt x="1507528" y="-8502"/>
                          <a:pt x="1613399" y="15763"/>
                          <a:pt x="1742550" y="0"/>
                        </a:cubicBezTo>
                        <a:cubicBezTo>
                          <a:pt x="1871702" y="-15763"/>
                          <a:pt x="2073878" y="-15657"/>
                          <a:pt x="2287730" y="0"/>
                        </a:cubicBezTo>
                        <a:cubicBezTo>
                          <a:pt x="2501582" y="15657"/>
                          <a:pt x="2757142" y="-30759"/>
                          <a:pt x="2966036" y="0"/>
                        </a:cubicBezTo>
                        <a:cubicBezTo>
                          <a:pt x="3174930" y="30759"/>
                          <a:pt x="3305145" y="27270"/>
                          <a:pt x="3555591" y="0"/>
                        </a:cubicBezTo>
                        <a:cubicBezTo>
                          <a:pt x="3806038" y="-27270"/>
                          <a:pt x="4045883" y="-27506"/>
                          <a:pt x="4278272" y="0"/>
                        </a:cubicBezTo>
                        <a:cubicBezTo>
                          <a:pt x="4510661" y="27506"/>
                          <a:pt x="4709106" y="20415"/>
                          <a:pt x="4867827" y="0"/>
                        </a:cubicBezTo>
                        <a:cubicBezTo>
                          <a:pt x="5089498" y="26444"/>
                          <a:pt x="5262823" y="151694"/>
                          <a:pt x="5298141" y="430314"/>
                        </a:cubicBezTo>
                        <a:cubicBezTo>
                          <a:pt x="5322841" y="696045"/>
                          <a:pt x="5304350" y="713387"/>
                          <a:pt x="5298141" y="969626"/>
                        </a:cubicBezTo>
                        <a:cubicBezTo>
                          <a:pt x="5291932" y="1225865"/>
                          <a:pt x="5300906" y="1411657"/>
                          <a:pt x="5298141" y="1543361"/>
                        </a:cubicBezTo>
                        <a:cubicBezTo>
                          <a:pt x="5295376" y="1675066"/>
                          <a:pt x="5271419" y="1929384"/>
                          <a:pt x="5298141" y="2151521"/>
                        </a:cubicBezTo>
                        <a:cubicBezTo>
                          <a:pt x="5317111" y="2412414"/>
                          <a:pt x="5134539" y="2556395"/>
                          <a:pt x="4867827" y="2581835"/>
                        </a:cubicBezTo>
                        <a:cubicBezTo>
                          <a:pt x="4625560" y="2552256"/>
                          <a:pt x="4480937" y="2609612"/>
                          <a:pt x="4233897" y="2581835"/>
                        </a:cubicBezTo>
                        <a:cubicBezTo>
                          <a:pt x="3986857" y="2554059"/>
                          <a:pt x="3819196" y="2557579"/>
                          <a:pt x="3599966" y="2581835"/>
                        </a:cubicBezTo>
                        <a:cubicBezTo>
                          <a:pt x="3380736" y="2606091"/>
                          <a:pt x="3158035" y="2573632"/>
                          <a:pt x="2877285" y="2581835"/>
                        </a:cubicBezTo>
                        <a:cubicBezTo>
                          <a:pt x="2596535" y="2590038"/>
                          <a:pt x="2453648" y="2588815"/>
                          <a:pt x="2243355" y="2581835"/>
                        </a:cubicBezTo>
                        <a:cubicBezTo>
                          <a:pt x="2033062" y="2574856"/>
                          <a:pt x="1912994" y="2571072"/>
                          <a:pt x="1742550" y="2581835"/>
                        </a:cubicBezTo>
                        <a:cubicBezTo>
                          <a:pt x="1572106" y="2592598"/>
                          <a:pt x="1391041" y="2581231"/>
                          <a:pt x="1197370" y="2581835"/>
                        </a:cubicBezTo>
                        <a:cubicBezTo>
                          <a:pt x="1003699" y="2582439"/>
                          <a:pt x="768368" y="2616228"/>
                          <a:pt x="430314" y="2581835"/>
                        </a:cubicBezTo>
                        <a:cubicBezTo>
                          <a:pt x="202419" y="2579770"/>
                          <a:pt x="4916" y="2435861"/>
                          <a:pt x="0" y="2151521"/>
                        </a:cubicBezTo>
                        <a:cubicBezTo>
                          <a:pt x="7331" y="1946746"/>
                          <a:pt x="20587" y="1863872"/>
                          <a:pt x="0" y="1612209"/>
                        </a:cubicBezTo>
                        <a:cubicBezTo>
                          <a:pt x="-20587" y="1360546"/>
                          <a:pt x="22066" y="1339375"/>
                          <a:pt x="0" y="1090110"/>
                        </a:cubicBezTo>
                        <a:cubicBezTo>
                          <a:pt x="-22066" y="840845"/>
                          <a:pt x="5855" y="702073"/>
                          <a:pt x="0" y="43031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92" name="Google Shape;168;p30 1">
            <a:extLst>
              <a:ext uri="{FF2B5EF4-FFF2-40B4-BE49-F238E27FC236}">
                <a16:creationId xmlns:a16="http://schemas.microsoft.com/office/drawing/2014/main" id="{07220BA7-B9BE-6748-793C-6560FBF39384}"/>
              </a:ext>
            </a:extLst>
          </p:cNvPr>
          <p:cNvSpPr txBox="1">
            <a:spLocks/>
          </p:cNvSpPr>
          <p:nvPr/>
        </p:nvSpPr>
        <p:spPr>
          <a:xfrm>
            <a:off x="7120759" y="4313787"/>
            <a:ext cx="1472525" cy="41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r">
              <a:lnSpc>
                <a:spcPct val="150000"/>
              </a:lnSpc>
              <a:buFont typeface="Roboto"/>
              <a:buNone/>
            </a:pPr>
            <a:r>
              <a:rPr lang="en-GB" sz="1400" b="1" dirty="0"/>
              <a:t>Partial Proofs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Rounded Rectangle 192">
                <a:extLst>
                  <a:ext uri="{FF2B5EF4-FFF2-40B4-BE49-F238E27FC236}">
                    <a16:creationId xmlns:a16="http://schemas.microsoft.com/office/drawing/2014/main" id="{CBADEAE2-8BD1-36E7-91D3-DDB9EF050A3F}"/>
                  </a:ext>
                </a:extLst>
              </p:cNvPr>
              <p:cNvSpPr/>
              <p:nvPr/>
            </p:nvSpPr>
            <p:spPr>
              <a:xfrm>
                <a:off x="6480968" y="2565854"/>
                <a:ext cx="1846283" cy="914400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90000" rtlCol="0" anchor="ctr"/>
              <a:lstStyle/>
              <a:p>
                <a:pPr algn="ctr"/>
                <a:r>
                  <a:rPr lang="en-GB" dirty="0">
                    <a:solidFill>
                      <a:schemeClr val="bg2"/>
                    </a:solidFill>
                  </a:rPr>
                  <a:t>Define a </a:t>
                </a:r>
                <a:r>
                  <a:rPr lang="en-GB" b="1" dirty="0">
                    <a:solidFill>
                      <a:schemeClr val="bg2"/>
                    </a:solidFill>
                  </a:rPr>
                  <a:t>Partial</a:t>
                </a:r>
                <a:r>
                  <a:rPr lang="en-GB" dirty="0">
                    <a:solidFill>
                      <a:schemeClr val="bg2"/>
                    </a:solidFill>
                  </a:rPr>
                  <a:t> Natural Deduction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𝑁𝐾𝑇</m:t>
                        </m:r>
                      </m:e>
                      <m:sub>
                        <m:r>
                          <a:rPr lang="pt-PT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sub>
                    </m:sSub>
                  </m:oMath>
                </a14:m>
                <a:endParaRPr lang="pt-PT" b="0" i="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93" name="Rounded Rectangle 192">
                <a:extLst>
                  <a:ext uri="{FF2B5EF4-FFF2-40B4-BE49-F238E27FC236}">
                    <a16:creationId xmlns:a16="http://schemas.microsoft.com/office/drawing/2014/main" id="{CBADEAE2-8BD1-36E7-91D3-DDB9EF050A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968" y="2565854"/>
                <a:ext cx="1846283" cy="91440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168;p30 1 2 2">
            <a:extLst>
              <a:ext uri="{FF2B5EF4-FFF2-40B4-BE49-F238E27FC236}">
                <a16:creationId xmlns:a16="http://schemas.microsoft.com/office/drawing/2014/main" id="{DF5ABE7C-33BD-8F2E-460B-C6AB9080E19C}"/>
              </a:ext>
            </a:extLst>
          </p:cNvPr>
          <p:cNvSpPr txBox="1">
            <a:spLocks/>
          </p:cNvSpPr>
          <p:nvPr/>
        </p:nvSpPr>
        <p:spPr>
          <a:xfrm>
            <a:off x="995516" y="1727120"/>
            <a:ext cx="276088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n-GB" sz="2000" b="1" dirty="0"/>
              <a:t>Partial Proof Terms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21D959-22EE-03FA-A0A3-B43B60F6121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139709" y="2206338"/>
            <a:ext cx="2753127" cy="2553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C0B0DD-E898-DFBE-428D-A659D98E87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443438" y="2884749"/>
            <a:ext cx="1363678" cy="2364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681E15-468E-2736-F8C0-AF52B12996F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528181" y="2558704"/>
            <a:ext cx="4186329" cy="259817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4FC793D-8091-F54A-2B28-E7AFEBF8AF22}"/>
              </a:ext>
            </a:extLst>
          </p:cNvPr>
          <p:cNvSpPr/>
          <p:nvPr/>
        </p:nvSpPr>
        <p:spPr>
          <a:xfrm>
            <a:off x="4942963" y="2518948"/>
            <a:ext cx="798051" cy="330788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4" name="Google Shape;168;p30 1 1 1 1">
            <a:extLst>
              <a:ext uri="{FF2B5EF4-FFF2-40B4-BE49-F238E27FC236}">
                <a16:creationId xmlns:a16="http://schemas.microsoft.com/office/drawing/2014/main" id="{1B42E49E-7C71-81F2-1D67-A53F06591C7B}"/>
              </a:ext>
            </a:extLst>
          </p:cNvPr>
          <p:cNvSpPr txBox="1">
            <a:spLocks/>
          </p:cNvSpPr>
          <p:nvPr/>
        </p:nvSpPr>
        <p:spPr>
          <a:xfrm>
            <a:off x="955044" y="3140458"/>
            <a:ext cx="3122455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Inference Rules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0DF2525-7F75-601D-EBC5-082A7F339D5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338947" y="3220335"/>
            <a:ext cx="1266654" cy="23811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59C591B-6994-85EF-3A21-CC70FEDEE93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338947" y="3914789"/>
            <a:ext cx="1260039" cy="2381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6C9A1A7-1486-2505-3E18-E135725BA93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357137" y="3531405"/>
            <a:ext cx="1084757" cy="29764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4E37035-129D-759D-EDFF-D8DFA20E4E0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931274" y="3664017"/>
            <a:ext cx="2937015" cy="63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38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B0377E62-AE6F-F600-83B4-12961F334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E4F53019-0FD9-FBA0-E904-7A61D1093A6F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Reduction</a:t>
            </a:r>
            <a:r>
              <a:rPr lang="pt-PT" dirty="0"/>
              <a:t> Rules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747D4464-E8EB-8389-7F5A-1123F23484EF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NKT &amp; Intercalation</a:t>
            </a: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16C5E75C-6790-1594-C235-5920BA5821CE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7B545D1E-3CA5-E6A5-A595-18A2BC2B3EEA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24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478D594-2081-DDD9-669C-629F5EC9D06C}"/>
              </a:ext>
            </a:extLst>
          </p:cNvPr>
          <p:cNvSpPr/>
          <p:nvPr/>
        </p:nvSpPr>
        <p:spPr>
          <a:xfrm>
            <a:off x="3811415" y="1896207"/>
            <a:ext cx="1846283" cy="9144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/>
                </a:solidFill>
              </a:rPr>
              <a:t>Define Intercalation Reduction Rules</a:t>
            </a:r>
          </a:p>
        </p:txBody>
      </p:sp>
    </p:spTree>
    <p:extLst>
      <p:ext uri="{BB962C8B-B14F-4D97-AF65-F5344CB8AC3E}">
        <p14:creationId xmlns:p14="http://schemas.microsoft.com/office/powerpoint/2010/main" val="3476032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  <p:bldP spid="3" grpId="1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9AB8FA8D-915F-F67A-D7D8-E1AB30FB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1EB746CA-A9DF-B4F4-BE5A-BE58F54FA033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Reduction</a:t>
            </a:r>
            <a:r>
              <a:rPr lang="pt-PT" dirty="0"/>
              <a:t> Rules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B1635E07-53D0-DE4E-F77F-C9E2FF09DBC9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NKT &amp; Intercalation</a:t>
            </a: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D69F5BB8-9B41-6672-B793-24CEB6FF40A5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A42757FC-21E7-8275-FA27-268A044417AF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24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702DF8-32C2-10E4-B30D-77515EBEC9D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2867423" y="2267886"/>
            <a:ext cx="3410369" cy="2548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8CF2BA-03EE-1931-B563-FF9264D559F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3290732" y="2662928"/>
            <a:ext cx="2795728" cy="29038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D9B891E-70C1-7D47-8486-8E326918611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39645" y="1882767"/>
            <a:ext cx="508168" cy="19842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E854EAB-58E1-E02A-88EA-8FE7241340C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29119" y="2296117"/>
            <a:ext cx="559791" cy="19842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439DEED-B02B-51DE-AA33-53A7910D865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46890" y="2709467"/>
            <a:ext cx="532366" cy="19842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3DF7083-C52D-B95F-428E-E1CB1501ABF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998493" y="3133082"/>
            <a:ext cx="580763" cy="19842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E62280C-BCD3-E006-EC34-6266A6E7F55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950096" y="3546432"/>
            <a:ext cx="629160" cy="19842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9085AA2-0C69-D5CD-1B9D-DB414738D6C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682300" y="3921886"/>
            <a:ext cx="896956" cy="19842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2366FA3-7C1D-4F03-885F-BAF9482EF304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783142" y="4287229"/>
            <a:ext cx="764671" cy="198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B85894-13B9-3F3A-E1E6-F3A6F84B8403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2493731" y="1839118"/>
            <a:ext cx="5019386" cy="2958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039ACD-FF94-73FE-EB0C-C5019C60993E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2919713" y="3084549"/>
            <a:ext cx="3501604" cy="2954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71ED584-5EF6-2BA6-A7F9-BBFA0C8A7C21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2060813" y="3524733"/>
            <a:ext cx="4814911" cy="23639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C971745-568B-8A6F-7742-9817ADC63E52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2087926" y="3902903"/>
            <a:ext cx="2777644" cy="23639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1D19D25-C140-8BA1-2CB8-39B277F5C8B9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80479" y="4271487"/>
            <a:ext cx="2725112" cy="236395"/>
          </a:xfrm>
          <a:prstGeom prst="rect">
            <a:avLst/>
          </a:prstGeom>
        </p:spPr>
      </p:pic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E730281-BAC6-8705-B5D8-F4AF309C3A78}"/>
              </a:ext>
            </a:extLst>
          </p:cNvPr>
          <p:cNvSpPr/>
          <p:nvPr/>
        </p:nvSpPr>
        <p:spPr>
          <a:xfrm>
            <a:off x="1993691" y="3469444"/>
            <a:ext cx="2084696" cy="330788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55732C2C-A4E7-58F0-7C18-AA36F20C4B3C}"/>
              </a:ext>
            </a:extLst>
          </p:cNvPr>
          <p:cNvSpPr/>
          <p:nvPr/>
        </p:nvSpPr>
        <p:spPr>
          <a:xfrm>
            <a:off x="1996533" y="3850913"/>
            <a:ext cx="2084696" cy="330788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46835D09-0B39-07CC-F512-1A7D7368CC89}"/>
              </a:ext>
            </a:extLst>
          </p:cNvPr>
          <p:cNvSpPr/>
          <p:nvPr/>
        </p:nvSpPr>
        <p:spPr>
          <a:xfrm>
            <a:off x="2411427" y="4216256"/>
            <a:ext cx="1666960" cy="330788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1625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4D8784C0-9454-B8F1-46D2-8118337C2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31B921D1-161A-0E30-B749-FE2F1B9BFD15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5197331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Main</a:t>
            </a:r>
            <a:r>
              <a:rPr lang="pt-PT" dirty="0"/>
              <a:t> </a:t>
            </a:r>
            <a:r>
              <a:rPr lang="pt-PT" dirty="0" err="1"/>
              <a:t>Result</a:t>
            </a:r>
            <a:endParaRPr lang="pt-PT" b="0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4D016285-921A-DFEE-453F-25ABAECBD7A3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NKT &amp; Intercalation</a:t>
            </a: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B2856C50-433C-7D96-126E-E06B17599E4A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629DDE2A-E6AA-51B5-0D09-2486962F7317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23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168;p30 1 1 1 1 1">
            <a:extLst>
              <a:ext uri="{FF2B5EF4-FFF2-40B4-BE49-F238E27FC236}">
                <a16:creationId xmlns:a16="http://schemas.microsoft.com/office/drawing/2014/main" id="{4C412950-1122-9B52-355B-13D9F8E048EC}"/>
              </a:ext>
            </a:extLst>
          </p:cNvPr>
          <p:cNvSpPr txBox="1">
            <a:spLocks/>
          </p:cNvSpPr>
          <p:nvPr/>
        </p:nvSpPr>
        <p:spPr>
          <a:xfrm>
            <a:off x="713275" y="1639756"/>
            <a:ext cx="4021284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Proof Search as Normalization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C6A1B1-69AE-550A-20EA-3D1B4990874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78870" y="2272339"/>
            <a:ext cx="1352351" cy="2455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3" name="Google Shape;168;p30 2 1 1">
                <a:extLst>
                  <a:ext uri="{FF2B5EF4-FFF2-40B4-BE49-F238E27FC236}">
                    <a16:creationId xmlns:a16="http://schemas.microsoft.com/office/drawing/2014/main" id="{9D2F7439-C216-7441-7DA0-C5DEAECC05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5324" y="2088464"/>
                <a:ext cx="1293272" cy="5579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oboto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16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NKT</a:t>
                </a:r>
                <a14:m>
                  <m:oMath xmlns:m="http://schemas.openxmlformats.org/officeDocument/2006/math">
                    <m:r>
                      <a:rPr lang="en-GB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derives</a:t>
                </a:r>
                <a:endParaRPr lang="en-GB" sz="16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33" name="Google Shape;168;p30 2 1 1">
                <a:extLst>
                  <a:ext uri="{FF2B5EF4-FFF2-40B4-BE49-F238E27FC236}">
                    <a16:creationId xmlns:a16="http://schemas.microsoft.com/office/drawing/2014/main" id="{9D2F7439-C216-7441-7DA0-C5DEAECC0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324" y="2088464"/>
                <a:ext cx="1293272" cy="557934"/>
              </a:xfrm>
              <a:prstGeom prst="rect">
                <a:avLst/>
              </a:prstGeom>
              <a:blipFill>
                <a:blip r:embed="rId6"/>
                <a:stretch>
                  <a:fillRect l="-29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Google Shape;168;p30 2 2 1">
            <a:extLst>
              <a:ext uri="{FF2B5EF4-FFF2-40B4-BE49-F238E27FC236}">
                <a16:creationId xmlns:a16="http://schemas.microsoft.com/office/drawing/2014/main" id="{82248ED8-406A-8EB1-3A1C-21656385D4CD}"/>
              </a:ext>
            </a:extLst>
          </p:cNvPr>
          <p:cNvSpPr txBox="1">
            <a:spLocks/>
          </p:cNvSpPr>
          <p:nvPr/>
        </p:nvSpPr>
        <p:spPr>
          <a:xfrm>
            <a:off x="3992555" y="2096199"/>
            <a:ext cx="465187" cy="55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GB" sz="1600" b="1" dirty="0" err="1"/>
              <a:t>iff</a:t>
            </a:r>
            <a:endParaRPr lang="en-GB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AD53EF-2D8A-E87D-15B7-86FF18671C9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528960" y="2270206"/>
            <a:ext cx="1679054" cy="285123"/>
          </a:xfrm>
          <a:prstGeom prst="rect">
            <a:avLst/>
          </a:prstGeom>
        </p:spPr>
      </p:pic>
      <p:sp>
        <p:nvSpPr>
          <p:cNvPr id="192" name="Rounded Rectangle 191">
            <a:extLst>
              <a:ext uri="{FF2B5EF4-FFF2-40B4-BE49-F238E27FC236}">
                <a16:creationId xmlns:a16="http://schemas.microsoft.com/office/drawing/2014/main" id="{FE6B287B-3722-59F9-5FC7-E8C9A40B38DE}"/>
              </a:ext>
            </a:extLst>
          </p:cNvPr>
          <p:cNvSpPr/>
          <p:nvPr/>
        </p:nvSpPr>
        <p:spPr>
          <a:xfrm>
            <a:off x="1235324" y="2188026"/>
            <a:ext cx="2686015" cy="40176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93" name="Google Shape;168;p30 2 2 1 2 2 2 1 1">
            <a:extLst>
              <a:ext uri="{FF2B5EF4-FFF2-40B4-BE49-F238E27FC236}">
                <a16:creationId xmlns:a16="http://schemas.microsoft.com/office/drawing/2014/main" id="{31C51062-CF46-FC1F-A475-866341122132}"/>
              </a:ext>
            </a:extLst>
          </p:cNvPr>
          <p:cNvSpPr txBox="1">
            <a:spLocks/>
          </p:cNvSpPr>
          <p:nvPr/>
        </p:nvSpPr>
        <p:spPr>
          <a:xfrm>
            <a:off x="1294001" y="2548780"/>
            <a:ext cx="2423422" cy="44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GB" sz="1600" b="1" dirty="0">
                <a:solidFill>
                  <a:schemeClr val="tx1"/>
                </a:solidFill>
              </a:rPr>
              <a:t>proof search succeeds</a:t>
            </a:r>
            <a:endParaRPr lang="pt-PT" sz="1600" b="1" dirty="0">
              <a:solidFill>
                <a:schemeClr val="tx1"/>
              </a:solidFill>
            </a:endParaRPr>
          </a:p>
        </p:txBody>
      </p:sp>
      <p:sp>
        <p:nvSpPr>
          <p:cNvPr id="194" name="Rounded Rectangle 193">
            <a:extLst>
              <a:ext uri="{FF2B5EF4-FFF2-40B4-BE49-F238E27FC236}">
                <a16:creationId xmlns:a16="http://schemas.microsoft.com/office/drawing/2014/main" id="{336AC4BB-29CF-978C-4178-14FB21FCD58A}"/>
              </a:ext>
            </a:extLst>
          </p:cNvPr>
          <p:cNvSpPr/>
          <p:nvPr/>
        </p:nvSpPr>
        <p:spPr>
          <a:xfrm>
            <a:off x="4449792" y="2183322"/>
            <a:ext cx="1679054" cy="40176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95" name="Google Shape;168;p30 2 2 1 2 2 2 1 2">
            <a:extLst>
              <a:ext uri="{FF2B5EF4-FFF2-40B4-BE49-F238E27FC236}">
                <a16:creationId xmlns:a16="http://schemas.microsoft.com/office/drawing/2014/main" id="{E722C947-43C8-A37C-DFAA-35D9F5C4D6C8}"/>
              </a:ext>
            </a:extLst>
          </p:cNvPr>
          <p:cNvSpPr txBox="1">
            <a:spLocks/>
          </p:cNvSpPr>
          <p:nvPr/>
        </p:nvSpPr>
        <p:spPr>
          <a:xfrm>
            <a:off x="4239472" y="2566360"/>
            <a:ext cx="2966065" cy="44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chemeClr val="tx1"/>
                </a:solidFill>
              </a:rPr>
              <a:t>formal sequent normalizes</a:t>
            </a:r>
            <a:endParaRPr lang="pt-PT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00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B5C1A3A8-78A3-692A-D36C-A9A1503A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>
            <a:extLst>
              <a:ext uri="{FF2B5EF4-FFF2-40B4-BE49-F238E27FC236}">
                <a16:creationId xmlns:a16="http://schemas.microsoft.com/office/drawing/2014/main" id="{D5488F5A-C94B-EBA2-7FA5-B5B762C15E12}"/>
              </a:ext>
            </a:extLst>
          </p:cNvPr>
          <p:cNvSpPr txBox="1"/>
          <p:nvPr/>
        </p:nvSpPr>
        <p:spPr>
          <a:xfrm>
            <a:off x="1343324" y="4851000"/>
            <a:ext cx="378747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Proof Search in Classical Propositional Logic with Partial Proof Terms</a:t>
            </a:r>
            <a:endParaRPr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2">
            <a:extLst>
              <a:ext uri="{FF2B5EF4-FFF2-40B4-BE49-F238E27FC236}">
                <a16:creationId xmlns:a16="http://schemas.microsoft.com/office/drawing/2014/main" id="{FBF29C31-3708-FAF1-B411-0D534EBC5835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  <a:endParaRPr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2">
            <a:extLst>
              <a:ext uri="{FF2B5EF4-FFF2-40B4-BE49-F238E27FC236}">
                <a16:creationId xmlns:a16="http://schemas.microsoft.com/office/drawing/2014/main" id="{BB5F5607-04A0-2464-D9E6-EC619135DB8A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endParaRPr lang="en-GB"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r"/>
            <a:endParaRPr lang="en-GB"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2">
            <a:extLst>
              <a:ext uri="{FF2B5EF4-FFF2-40B4-BE49-F238E27FC236}">
                <a16:creationId xmlns:a16="http://schemas.microsoft.com/office/drawing/2014/main" id="{73A987F8-71A9-9212-2D8F-EB6A2901CF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1861301"/>
            <a:ext cx="4798748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Focusing vs</a:t>
            </a:r>
            <a:br>
              <a:rPr lang="en" dirty="0"/>
            </a:br>
            <a:r>
              <a:rPr lang="en" dirty="0"/>
              <a:t>Intercalation</a:t>
            </a:r>
            <a:endParaRPr dirty="0"/>
          </a:p>
        </p:txBody>
      </p:sp>
      <p:sp>
        <p:nvSpPr>
          <p:cNvPr id="192" name="Google Shape;192;p32">
            <a:extLst>
              <a:ext uri="{FF2B5EF4-FFF2-40B4-BE49-F238E27FC236}">
                <a16:creationId xmlns:a16="http://schemas.microsoft.com/office/drawing/2014/main" id="{7395F4FB-561A-E6B6-391C-444B2A3A542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2376" y="984098"/>
            <a:ext cx="1235700" cy="8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547305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12839046-7E72-B376-8C93-A296E188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8;p33 1">
            <a:extLst>
              <a:ext uri="{FF2B5EF4-FFF2-40B4-BE49-F238E27FC236}">
                <a16:creationId xmlns:a16="http://schemas.microsoft.com/office/drawing/2014/main" id="{1E1D067E-D63F-7397-32CC-7E7DB6A4E4E0}"/>
              </a:ext>
            </a:extLst>
          </p:cNvPr>
          <p:cNvSpPr txBox="1">
            <a:spLocks/>
          </p:cNvSpPr>
          <p:nvPr/>
        </p:nvSpPr>
        <p:spPr>
          <a:xfrm>
            <a:off x="713274" y="789085"/>
            <a:ext cx="7569335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4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pt-PT" dirty="0" err="1"/>
              <a:t>Theorem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Idealized</a:t>
            </a:r>
            <a:r>
              <a:rPr lang="pt-PT" dirty="0"/>
              <a:t> </a:t>
            </a:r>
            <a:r>
              <a:rPr lang="pt-PT" dirty="0" err="1"/>
              <a:t>Proof</a:t>
            </a:r>
            <a:r>
              <a:rPr lang="pt-PT" dirty="0"/>
              <a:t> </a:t>
            </a:r>
            <a:r>
              <a:rPr lang="pt-PT" dirty="0" err="1"/>
              <a:t>Search</a:t>
            </a:r>
            <a:endParaRPr lang="pt-PT" b="0" dirty="0"/>
          </a:p>
          <a:p>
            <a:endParaRPr lang="en-GB" dirty="0"/>
          </a:p>
        </p:txBody>
      </p:sp>
      <p:sp>
        <p:nvSpPr>
          <p:cNvPr id="200" name="Google Shape;200;p33">
            <a:extLst>
              <a:ext uri="{FF2B5EF4-FFF2-40B4-BE49-F238E27FC236}">
                <a16:creationId xmlns:a16="http://schemas.microsoft.com/office/drawing/2014/main" id="{FBBB130F-C872-6A56-C82F-77C700235BCF}"/>
              </a:ext>
            </a:extLst>
          </p:cNvPr>
          <p:cNvSpPr txBox="1"/>
          <p:nvPr/>
        </p:nvSpPr>
        <p:spPr>
          <a:xfrm>
            <a:off x="1343324" y="4851000"/>
            <a:ext cx="339123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Focusing vs Intercalation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3">
            <a:extLst>
              <a:ext uri="{FF2B5EF4-FFF2-40B4-BE49-F238E27FC236}">
                <a16:creationId xmlns:a16="http://schemas.microsoft.com/office/drawing/2014/main" id="{25EAF57B-1A9E-C763-EB2A-F462366E8F77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</a:p>
        </p:txBody>
      </p:sp>
      <p:sp>
        <p:nvSpPr>
          <p:cNvPr id="202" name="Google Shape;202;p33">
            <a:extLst>
              <a:ext uri="{FF2B5EF4-FFF2-40B4-BE49-F238E27FC236}">
                <a16:creationId xmlns:a16="http://schemas.microsoft.com/office/drawing/2014/main" id="{43599134-8F22-9EC6-59A6-B967F4CE1FCD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26</a:t>
            </a: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68;p30 2 1">
            <a:extLst>
              <a:ext uri="{FF2B5EF4-FFF2-40B4-BE49-F238E27FC236}">
                <a16:creationId xmlns:a16="http://schemas.microsoft.com/office/drawing/2014/main" id="{E38A50E8-C0FD-671D-9D2A-68E1C982234F}"/>
              </a:ext>
            </a:extLst>
          </p:cNvPr>
          <p:cNvSpPr txBox="1">
            <a:spLocks/>
          </p:cNvSpPr>
          <p:nvPr/>
        </p:nvSpPr>
        <p:spPr>
          <a:xfrm>
            <a:off x="2279961" y="1906533"/>
            <a:ext cx="4435951" cy="913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800" b="1" dirty="0"/>
              <a:t>Proof Search in LKT </a:t>
            </a:r>
          </a:p>
          <a:p>
            <a:pPr marL="0" indent="0" algn="ctr">
              <a:lnSpc>
                <a:spcPct val="150000"/>
              </a:lnSpc>
              <a:buFont typeface="Roboto"/>
              <a:buNone/>
            </a:pPr>
            <a:r>
              <a:rPr lang="en-GB" sz="1800" dirty="0"/>
              <a:t>(following </a:t>
            </a:r>
            <a:r>
              <a:rPr lang="en-GB" sz="1800" i="1" dirty="0"/>
              <a:t>focusing</a:t>
            </a:r>
            <a:r>
              <a:rPr lang="en-GB" sz="1800" dirty="0"/>
              <a:t>)</a:t>
            </a:r>
            <a:endParaRPr lang="en-GB" sz="1800" b="1" dirty="0"/>
          </a:p>
        </p:txBody>
      </p:sp>
      <p:sp>
        <p:nvSpPr>
          <p:cNvPr id="4" name="Google Shape;168;p30 2 2">
            <a:extLst>
              <a:ext uri="{FF2B5EF4-FFF2-40B4-BE49-F238E27FC236}">
                <a16:creationId xmlns:a16="http://schemas.microsoft.com/office/drawing/2014/main" id="{A7DCBEDB-7382-E5FD-B538-B4DA49F8F4CB}"/>
              </a:ext>
            </a:extLst>
          </p:cNvPr>
          <p:cNvSpPr txBox="1">
            <a:spLocks/>
          </p:cNvSpPr>
          <p:nvPr/>
        </p:nvSpPr>
        <p:spPr>
          <a:xfrm>
            <a:off x="2279961" y="3304716"/>
            <a:ext cx="4575494" cy="1049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GB" sz="1800" b="1" dirty="0"/>
              <a:t>Proof Search in NKT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1600" dirty="0"/>
              <a:t>(following </a:t>
            </a:r>
            <a:r>
              <a:rPr lang="en-GB" sz="1600" i="1" dirty="0"/>
              <a:t>intercalation</a:t>
            </a:r>
            <a:r>
              <a:rPr lang="en-GB" sz="1600" dirty="0"/>
              <a:t>)</a:t>
            </a:r>
            <a:endParaRPr lang="en-GB" sz="1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6E65E3-2C1E-D16B-C912-A286C7E6C987}"/>
                  </a:ext>
                </a:extLst>
              </p:cNvPr>
              <p:cNvSpPr txBox="1"/>
              <p:nvPr/>
            </p:nvSpPr>
            <p:spPr>
              <a:xfrm>
                <a:off x="4319204" y="2849720"/>
                <a:ext cx="3574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T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PT" sz="20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6E65E3-2C1E-D16B-C912-A286C7E6C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9204" y="2849720"/>
                <a:ext cx="357470" cy="430887"/>
              </a:xfrm>
              <a:prstGeom prst="rect">
                <a:avLst/>
              </a:prstGeom>
              <a:blipFill>
                <a:blip r:embed="rId7"/>
                <a:stretch>
                  <a:fillRect l="-17241" r="-13793" b="-2857"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0200FF9-42B6-1649-2F96-D6F0CC09958A}"/>
              </a:ext>
            </a:extLst>
          </p:cNvPr>
          <p:cNvSpPr/>
          <p:nvPr/>
        </p:nvSpPr>
        <p:spPr>
          <a:xfrm>
            <a:off x="5089588" y="2006244"/>
            <a:ext cx="488252" cy="330788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7CC2A83-4E98-C0AF-4F31-484D15A5679A}"/>
              </a:ext>
            </a:extLst>
          </p:cNvPr>
          <p:cNvSpPr/>
          <p:nvPr/>
        </p:nvSpPr>
        <p:spPr>
          <a:xfrm>
            <a:off x="5143514" y="3498777"/>
            <a:ext cx="488252" cy="330788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8294D35-120F-BFFA-3F27-41F2D58FD443}"/>
              </a:ext>
            </a:extLst>
          </p:cNvPr>
          <p:cNvSpPr/>
          <p:nvPr/>
        </p:nvSpPr>
        <p:spPr>
          <a:xfrm>
            <a:off x="6259076" y="2520375"/>
            <a:ext cx="2023533" cy="913252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0250FE-2531-1520-7595-9A50C641FCE3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5577840" y="2171638"/>
            <a:ext cx="681236" cy="80536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B12B66-33CD-1EE1-252F-22DC896C2361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5631766" y="2977001"/>
            <a:ext cx="627310" cy="68717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D9C6EDBD-2107-ED82-09AF-9BC30BEB50D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482858" y="2740827"/>
            <a:ext cx="1630142" cy="14774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3A66440-FC80-D468-D5B3-F1000F3EAF2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482859" y="3053376"/>
            <a:ext cx="1617009" cy="1822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30C4108-0386-345E-2780-60F22BA270C0}"/>
                  </a:ext>
                </a:extLst>
              </p:cNvPr>
              <p:cNvSpPr txBox="1"/>
              <p:nvPr/>
            </p:nvSpPr>
            <p:spPr>
              <a:xfrm>
                <a:off x="7121842" y="2240047"/>
                <a:ext cx="11607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pt-PT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𝑳𝑲𝑻</m:t>
                    </m:r>
                    <m:r>
                      <a:rPr lang="en-PT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pt-PT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𝑵𝑲𝑻</m:t>
                    </m:r>
                  </m:oMath>
                </a14:m>
                <a:r>
                  <a:rPr lang="en-PT" sz="16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30C4108-0386-345E-2780-60F22BA27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842" y="2240047"/>
                <a:ext cx="1160767" cy="246221"/>
              </a:xfrm>
              <a:prstGeom prst="rect">
                <a:avLst/>
              </a:prstGeom>
              <a:blipFill>
                <a:blip r:embed="rId10"/>
                <a:stretch>
                  <a:fillRect l="-6452" b="-10000"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" name="Picture 55">
            <a:extLst>
              <a:ext uri="{FF2B5EF4-FFF2-40B4-BE49-F238E27FC236}">
                <a16:creationId xmlns:a16="http://schemas.microsoft.com/office/drawing/2014/main" id="{39A53DB7-D879-16CF-6CB9-C7DBBAB1841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401029" y="2737484"/>
            <a:ext cx="1772964" cy="17729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74971B59-43A2-2829-3CA8-1EF2DE6B553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390105" y="3060273"/>
            <a:ext cx="1761473" cy="1822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A234F14-AF1E-F44F-0F42-E4640AA42378}"/>
                  </a:ext>
                </a:extLst>
              </p:cNvPr>
              <p:cNvSpPr txBox="1"/>
              <p:nvPr/>
            </p:nvSpPr>
            <p:spPr>
              <a:xfrm>
                <a:off x="6989600" y="2240046"/>
                <a:ext cx="137133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T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𝑳𝑲𝑻</m:t>
                          </m:r>
                        </m:e>
                        <m:sub>
                          <m:r>
                            <a:rPr lang="pt-PT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sub>
                      </m:sSub>
                      <m:r>
                        <a:rPr lang="en-PT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sSub>
                        <m:sSubPr>
                          <m:ctrlPr>
                            <a:rPr lang="en-PT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  <m:r>
                            <a:rPr lang="pt-PT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𝑲𝑻</m:t>
                          </m:r>
                        </m:e>
                        <m:sub>
                          <m:r>
                            <a:rPr lang="pt-PT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sub>
                      </m:sSub>
                    </m:oMath>
                  </m:oMathPara>
                </a14:m>
                <a:endParaRPr lang="pt-PT" sz="1600" b="1" dirty="0">
                  <a:latin typeface="Roboto" panose="02000000000000000000" pitchFamily="2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A234F14-AF1E-F44F-0F42-E4640AA42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600" y="2240046"/>
                <a:ext cx="1371337" cy="246221"/>
              </a:xfrm>
              <a:prstGeom prst="rect">
                <a:avLst/>
              </a:prstGeom>
              <a:blipFill>
                <a:blip r:embed="rId13"/>
                <a:stretch>
                  <a:fillRect l="-2752" r="-917" b="-20000"/>
                </a:stretch>
              </a:blipFill>
            </p:spPr>
            <p:txBody>
              <a:bodyPr/>
              <a:lstStyle/>
              <a:p>
                <a:r>
                  <a:rPr lang="en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9D37A097-2431-69E4-65CE-B6FECE49AF37}"/>
              </a:ext>
            </a:extLst>
          </p:cNvPr>
          <p:cNvSpPr/>
          <p:nvPr/>
        </p:nvSpPr>
        <p:spPr>
          <a:xfrm>
            <a:off x="3419061" y="2006244"/>
            <a:ext cx="2158779" cy="330788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F246DF7E-3283-5EC2-A545-E66ED59E4AFA}"/>
              </a:ext>
            </a:extLst>
          </p:cNvPr>
          <p:cNvSpPr/>
          <p:nvPr/>
        </p:nvSpPr>
        <p:spPr>
          <a:xfrm>
            <a:off x="3467745" y="3498777"/>
            <a:ext cx="2158779" cy="330788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52371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  <p:bldP spid="6" grpId="1" animBg="1"/>
      <p:bldP spid="10" grpId="0" animBg="1"/>
      <p:bldP spid="10" grpId="1" animBg="1"/>
      <p:bldP spid="11" grpId="1" animBg="1"/>
      <p:bldP spid="51" grpId="0"/>
      <p:bldP spid="51" grpId="1"/>
      <p:bldP spid="54" grpId="0"/>
      <p:bldP spid="59" grpId="0" animBg="1"/>
      <p:bldP spid="60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1F363E1F-4908-4F62-6E44-A590BEE93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>
            <a:extLst>
              <a:ext uri="{FF2B5EF4-FFF2-40B4-BE49-F238E27FC236}">
                <a16:creationId xmlns:a16="http://schemas.microsoft.com/office/drawing/2014/main" id="{0E092D6E-CE95-573A-82C8-122C168D691D}"/>
              </a:ext>
            </a:extLst>
          </p:cNvPr>
          <p:cNvSpPr txBox="1"/>
          <p:nvPr/>
        </p:nvSpPr>
        <p:spPr>
          <a:xfrm>
            <a:off x="1343324" y="4851000"/>
            <a:ext cx="3787475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Proof Search in Classical Propositional Logic with Partial Proof Terms</a:t>
            </a:r>
            <a:endParaRPr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2">
            <a:extLst>
              <a:ext uri="{FF2B5EF4-FFF2-40B4-BE49-F238E27FC236}">
                <a16:creationId xmlns:a16="http://schemas.microsoft.com/office/drawing/2014/main" id="{70ED5564-EF76-3CDA-E214-649EB6AAD6DD}"/>
              </a:ext>
            </a:extLst>
          </p:cNvPr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7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WoLLIC</a:t>
            </a:r>
            <a:r>
              <a:rPr lang="en-GB" sz="7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@ 2025</a:t>
            </a:r>
            <a:endParaRPr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2">
            <a:extLst>
              <a:ext uri="{FF2B5EF4-FFF2-40B4-BE49-F238E27FC236}">
                <a16:creationId xmlns:a16="http://schemas.microsoft.com/office/drawing/2014/main" id="{32BEED88-A075-4E55-FFE7-DD69AF9BC946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endParaRPr lang="en-GB"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r"/>
            <a:endParaRPr lang="en-GB" sz="7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17426BC-C1D9-00FD-699B-3C2B5A0EE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0" y="2089237"/>
            <a:ext cx="8908200" cy="965026"/>
          </a:xfrm>
        </p:spPr>
        <p:txBody>
          <a:bodyPr anchor="ctr"/>
          <a:lstStyle/>
          <a:p>
            <a:pPr algn="ctr"/>
            <a:r>
              <a:rPr lang="en-PT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758863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74"/>
  <p:tag name="ORIGINALWIDTH" val=" 1080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I\imp]{\seqt{}{A \imp B \imp A}}{\infer[I\imp]{\seqt{x: A}{B \imp A}}{\infer[Ax]{\seqt{x:A, y:B}{A}}{}}}$&#10;&#10;&#10;&#10;\end{document}"/>
  <p:tag name="IGUANATEXSIZE" val="12"/>
  <p:tag name="IGUANATEXCURSOR" val="24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74"/>
  <p:tag name="ORIGINALWIDTH" val=" 1080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I\imp]{\seqt{}{A \imp B \imp A}}{\infer[I\imp]{\seqt{x: A}{B \imp A}}{\infer[Ax]{\seqt{x:A, y:B}{A}}{}}}$&#10;&#10;&#10;&#10;\end{document}"/>
  <p:tag name="IGUANATEXSIZE" val="12"/>
  <p:tag name="IGUANATEXCURSOR" val="24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2"/>
  <p:tag name="ORIGINALWIDTH" val=" 578"/>
  <p:tag name="OUTPUTTYPE" val="PNG"/>
  <p:tag name="IGUANATEXVERSION" val="162"/>
  <p:tag name="LATEXADDIN" val="\documentclass{article}&#10;\usepackage{amsmath}&#10;\pagestyle{empty}&#10;\begin{document}&#10;\newcommand{\lb}{\lambda}&#10;&#10;$\lb x^A . \lb y ^B . x$&#10;&#10;&#10;\end{document}"/>
  <p:tag name="IGUANATEXSIZE" val="20"/>
  <p:tag name="IGUANATEXCURSOR" val="10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74"/>
  <p:tag name="ORIGINALWIDTH" val=" 1080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I\imp]{\seqt{}{A \imp B \imp A}}{\infer[I\imp]{\seqt{x: A}{B \imp A}}{\infer[Ax]{\seqt{x:A, y:B}{A}}{}}}$&#10;&#10;&#10;&#10;\end{document}"/>
  <p:tag name="IGUANATEXSIZE" val="12"/>
  <p:tag name="IGUANATEXCURSOR" val="24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40"/>
  <p:tag name="ORIGINALWIDTH" val=" 1022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I\imp]{\seqt{}{A \imp B \imp A}}{\deduce{\seqt{x: A}{B \imp A}}{}}$&#10;&#10;&#10;&#10;\end{document}"/>
  <p:tag name="IGUANATEXSIZE" val="12"/>
  <p:tag name="IGUANATEXCURSOR" val="19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40"/>
  <p:tag name="ORIGINALWIDTH" val=" 1022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I\imp]{\seqt{}{A \imp B \imp A}}{\deduce{\seqt{x: A}{B \imp A}}{}}$&#10;&#10;&#10;&#10;\end{document}"/>
  <p:tag name="IGUANATEXSIZE" val="12"/>
  <p:tag name="IGUANATEXCURSOR" val="19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40"/>
  <p:tag name="ORIGINALWIDTH" val=" 1022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I\imp]{\seqt{}{A \imp B \imp A}}{\deduce{\seqt{x: A}{B \imp A}}{}}$&#10;&#10;&#10;&#10;\end{document}"/>
  <p:tag name="IGUANATEXSIZE" val="12"/>
  <p:tag name="IGUANATEXCURSOR" val="19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40"/>
  <p:tag name="ORIGINALWIDTH" val=" 1022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I\imp]{\seqt{}{A \imp B \imp A}}{\deduce{\seqt{x: A}{B \imp A}}{}}$&#10;&#10;&#10;&#10;\end{document}"/>
  <p:tag name="IGUANATEXSIZE" val="12"/>
  <p:tag name="IGUANATEXCURSOR" val="19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8"/>
  <p:tag name="ORIGINALWIDTH" val=" 936"/>
  <p:tag name="OUTPUTTYPE" val="PNG"/>
  <p:tag name="IGUANATEXVERSION" val="162"/>
  <p:tag name="LATEXADDIN" val="\documentclass{article}&#10;\usepackage{amsmath}&#10;\pagestyle{empty}&#10;\begin{document}&#10;\newcommand{\lb}{\lambda}&#10;\newcommand{\seqt}[2]{#1\vdash#2}&#10;\newcommand{\udl}[1]{\underline{#1}}&#10;&#10;$\lb x^A . (\udl{\seqt{A}{B \supset A}})$&#10;&#10;&#10;\end{document}"/>
  <p:tag name="IGUANATEXSIZE" val="20"/>
  <p:tag name="IGUANATEXCURSOR" val="21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40"/>
  <p:tag name="ORIGINALWIDTH" val=" 1022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I\imp]{\seqt{}{A \imp B \imp A}}{\deduce{\seqt{x: A}{B \imp A}}{}}$&#10;&#10;&#10;&#10;\end{document}"/>
  <p:tag name="IGUANATEXSIZE" val="12"/>
  <p:tag name="IGUANATEXCURSOR" val="19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8"/>
  <p:tag name="ORIGINALWIDTH" val=" 936"/>
  <p:tag name="OUTPUTTYPE" val="PNG"/>
  <p:tag name="IGUANATEXVERSION" val="162"/>
  <p:tag name="LATEXADDIN" val="\documentclass{article}&#10;\usepackage{amsmath}&#10;\pagestyle{empty}&#10;\begin{document}&#10;\newcommand{\lb}{\lambda}&#10;\newcommand{\seqt}[2]{#1\vdash#2}&#10;\newcommand{\udl}[1]{\underline{#1}}&#10;&#10;$\lb x^A . (\udl{\seqt{A}{B \supset A}})$&#10;&#10;&#10;\end{document}"/>
  <p:tag name="IGUANATEXSIZE" val="20"/>
  <p:tag name="IGUANATEXCURSOR" val="21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40"/>
  <p:tag name="ORIGINALWIDTH" val=" 1022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I\imp]{\seqt{}{A \imp B \imp A}}{\deduce{\seqt{x: A}{B \imp A}}{}}$&#10;&#10;&#10;&#10;\end{document}"/>
  <p:tag name="IGUANATEXSIZE" val="12"/>
  <p:tag name="IGUANATEXCURSOR" val="19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8"/>
  <p:tag name="ORIGINALWIDTH" val=" 936"/>
  <p:tag name="OUTPUTTYPE" val="PNG"/>
  <p:tag name="IGUANATEXVERSION" val="162"/>
  <p:tag name="LATEXADDIN" val="\documentclass{article}&#10;\usepackage{amsmath}&#10;\pagestyle{empty}&#10;\begin{document}&#10;\newcommand{\lb}{\lambda}&#10;\newcommand{\seqt}[2]{#1\vdash#2}&#10;\newcommand{\udl}[1]{\underline{#1}}&#10;&#10;$\lb x^A . (\udl{\seqt{A}{B \supset A}})$&#10;&#10;&#10;\end{document}"/>
  <p:tag name="IGUANATEXSIZE" val="20"/>
  <p:tag name="IGUANATEXCURSOR" val="21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40"/>
  <p:tag name="ORIGINALWIDTH" val=" 1022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I\imp]{\seqt{}{A \imp B \imp A}}{\deduce{\seqt{x: A}{B \imp A}}{}}$&#10;&#10;&#10;&#10;\end{document}"/>
  <p:tag name="IGUANATEXSIZE" val="12"/>
  <p:tag name="IGUANATEXCURSOR" val="19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8"/>
  <p:tag name="ORIGINALWIDTH" val=" 936"/>
  <p:tag name="OUTPUTTYPE" val="PNG"/>
  <p:tag name="IGUANATEXVERSION" val="162"/>
  <p:tag name="LATEXADDIN" val="\documentclass{article}&#10;\usepackage{amsmath}&#10;\pagestyle{empty}&#10;\begin{document}&#10;\newcommand{\lb}{\lambda}&#10;\newcommand{\seqt}[2]{#1\vdash#2}&#10;\newcommand{\udl}[1]{\underline{#1}}&#10;&#10;$\lb x^A . (\udl{\seqt{A}{B \supset A}})$&#10;&#10;&#10;\end{document}"/>
  <p:tag name="IGUANATEXSIZE" val="20"/>
  <p:tag name="IGUANATEXCURSOR" val="21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40"/>
  <p:tag name="ORIGINALWIDTH" val=" 1022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I\imp]{\seqt{}{A \imp B \imp A}}{\deduce{\seqt{x: A}{B \imp A}}{}}$&#10;&#10;&#10;&#10;\end{document}"/>
  <p:tag name="IGUANATEXSIZE" val="12"/>
  <p:tag name="IGUANATEXCURSOR" val="19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4"/>
  <p:tag name="ORIGINALWIDTH" val=" 387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}}{\deduce{\seqt{\Gamma'}{A'}}{}}$&#10;&#10;&#10;&#10;\end{document}"/>
  <p:tag name="IGUANATEXSIZE" val="12"/>
  <p:tag name="IGUANATEXCURSOR" val="14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4"/>
  <p:tag name="ORIGINALWIDTH" val=" 387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}}{\deduce{\seqt{\Gamma'}{A'}}{}}$&#10;&#10;&#10;&#10;\end{document}"/>
  <p:tag name="IGUANATEXSIZE" val="12"/>
  <p:tag name="IGUANATEXCURSOR" val="19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4"/>
  <p:tag name="ORIGINALWIDTH" val=" 387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}}{\deduce{\seqt{\Gamma'}{A'}}{}}$&#10;&#10;&#10;&#10;\end{document}"/>
  <p:tag name="IGUANATEXSIZE" val="12"/>
  <p:tag name="IGUANATEXCURSOR" val="14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4"/>
  <p:tag name="ORIGINALWIDTH" val=" 387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}}{\deduce{\seqt{\Gamma'}{A'}}{}}$&#10;&#10;&#10;&#10;\end{document}"/>
  <p:tag name="IGUANATEXSIZE" val="12"/>
  <p:tag name="IGUANATEXCURSOR" val="19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4"/>
  <p:tag name="ORIGINALWIDTH" val=" 387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}}{\deduce{\seqt{\Gamma'}{A'}}{}}$&#10;&#10;&#10;&#10;\end{document}"/>
  <p:tag name="IGUANATEXSIZE" val="12"/>
  <p:tag name="IGUANATEXCURSOR" val="14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4"/>
  <p:tag name="ORIGINALWIDTH" val=" 387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}}{\deduce{\seqt{\Gamma'}{A'}}{}}$&#10;&#10;&#10;&#10;\end{document}"/>
  <p:tag name="IGUANATEXSIZE" val="12"/>
  <p:tag name="IGUANATEXCURSOR" val="19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4"/>
  <p:tag name="ORIGINALWIDTH" val=" 387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}}{\deduce{\seqt{\Gamma'}{A'}}{}}$&#10;&#10;&#10;&#10;\end{document}"/>
  <p:tag name="IGUANATEXSIZE" val="12"/>
  <p:tag name="IGUANATEXCURSOR" val="14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9"/>
  <p:tag name="ORIGINALWIDTH" val=" 450"/>
  <p:tag name="OUTPUTTYPE" val="PNG"/>
  <p:tag name="IGUANATEXVERSION" val="162"/>
  <p:tag name="LATEXADDIN" val="\documentclass{article}&#10;\usepackage{proof}&#10;\usepackage{comment}&#10;\usepackage{proof}&#10;\usepackage{amssymb,amsmath}&#10;\usepackage{latexsym}&#10;\usepackage{turnstile}&#10;\pagestyle{empty}&#10;\begin{document}&#10;\newcommand{\seqt}[2]{#1\vdash#2}&#10;\newcommand{\imp}{\supset}&#10;\newcommand{\seqh}[2]{#1\rhd#2}&#10;&#10;&#10;$\infer[]{\seqh{\Gamma''}{A''}}{}$&#10;&#10;&#10;&#10;&#10;\end{document}"/>
  <p:tag name="IGUANATEXSIZE" val="12"/>
  <p:tag name="IGUANATEXCURSOR" val="30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4"/>
  <p:tag name="ORIGINALWIDTH" val=" 387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}}{\deduce{\seqt{\Gamma'}{A'}}{}}$&#10;&#10;&#10;&#10;\end{document}"/>
  <p:tag name="IGUANATEXSIZE" val="12"/>
  <p:tag name="IGUANATEXCURSOR" val="19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4"/>
  <p:tag name="ORIGINALWIDTH" val=" 387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}}{\deduce{\seqt{\Gamma'}{A'}}{}}$&#10;&#10;&#10;&#10;\end{document}"/>
  <p:tag name="IGUANATEXSIZE" val="12"/>
  <p:tag name="IGUANATEXCURSOR" val="14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9"/>
  <p:tag name="ORIGINALWIDTH" val=" 450"/>
  <p:tag name="OUTPUTTYPE" val="PNG"/>
  <p:tag name="IGUANATEXVERSION" val="162"/>
  <p:tag name="LATEXADDIN" val="\documentclass{article}&#10;\usepackage{proof}&#10;\usepackage{comment}&#10;\usepackage{proof}&#10;\usepackage{amssymb,amsmath}&#10;\usepackage{latexsym}&#10;\usepackage{turnstile}&#10;\pagestyle{empty}&#10;\begin{document}&#10;\newcommand{\seqt}[2]{#1\vdash#2}&#10;\newcommand{\imp}{\supset}&#10;\newcommand{\seqh}[2]{#1\rhd#2}&#10;&#10;&#10;$\infer[]{\seqh{\Gamma''}{A''}}{}$&#10;&#10;&#10;&#10;&#10;\end{document}"/>
  <p:tag name="IGUANATEXSIZE" val="12"/>
  <p:tag name="IGUANATEXCURSOR" val="30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4"/>
  <p:tag name="ORIGINALWIDTH" val=" 387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}}{\deduce{\seqt{\Gamma'}{A'}}{}}$&#10;&#10;&#10;&#10;\end{document}"/>
  <p:tag name="IGUANATEXSIZE" val="12"/>
  <p:tag name="IGUANATEXCURSOR" val="19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4"/>
  <p:tag name="ORIGINALWIDTH" val=" 387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}}{\deduce{\seqt{\Gamma'}{A'}}{}}$&#10;&#10;&#10;&#10;\end{document}"/>
  <p:tag name="IGUANATEXSIZE" val="12"/>
  <p:tag name="IGUANATEXCURSOR" val="14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9"/>
  <p:tag name="ORIGINALWIDTH" val=" 450"/>
  <p:tag name="OUTPUTTYPE" val="PNG"/>
  <p:tag name="IGUANATEXVERSION" val="162"/>
  <p:tag name="LATEXADDIN" val="\documentclass{article}&#10;\usepackage{proof}&#10;\usepackage{comment}&#10;\usepackage{proof}&#10;\usepackage{amssymb,amsmath}&#10;\usepackage{latexsym}&#10;\usepackage{turnstile}&#10;\pagestyle{empty}&#10;\begin{document}&#10;\newcommand{\seqt}[2]{#1\vdash#2}&#10;\newcommand{\imp}{\supset}&#10;\newcommand{\seqh}[2]{#1\rhd#2}&#10;&#10;&#10;$\infer[]{\seqh{\Gamma''}{A''}}{}$&#10;&#10;&#10;&#10;&#10;\end{document}"/>
  <p:tag name="IGUANATEXSIZE" val="12"/>
  <p:tag name="IGUANATEXCURSOR" val="30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4"/>
  <p:tag name="ORIGINALWIDTH" val=" 387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}}{\deduce{\seqt{\Gamma'}{A'}}{}}$&#10;&#10;&#10;&#10;\end{document}"/>
  <p:tag name="IGUANATEXSIZE" val="12"/>
  <p:tag name="IGUANATEXCURSOR" val="19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4"/>
  <p:tag name="ORIGINALWIDTH" val=" 387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}}{\deduce{\seqt{\Gamma'}{A'}}{}}$&#10;&#10;&#10;&#10;\end{document}"/>
  <p:tag name="IGUANATEXSIZE" val="12"/>
  <p:tag name="IGUANATEXCURSOR" val="14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4"/>
  <p:tag name="ORIGINALWIDTH" val=" 653"/>
  <p:tag name="OUTPUTTYPE" val="PNG"/>
  <p:tag name="IGUANATEXVERSION" val="162"/>
  <p:tag name="LATEXADDIN" val="\documentclass{article}&#10;\usepackage{proof}&#10;\usepackage{comment}&#10;\usepackage{proof}&#10;\usepackage{amssymb,amsmath}&#10;\usepackage{latexsym}&#10;\usepackage{turnstile}&#10;\pagestyle{empty}&#10;\begin{document}&#10;\newcommand{\seqt}[2]{#1\vdash#2}&#10;\newcommand{\imp}{\supset}&#10;\newcommand{\seqh}[2]{#1\rhd#2}&#10;&#10;&#10;$\infer[]{\seqh{\Gamma''}{A'' | \Delta''}}{}$&#10;&#10;&#10;&#10;&#10;\end{document}"/>
  <p:tag name="IGUANATEXSIZE" val="12"/>
  <p:tag name="IGUANATEXCURSOR" val="32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560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 | \Delta}}{\deduce{\seqt{\Gamma'}{A' | \Delta'}}{}}$&#10;&#10;&#10;&#10;\end{document}"/>
  <p:tag name="IGUANATEXSIZE" val="12"/>
  <p:tag name="IGUANATEXCURSOR" val="2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560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 | \Delta}}{\deduce{\seqt{\Gamma'}{A' | \Delta'}}{}}$&#10;&#10;&#10;&#10;\end{document}"/>
  <p:tag name="IGUANATEXSIZE" val="12"/>
  <p:tag name="IGUANATEXCURSOR" val="21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4"/>
  <p:tag name="ORIGINALWIDTH" val=" 653"/>
  <p:tag name="OUTPUTTYPE" val="PNG"/>
  <p:tag name="IGUANATEXVERSION" val="162"/>
  <p:tag name="LATEXADDIN" val="\documentclass{article}&#10;\usepackage{proof}&#10;\usepackage{comment}&#10;\usepackage{proof}&#10;\usepackage{amssymb,amsmath}&#10;\usepackage{latexsym}&#10;\usepackage{turnstile}&#10;\pagestyle{empty}&#10;\begin{document}&#10;\newcommand{\seqt}[2]{#1\vdash#2}&#10;\newcommand{\imp}{\supset}&#10;\newcommand{\seqh}[2]{#1\rhd#2}&#10;&#10;&#10;$\infer[]{\seqh{\Gamma''}{A'' | \Delta''}}{}$&#10;&#10;&#10;&#10;&#10;\end{document}"/>
  <p:tag name="IGUANATEXSIZE" val="12"/>
  <p:tag name="IGUANATEXCURSOR" val="32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560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 | \Delta}}{\deduce{\seqt{\Gamma'}{A' | \Delta'}}{}}$&#10;&#10;&#10;&#10;\end{document}"/>
  <p:tag name="IGUANATEXSIZE" val="12"/>
  <p:tag name="IGUANATEXCURSOR" val="2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560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 | \Delta}}{\deduce{\seqt{\Gamma'}{A' | \Delta'}}{}}$&#10;&#10;&#10;&#10;\end{document}"/>
  <p:tag name="IGUANATEXSIZE" val="12"/>
  <p:tag name="IGUANATEXCURSOR" val="21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4"/>
  <p:tag name="ORIGINALWIDTH" val=" 653"/>
  <p:tag name="OUTPUTTYPE" val="PNG"/>
  <p:tag name="IGUANATEXVERSION" val="162"/>
  <p:tag name="LATEXADDIN" val="\documentclass{article}&#10;\usepackage{proof}&#10;\usepackage{comment}&#10;\usepackage{proof}&#10;\usepackage{amssymb,amsmath}&#10;\usepackage{latexsym}&#10;\usepackage{turnstile}&#10;\pagestyle{empty}&#10;\begin{document}&#10;\newcommand{\seqt}[2]{#1\vdash#2}&#10;\newcommand{\imp}{\supset}&#10;\newcommand{\seqh}[2]{#1\rhd#2}&#10;&#10;&#10;$\infer[]{\seqh{\Gamma''}{A'' | \Delta''}}{}$&#10;&#10;&#10;&#10;&#10;\end{document}"/>
  <p:tag name="IGUANATEXSIZE" val="12"/>
  <p:tag name="IGUANATEXCURSOR" val="32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560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 | \Delta}}{\deduce{\seqt{\Gamma'}{A' | \Delta'}}{}}$&#10;&#10;&#10;&#10;\end{document}"/>
  <p:tag name="IGUANATEXSIZE" val="12"/>
  <p:tag name="IGUANATEXCURSOR" val="2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560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 | \Delta}}{\deduce{\seqt{\Gamma'}{A' | \Delta'}}{}}$&#10;&#10;&#10;&#10;\end{document}"/>
  <p:tag name="IGUANATEXSIZE" val="12"/>
  <p:tag name="IGUANATEXCURSOR" val="21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4"/>
  <p:tag name="ORIGINALWIDTH" val=" 653"/>
  <p:tag name="OUTPUTTYPE" val="PNG"/>
  <p:tag name="IGUANATEXVERSION" val="162"/>
  <p:tag name="LATEXADDIN" val="\documentclass{article}&#10;\usepackage{proof}&#10;\usepackage{comment}&#10;\usepackage{proof}&#10;\usepackage{amssymb,amsmath}&#10;\usepackage{latexsym}&#10;\usepackage{turnstile}&#10;\pagestyle{empty}&#10;\begin{document}&#10;\newcommand{\seqt}[2]{#1\vdash#2}&#10;\newcommand{\imp}{\supset}&#10;\newcommand{\seqh}[2]{#1\rhd#2}&#10;&#10;&#10;$\infer[]{\seqh{\Gamma''}{A'' | \Delta''}}{}$&#10;&#10;&#10;&#10;&#10;\end{document}"/>
  <p:tag name="IGUANATEXSIZE" val="12"/>
  <p:tag name="IGUANATEXCURSOR" val="32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560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 | \Delta}}{\deduce{\seqt{\Gamma'}{A' | \Delta'}}{}}$&#10;&#10;&#10;&#10;\end{document}"/>
  <p:tag name="IGUANATEXSIZE" val="12"/>
  <p:tag name="IGUANATEXCURSOR" val="2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560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 | \Delta}}{\deduce{\seqt{\Gamma'}{A' | \Delta'}}{}}$&#10;&#10;&#10;&#10;\end{document}"/>
  <p:tag name="IGUANATEXSIZE" val="12"/>
  <p:tag name="IGUANATEXCURSOR" val="21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4"/>
  <p:tag name="ORIGINALWIDTH" val=" 653"/>
  <p:tag name="OUTPUTTYPE" val="PNG"/>
  <p:tag name="IGUANATEXVERSION" val="162"/>
  <p:tag name="LATEXADDIN" val="\documentclass{article}&#10;\usepackage{proof}&#10;\usepackage{comment}&#10;\usepackage{proof}&#10;\usepackage{amssymb,amsmath}&#10;\usepackage{latexsym}&#10;\usepackage{turnstile}&#10;\pagestyle{empty}&#10;\begin{document}&#10;\newcommand{\seqt}[2]{#1\vdash#2}&#10;\newcommand{\imp}{\supset}&#10;\newcommand{\seqh}[2]{#1\rhd#2}&#10;&#10;&#10;$\infer[]{\seqh{\Gamma''}{A'' | \Delta''}}{}$&#10;&#10;&#10;&#10;&#10;\end{document}"/>
  <p:tag name="IGUANATEXSIZE" val="12"/>
  <p:tag name="IGUANATEXCURSOR" val="32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560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 | \Delta}}{\deduce{\seqt{\Gamma'}{A' | \Delta'}}{}}$&#10;&#10;&#10;&#10;\end{document}"/>
  <p:tag name="IGUANATEXSIZE" val="12"/>
  <p:tag name="IGUANATEXCURSOR" val="2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560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 | \Delta}}{\deduce{\seqt{\Gamma'}{A' | \Delta'}}{}}$&#10;&#10;&#10;&#10;\end{document}"/>
  <p:tag name="IGUANATEXSIZE" val="12"/>
  <p:tag name="IGUANATEXCURSOR" val="21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4"/>
  <p:tag name="ORIGINALWIDTH" val=" 653"/>
  <p:tag name="OUTPUTTYPE" val="PNG"/>
  <p:tag name="IGUANATEXVERSION" val="162"/>
  <p:tag name="LATEXADDIN" val="\documentclass{article}&#10;\usepackage{proof}&#10;\usepackage{comment}&#10;\usepackage{proof}&#10;\usepackage{amssymb,amsmath}&#10;\usepackage{latexsym}&#10;\usepackage{turnstile}&#10;\pagestyle{empty}&#10;\begin{document}&#10;\newcommand{\seqt}[2]{#1\vdash#2}&#10;\newcommand{\imp}{\supset}&#10;\newcommand{\seqh}[2]{#1\rhd#2}&#10;&#10;&#10;$\infer[]{\seqh{\Gamma''}{A'' | \Delta''}}{}$&#10;&#10;&#10;&#10;&#10;\end{document}"/>
  <p:tag name="IGUANATEXSIZE" val="12"/>
  <p:tag name="IGUANATEXCURSOR" val="32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560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 | \Delta}}{\deduce{\seqt{\Gamma'}{A' | \Delta'}}{}}$&#10;&#10;&#10;&#10;\end{document}"/>
  <p:tag name="IGUANATEXSIZE" val="12"/>
  <p:tag name="IGUANATEXCURSOR" val="2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560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 | \Delta}}{\deduce{\seqt{\Gamma'}{A' | \Delta'}}{}}$&#10;&#10;&#10;&#10;\end{document}"/>
  <p:tag name="IGUANATEXSIZE" val="12"/>
  <p:tag name="IGUANATEXCURSOR" val="21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4"/>
  <p:tag name="ORIGINALWIDTH" val=" 653"/>
  <p:tag name="OUTPUTTYPE" val="PNG"/>
  <p:tag name="IGUANATEXVERSION" val="162"/>
  <p:tag name="LATEXADDIN" val="\documentclass{article}&#10;\usepackage{proof}&#10;\usepackage{comment}&#10;\usepackage{proof}&#10;\usepackage{amssymb,amsmath}&#10;\usepackage{latexsym}&#10;\usepackage{turnstile}&#10;\pagestyle{empty}&#10;\begin{document}&#10;\newcommand{\seqt}[2]{#1\vdash#2}&#10;\newcommand{\imp}{\supset}&#10;\newcommand{\seqh}[2]{#1\rhd#2}&#10;&#10;&#10;$\infer[]{\seqh{\Gamma''}{A'' | \Delta''}}{}$&#10;&#10;&#10;&#10;&#10;\end{document}"/>
  <p:tag name="IGUANATEXSIZE" val="12"/>
  <p:tag name="IGUANATEXCURSOR" val="32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560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 | \Delta}}{\deduce{\seqt{\Gamma'}{A' | \Delta'}}{}}$&#10;&#10;&#10;&#10;\end{document}"/>
  <p:tag name="IGUANATEXSIZE" val="12"/>
  <p:tag name="IGUANATEXCURSOR" val="2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560"/>
  <p:tag name="OUTPUTTYPE" val="PNG"/>
  <p:tag name="IGUANATEXVERSION" val="162"/>
  <p:tag name="LATEXADDIN" val="\documentclass{article}&#10;\usepackage{proof}&#10;\pagestyle{empty}&#10;\begin{document}&#10;\newcommand{\seqt}[2]{#1\vdash#2}&#10;\newcommand{\imp}{\supset}&#10;&#10;$\infer[]{\seqt{\Gamma}{A | \Delta}}{\deduce{\seqt{\Gamma'}{A' | \Delta'}}{}}$&#10;&#10;&#10;&#10;\end{document}"/>
  <p:tag name="IGUANATEXSIZE" val="12"/>
  <p:tag name="IGUANATEXCURSOR" val="21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1146"/>
  <p:tag name="OUTPUTTYPE" val="PNG"/>
  <p:tag name="IGUANATEXVERSION" val="162"/>
  <p:tag name="LATEXADDIN" val="\documentclass{article}&#10;\usepackage{amsmath}&#10;\pagestyle{empty}&#10;\begin{document}&#10;&#10;$A, B ::= p\, |\, A \supset B \, |\, \bot$&#10;&#10;&#10;\end{document}"/>
  <p:tag name="IGUANATEXSIZE" val="20"/>
  <p:tag name="IGUANATEXCURSOR" val="12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1146"/>
  <p:tag name="OUTPUTTYPE" val="PNG"/>
  <p:tag name="IGUANATEXVERSION" val="162"/>
  <p:tag name="LATEXADDIN" val="\documentclass{article}&#10;\usepackage{amsmath}&#10;\pagestyle{empty}&#10;\begin{document}&#10;&#10;$A, B ::= p\, |\, A \supset B \, |\, \bot$&#10;&#10;&#10;\end{document}"/>
  <p:tag name="IGUANATEXSIZE" val="20"/>
  <p:tag name="IGUANATEXCURSOR" val="12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1146"/>
  <p:tag name="OUTPUTTYPE" val="PNG"/>
  <p:tag name="IGUANATEXVERSION" val="162"/>
  <p:tag name="LATEXADDIN" val="\documentclass{article}&#10;\usepackage{amsmath}&#10;\pagestyle{empty}&#10;\begin{document}&#10;&#10;$A, B ::= p\, |\, A \supset B \, |\, \bot$&#10;&#10;&#10;\end{document}"/>
  <p:tag name="IGUANATEXSIZE" val="20"/>
  <p:tag name="IGUANATEXCURSOR" val="12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1"/>
  <p:tag name="ORIGINALWIDTH" val=" 347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cseqc{\Gamma}{\Delta}$&#10;&#10;&#10;&#10;\end{document}"/>
  <p:tag name="IGUANATEXSIZE" val="12"/>
  <p:tag name="IGUANATEXCURSOR" val="11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1146"/>
  <p:tag name="OUTPUTTYPE" val="PNG"/>
  <p:tag name="IGUANATEXVERSION" val="162"/>
  <p:tag name="LATEXADDIN" val="\documentclass{article}&#10;\usepackage{amsmath}&#10;\pagestyle{empty}&#10;\begin{document}&#10;&#10;$A, B ::= p\, |\, A \supset B \, |\, \bot$&#10;&#10;&#10;\end{document}"/>
  <p:tag name="IGUANATEXSIZE" val="20"/>
  <p:tag name="IGUANATEXCURSOR" val="12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445"/>
  <p:tag name="OUTPUTTYPE" val="PNG"/>
  <p:tag name="IGUANATEXVERSION" val="162"/>
  <p:tag name="LATEXADDIN" val="\documentclass{article}&#10;\usepackage{proof}&#10;\pagestyle{empty}&#10;\begin{document}&#10;\newcommand{\cseqt}[3]{#1\vdash#2|#3}&#10;\newcommand{\imp}{\supset}&#10;&#10;$\cseqt{\Gamma}{A}{\Delta}$&#10;&#10;&#10;&#10;\end{document}"/>
  <p:tag name="IGUANATEXSIZE" val="12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1"/>
  <p:tag name="ORIGINALWIDTH" val=" 347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cseqc{\Gamma}{\Delta}$&#10;&#10;&#10;&#10;\end{document}"/>
  <p:tag name="IGUANATEXSIZE" val="12"/>
  <p:tag name="IGUANATEXCURSOR" val="11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1146"/>
  <p:tag name="OUTPUTTYPE" val="PNG"/>
  <p:tag name="IGUANATEXVERSION" val="162"/>
  <p:tag name="LATEXADDIN" val="\documentclass{article}&#10;\usepackage{amsmath}&#10;\pagestyle{empty}&#10;\begin{document}&#10;&#10;$A, B ::= p\, |\, A \supset B \, |\, \bot$&#10;&#10;&#10;\end{document}"/>
  <p:tag name="IGUANATEXSIZE" val="20"/>
  <p:tag name="IGUANATEXCURSOR" val="12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445"/>
  <p:tag name="OUTPUTTYPE" val="PNG"/>
  <p:tag name="IGUANATEXVERSION" val="162"/>
  <p:tag name="LATEXADDIN" val="\documentclass{article}&#10;\usepackage{proof}&#10;\pagestyle{empty}&#10;\begin{document}&#10;\newcommand{\cseqt}[3]{#1\vdash#2|#3}&#10;\newcommand{\imp}{\supset}&#10;&#10;$\cseqt{\Gamma}{A}{\Delta}$&#10;&#10;&#10;&#10;\end{document}"/>
  <p:tag name="IGUANATEXSIZE" val="12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3"/>
  <p:tag name="ORIGINALWIDTH" val=" 466"/>
  <p:tag name="OUTPUTTYPE" val="PNG"/>
  <p:tag name="IGUANATEXVERSION" val="162"/>
  <p:tag name="LATEXADDIN" val="\documentclass{article}&#10;\usepackage{proof}&#10;\pagestyle{empty}&#10;\begin{document}&#10;\newcommand{\cseqt}[3]{#1\vdash#2|#3}&#10;\newcommand{\cseql}[3]{#1;#2\vdash#3}&#10;%\newcommand{\cseqc}[2]{#1\vdash}#2}&#10;\newcommand{\imp}{\supset}&#10;&#10;$\cseql{\Gamma}{A}{\Delta}$&#10;&#10;&#10;&#10;\end{document}"/>
  <p:tag name="IGUANATEXSIZE" val="12"/>
  <p:tag name="IGUANATEXCURSOR" val="22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1"/>
  <p:tag name="ORIGINALWIDTH" val=" 347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cseqc{\Gamma}{\Delta}$&#10;&#10;&#10;&#10;\end{document}"/>
  <p:tag name="IGUANATEXSIZE" val="12"/>
  <p:tag name="IGUANATEXCURSOR" val="11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1146"/>
  <p:tag name="OUTPUTTYPE" val="PNG"/>
  <p:tag name="IGUANATEXVERSION" val="162"/>
  <p:tag name="LATEXADDIN" val="\documentclass{article}&#10;\usepackage{amsmath}&#10;\pagestyle{empty}&#10;\begin{document}&#10;&#10;$A, B ::= p\, |\, A \supset B \, |\, \bot$&#10;&#10;&#10;\end{document}"/>
  <p:tag name="IGUANATEXSIZE" val="20"/>
  <p:tag name="IGUANATEXCURSOR" val="12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445"/>
  <p:tag name="OUTPUTTYPE" val="PNG"/>
  <p:tag name="IGUANATEXVERSION" val="162"/>
  <p:tag name="LATEXADDIN" val="\documentclass{article}&#10;\usepackage{proof}&#10;\pagestyle{empty}&#10;\begin{document}&#10;\newcommand{\cseqt}[3]{#1\vdash#2|#3}&#10;\newcommand{\imp}{\supset}&#10;&#10;$\cseqt{\Gamma}{A}{\Delta}$&#10;&#10;&#10;&#10;\end{document}"/>
  <p:tag name="IGUANATEXSIZE" val="12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3"/>
  <p:tag name="ORIGINALWIDTH" val=" 466"/>
  <p:tag name="OUTPUTTYPE" val="PNG"/>
  <p:tag name="IGUANATEXVERSION" val="162"/>
  <p:tag name="LATEXADDIN" val="\documentclass{article}&#10;\usepackage{proof}&#10;\pagestyle{empty}&#10;\begin{document}&#10;\newcommand{\cseqt}[3]{#1\vdash#2|#3}&#10;\newcommand{\cseql}[3]{#1;#2\vdash#3}&#10;%\newcommand{\cseqc}[2]{#1\vdash}#2}&#10;\newcommand{\imp}{\supset}&#10;&#10;$\cseql{\Gamma}{A}{\Delta}$&#10;&#10;&#10;&#10;\end{document}"/>
  <p:tag name="IGUANATEXSIZE" val="12"/>
  <p:tag name="IGUANATEXCURSOR" val="22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1"/>
  <p:tag name="ORIGINALWIDTH" val=" 347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cseqc{\Gamma}{\Delta}$&#10;&#10;&#10;&#10;\end{document}"/>
  <p:tag name="IGUANATEXSIZE" val="12"/>
  <p:tag name="IGUANATEXCURSOR" val="11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1065"/>
  <p:tag name="OUTPUTTYPE" val="PNG"/>
  <p:tag name="IGUANATEXVERSION" val="162"/>
  <p:tag name="LATEXADDIN" val="\documentclass{article}&#10;\usepackage{proof}&#10;\pagestyle{empty}&#10;\begin{document}&#10;\newcommand{\cseqt}[3]{#1\vdash#2|#3}&#10;\newcommand{\cseql}[3]{#1;#2\vdash#3}&#10;%\newcommand{\cseqc}[2]{#1\vdash}#2}&#10;\newcommand{\imp}{\supset}&#10;&#10;$\infer[R\imp]{\cseqt{\Gamma}{A\imp B}{\Delta}}{\cseqt{\Gamma,x:A}{B}{\Delta}} $&#10;&#10;&#10;&#10;\end{document}"/>
  <p:tag name="IGUANATEXSIZE" val="12"/>
  <p:tag name="IGUANATEXCURSOR" val="23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0"/>
  <p:tag name="ORIGINALWIDTH" val=" 1016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infer[ACT]{\cseqt{\Gamma}{A}{\Delta}}{\cseqc{\Gamma}{a:A,\Delta}}$&#10;&#10;&#10;&#10;\end{document}"/>
  <p:tag name="IGUANATEXSIZE" val="12"/>
  <p:tag name="IGUANATEXCURSOR" val="3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29"/>
  <p:tag name="ORIGINALWIDTH" val=" 1228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infer[LCTR]{\cseqc{\Gamma,x:A}{\Delta}}{\cseql{\Gamma,x:A}{A}{\Delta}}$&#10;&#10;&#10;&#10;\end{document}"/>
  <p:tag name="IGUANATEXSIZE" val="12"/>
  <p:tag name="IGUANATEXCURSOR" val="310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0"/>
  <p:tag name="ORIGINALWIDTH" val=" 1811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infer[RCTR]{\cseqc{\Gamma}{a:A\imp B,\Delta}}{\cseqt{\Gamma,x:A}{B}{a:A\imp B,\Delta}}$&#10;&#10;&#10;&#10;\end{document}"/>
  <p:tag name="IGUANATEXSIZE" val="12"/>
  <p:tag name="IGUANATEXCURSOR" val="310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3"/>
  <p:tag name="ORIGINALWIDTH" val=" 994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infer[AX]{\cseql{\Gamma}{p}{a:p,\Delta}}{}$&#10;&#10;&#10;&#10;\end{document}"/>
  <p:tag name="IGUANATEXSIZE" val="12"/>
  <p:tag name="IGUANATEXCURSOR" val="3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77"/>
  <p:tag name="ORIGINALWIDTH" val=" 716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infer[L\bot]{\cseql{\Gamma}{\bot}{\Delta}}{}$&#10;&#10;&#10;&#10;\end{document}"/>
  <p:tag name="IGUANATEXSIZE" val="12"/>
  <p:tag name="IGUANATEXCURSOR" val="33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90"/>
  <p:tag name="ORIGINALWIDTH" val=" 1330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infer[L\imp]{\cseql{\Gamma}{A\imp B}{\Delta}}{\cseqt{\Gamma}{A}{\Delta}&amp;\cseql{\Gamma}{B}{\Delta}}$&#10;&#10;&#10;&#10;\end{document}"/>
  <p:tag name="IGUANATEXSIZE" val="12"/>
  <p:tag name="IGUANATEXCURSOR" val="37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8"/>
  <p:tag name="ORIGINALWIDTH" val=" 1095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t,u ::= \lb x^A.t \,|\, \mu a^A.c$&#10;&#10;&#10;\end{document}"/>
  <p:tag name="IGUANATEXSIZE" val="20"/>
  <p:tag name="IGUANATEXCURSOR" val="24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1003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l ::= a \,|\, \mathsf{abort} \,|\, \cons{u}{l}$&#10;&#10;&#10;\end{document}"/>
  <p:tag name="IGUANATEXSIZE" val="20"/>
  <p:tag name="IGUANATEXCURSOR" val="20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8"/>
  <p:tag name="ORIGINALWIDTH" val=" 1174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c ::= \cmd xl \,|\,\cmd{\lb x^A.t}a$&#10;&#10;\end{document}"/>
  <p:tag name="IGUANATEXSIZE" val="20"/>
  <p:tag name="IGUANATEXCURSOR" val="24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594"/>
  <p:tag name="OUTPUTTYPE" val="PNG"/>
  <p:tag name="IGUANATEXVERSION" val="162"/>
  <p:tag name="LATEXADDIN" val="\documentclass{article}&#10;\usepackage{proof}&#10;\pagestyle{empty}&#10;\begin{document}&#10;\newcommand{\cseqt}[3]{#1\vdash#2|#3}&#10;\newcommand{\cSeqt}[4]{#1\vdash#2:#3|#4}&#10;\newcommand{\imp}{\supset}&#10;&#10;$\cSeqt{\Gamma}{t}{A}{\Delta}$&#10;&#10;&#10;&#10;\end{document}"/>
  <p:tag name="IGUANATEXSIZE" val="12"/>
  <p:tag name="IGUANATEXCURSOR" val="18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3"/>
  <p:tag name="ORIGINALWIDTH" val=" 609"/>
  <p:tag name="OUTPUTTYPE" val="PNG"/>
  <p:tag name="IGUANATEXVERSION" val="162"/>
  <p:tag name="LATEXADDIN" val="\documentclass{article}&#10;\usepackage{proof}&#10;\pagestyle{empty}&#10;\begin{document}&#10;\newcommand{\cseqt}[3]{#1\vdash#2|#3}&#10;\newcommand{\cseql}[3]{#1;#2\vdash#3}&#10;%\newcommand{\cseqc}[2]{#1\vdash}#2}&#10;\newcommand{\cSeql}[4]{#1;#3:#2\vdash#4}&#10;\newcommand{\imp}{\supset}&#10;&#10;$\cSeql{\Gamma}{A}{l}{\Delta}$&#10;&#10;&#10;&#10;\end{document}"/>
  <p:tag name="IGUANATEXSIZE" val="12"/>
  <p:tag name="IGUANATEXCURSOR" val="27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1"/>
  <p:tag name="ORIGINALWIDTH" val=" 342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cSeqc}[3]{#1\sststile{}{#2}#3}&#10;\newcommand{\imp}{\supset}&#10;&#10;$\cSeqc{\Gamma}{c}{\Delta}$&#10;&#10;&#10;&#10;\end{document}"/>
  <p:tag name="IGUANATEXSIZE" val="12"/>
  <p:tag name="IGUANATEXCURSOR" val="35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15"/>
  <p:tag name="ORIGINALWIDTH" val=" 1409"/>
  <p:tag name="OUTPUTTYPE" val="PNG"/>
  <p:tag name="IGUANATEXVERSION" val="162"/>
  <p:tag name="LATEXADDIN" val="\documentclass{article}&#10;\usepackage{proof}&#10;&#10;\pagestyle{empty}&#10;\begin{document}&#10;\newcommand{\cseqt}[3]{#1\vdash#2|#3}&#10;\newcommand{\cSeqt}[4]{#1\vdash#2:#3|#4}&#10;\newcommand{\cseql}[3]{#1;#2\vdash#3}&#10;\newcommand{\cSeql}[4]{#1;#3:#2\vdash#4}&#10;%\newcommand{\cseqc}[2]{#1\vdash}#2}&#10;\newcommand{\cSeqc}[3]{#1\sststile{}{#2}#3}&#10;\newcommand{\imp}{\supset}&#10;\newcommand{\cons}[2]{#1::#2}&#10;\newcommand{\lb}{\lambda}&#10;\newcommand{\cmd}[2]{\langle #1\,|\,#2\rangle}&#10;&#10;$\infer[R\imp]{\cSeqt{\Gamma}{\lb x^A.t}{A\imp B}{\Delta}}{\cSeqt{\Gamma,x:A}{t}{B}{\Delta}} $&#10;&#10;&#10;&#10;\end{document}"/>
  <p:tag name="IGUANATEXSIZE" val="12"/>
  <p:tag name="IGUANATEXCURSOR" val="46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51"/>
  <p:tag name="ORIGINALWIDTH" val=" 1210"/>
  <p:tag name="OUTPUTTYPE" val="PNG"/>
  <p:tag name="IGUANATEXVERSION" val="162"/>
  <p:tag name="LATEXADDIN" val="\documentclass{article}&#10;\usepackage{proof}&#10;\usepackage{turnstile}&#10;&#10;\pagestyle{empty}&#10;\begin{document}&#10;\newcommand{\cseqt}[3]{#1\vdash#2|#3}&#10;\newcommand{\cSeqt}[4]{#1\vdash#2:#3|#4}&#10;\newcommand{\cseql}[3]{#1;#2\vdash#3}&#10;\newcommand{\cSeql}[4]{#1;#3:#2\vdash#4}&#10;%\newcommand{\cseqc}[2]{#1\vdash}#2}&#10;\newcommand{\cSeqc}[3]{#1\sststile{}{#2}#3}&#10;\newcommand{\imp}{\supset}&#10;\newcommand{\cons}[2]{#1::#2}&#10;\newcommand{\lb}{\lambda}&#10;\newcommand{\cmd}[2]{\langle #1\,|\,#2\rangle}&#10;&#10;$\infer[ACT]{\cSeqt{\Gamma}{\mu a^A.c}{A}{\Delta}}{\cSeqc{\Gamma}{c}{a:A,\Delta}}$&#10;&#10;&#10;&#10;\end{document}"/>
  <p:tag name="IGUANATEXSIZE" val="12"/>
  <p:tag name="IGUANATEXCURSOR" val="480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60"/>
  <p:tag name="ORIGINALWIDTH" val=" 1371"/>
  <p:tag name="OUTPUTTYPE" val="PNG"/>
  <p:tag name="IGUANATEXVERSION" val="162"/>
  <p:tag name="LATEXADDIN" val="\documentclass{article}&#10;\usepackage{proof}&#10;\usepackage{turnstile}&#10;&#10;\pagestyle{empty}&#10;\begin{document}&#10;\newcommand{\cseqt}[3]{#1\vdash#2|#3}&#10;\newcommand{\cSeqt}[4]{#1\vdash#2:#3|#4}&#10;\newcommand{\cseql}[3]{#1;#2\vdash#3}&#10;\newcommand{\cSeql}[4]{#1;#3:#2\vdash#4}&#10;%\newcommand{\cseqc}[2]{#1\vdash}#2}&#10;\newcommand{\cSeqc}[3]{#1\sststile{}{#2}#3}&#10;\newcommand{\imp}{\supset}&#10;\newcommand{\cons}[2]{#1::#2}&#10;\newcommand{\lb}{\lambda}&#10;\newcommand{\cmd}[2]{\langle #1\,|\,#2\rangle}&#10;&#10;$\infer[LCTR]{\cSeqc{\Gamma,x:A}{\cmd xl}{\Delta}}{\cSeql{\Gamma,x:A}{A}{l}{\Delta}}$&#10;&#10;&#10;&#10;\end{document}"/>
  <p:tag name="IGUANATEXSIZE" val="12"/>
  <p:tag name="IGUANATEXCURSOR" val="48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86"/>
  <p:tag name="ORIGINALWIDTH" val=" 1959"/>
  <p:tag name="OUTPUTTYPE" val="PNG"/>
  <p:tag name="IGUANATEXVERSION" val="162"/>
  <p:tag name="LATEXADDIN" val="\documentclass{article}&#10;\usepackage{proof}&#10;\usepackage{turnstile}&#10;&#10;\pagestyle{empty}&#10;\begin{document}&#10;\newcommand{\cseqt}[3]{#1\vdash#2|#3}&#10;\newcommand{\cSeqt}[4]{#1\vdash#2:#3|#4}&#10;\newcommand{\cseql}[3]{#1;#2\vdash#3}&#10;\newcommand{\cSeql}[4]{#1;#3:#2\vdash#4}&#10;%\newcommand{\cseqc}[2]{#1\vdash}#2}&#10;\newcommand{\cSeqc}[3]{#1\sststile{}{#2}#3}&#10;\newcommand{\imp}{\supset}&#10;\newcommand{\cons}[2]{#1::#2}&#10;\newcommand{\lb}{\lambda}&#10;\newcommand{\cmd}[2]{\langle #1\,|\,#2\rangle}&#10;&#10;$\infer[RCTR]{\cSeqc{\Gamma}{\cmd{\lb x^A.t}{a}}{a:A\imp B,\Delta}}{\cSeqt{\Gamma,x:A}{t}{B}{a:A\imp B,\Delta}}$&#10;&#10;&#10;&#10;\end{document}"/>
  <p:tag name="IGUANATEXSIZE" val="12"/>
  <p:tag name="IGUANATEXCURSOR" val="48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3"/>
  <p:tag name="ORIGINALWIDTH" val=" 1164"/>
  <p:tag name="OUTPUTTYPE" val="PNG"/>
  <p:tag name="IGUANATEXVERSION" val="162"/>
  <p:tag name="LATEXADDIN" val="\documentclass{article}&#10;\usepackage{proof}&#10;\usepackage{turnstile}&#10;&#10;\pagestyle{empty}&#10;\begin{document}&#10;\newcommand{\cseqt}[3]{#1\vdash#2|#3}&#10;\newcommand{\cSeqt}[4]{#1\vdash#2:#3|#4}&#10;\newcommand{\cseql}[3]{#1;#2\vdash#3}&#10;\newcommand{\cSeql}[4]{#1;#3:#2\vdash#4}&#10;%\newcommand{\cseqc}[2]{#1\vdash}#2}&#10;\newcommand{\cSeqc}[3]{#1\sststile{}{#2}#3}&#10;\newcommand{\imp}{\supset}&#10;\newcommand{\cons}[2]{#1::#2}&#10;\newcommand{\lb}{\lambda}&#10;\newcommand{\cmd}[2]{\langle #1\,|\,#2\rangle}&#10;&#10;$\infer[AX]{\cSeql{\Gamma}{p}{a}{a:p,\Delta}}{}$&#10;&#10;&#10;&#10;\end{document}"/>
  <p:tag name="IGUANATEXSIZE" val="12"/>
  <p:tag name="IGUANATEXCURSOR" val="480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77"/>
  <p:tag name="ORIGINALWIDTH" val=" 1093"/>
  <p:tag name="OUTPUTTYPE" val="PNG"/>
  <p:tag name="IGUANATEXVERSION" val="162"/>
  <p:tag name="LATEXADDIN" val="\documentclass{article}&#10;\usepackage{proof}&#10;\usepackage{turnstile}&#10;&#10;\pagestyle{empty}&#10;\begin{document}&#10;\newcommand{\cseqt}[3]{#1\vdash#2|#3}&#10;\newcommand{\cSeqt}[4]{#1\vdash#2:#3|#4}&#10;\newcommand{\cseql}[3]{#1;#2\vdash#3}&#10;\newcommand{\cSeql}[4]{#1;#3:#2\vdash#4}&#10;%\newcommand{\cseqc}[2]{#1\vdash}#2}&#10;\newcommand{\cSeqc}[3]{#1\sststile{}{#2}#3}&#10;\newcommand{\imp}{\supset}&#10;\newcommand{\cons}[2]{#1::#2}&#10;\newcommand{\lb}{\lambda}&#10;\newcommand{\cmd}[2]{\langle #1\,|\,#2\rangle}&#10;&#10;$\infer[L\bot]{\cSeql{\Gamma}{\bot}{\mathsf{abort}}{\Delta}}{}$&#10;&#10;&#10;&#10;\end{document}"/>
  <p:tag name="IGUANATEXSIZE" val="12"/>
  <p:tag name="IGUANATEXCURSOR" val="52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90"/>
  <p:tag name="ORIGINALWIDTH" val=" 1649"/>
  <p:tag name="OUTPUTTYPE" val="PNG"/>
  <p:tag name="IGUANATEXVERSION" val="162"/>
  <p:tag name="LATEXADDIN" val="\documentclass{article}&#10;\usepackage{proof}&#10;\usepackage{turnstile}&#10;&#10;\pagestyle{empty}&#10;\begin{document}&#10;\newcommand{\cseqt}[3]{#1\vdash#2|#3}&#10;\newcommand{\cSeqt}[4]{#1\vdash#2:#3|#4}&#10;\newcommand{\cseql}[3]{#1;#2\vdash#3}&#10;\newcommand{\cSeql}[4]{#1;#3:#2\vdash#4}&#10;%\newcommand{\cseqc}[2]{#1\vdash}#2}&#10;\newcommand{\cSeqc}[3]{#1\sststile{}{#2}#3}&#10;\newcommand{\imp}{\supset}&#10;\newcommand{\cons}[2]{#1::#2}&#10;\newcommand{\lb}{\lambda}&#10;\newcommand{\cmd}[2]{\langle #1\,|\,#2\rangle}&#10;&#10;$\infer[L\imp]{\cSeql{\Gamma}{A\imp B}{\cons{u}{l}}{\Delta}}{\cSeqt{\Gamma}{u}{A}{\Delta}&amp;\cSeql{\Gamma}{B}{l}{\Delta}}$&#10;&#10;&#10;&#10;\end{document}"/>
  <p:tag name="IGUANATEXSIZE" val="12"/>
  <p:tag name="IGUANATEXCURSOR" val="48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1065"/>
  <p:tag name="OUTPUTTYPE" val="PNG"/>
  <p:tag name="IGUANATEXVERSION" val="162"/>
  <p:tag name="LATEXADDIN" val="\documentclass{article}&#10;\usepackage{proof}&#10;\pagestyle{empty}&#10;\begin{document}&#10;\newcommand{\cseqt}[3]{#1\vdash#2|#3}&#10;\newcommand{\cseql}[3]{#1;#2\vdash#3}&#10;%\newcommand{\cseqc}[2]{#1\vdash}#2}&#10;\newcommand{\imp}{\supset}&#10;&#10;$\infer[R\imp]{\cseqt{\Gamma}{A\imp B}{\Delta}}{\cseqt{\Gamma,x:A}{B}{\Delta}} $&#10;&#10;&#10;&#10;\end{document}"/>
  <p:tag name="IGUANATEXSIZE" val="12"/>
  <p:tag name="IGUANATEXCURSOR" val="23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0"/>
  <p:tag name="ORIGINALWIDTH" val=" 1016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infer[ACT]{\cseqt{\Gamma}{A}{\Delta}}{\cseqc{\Gamma}{a:A,\Delta}}$&#10;&#10;&#10;&#10;\end{document}"/>
  <p:tag name="IGUANATEXSIZE" val="12"/>
  <p:tag name="IGUANATEXCURSOR" val="3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1065"/>
  <p:tag name="OUTPUTTYPE" val="PNG"/>
  <p:tag name="IGUANATEXVERSION" val="162"/>
  <p:tag name="LATEXADDIN" val="\documentclass{article}&#10;\usepackage{proof}&#10;\pagestyle{empty}&#10;\begin{document}&#10;\newcommand{\cseqt}[3]{#1\vdash#2|#3}&#10;\newcommand{\cseql}[3]{#1;#2\vdash#3}&#10;%\newcommand{\cseqc}[2]{#1\vdash}#2}&#10;\newcommand{\imp}{\supset}&#10;&#10;$\infer[R\imp]{\cseqt{\Gamma}{A\imp B}{\Delta}}{\cseqt{\Gamma,x:A}{B}{\Delta}} $&#10;&#10;&#10;&#10;\end{document}"/>
  <p:tag name="IGUANATEXSIZE" val="12"/>
  <p:tag name="IGUANATEXCURSOR" val="23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0"/>
  <p:tag name="ORIGINALWIDTH" val=" 1016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infer[ACT]{\cseqt{\Gamma}{A}{\Delta}}{\cseqc{\Gamma}{a:A,\Delta}}$&#10;&#10;&#10;&#10;\end{document}"/>
  <p:tag name="IGUANATEXSIZE" val="12"/>
  <p:tag name="IGUANATEXCURSOR" val="3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29"/>
  <p:tag name="ORIGINALWIDTH" val=" 1228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infer[LCTR]{\cseqc{\Gamma,x:A}{\Delta}}{\cseql{\Gamma,x:A}{A}{\Delta}}$&#10;&#10;&#10;&#10;\end{document}"/>
  <p:tag name="IGUANATEXSIZE" val="12"/>
  <p:tag name="IGUANATEXCURSOR" val="310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90"/>
  <p:tag name="ORIGINALWIDTH" val=" 1649"/>
  <p:tag name="OUTPUTTYPE" val="PNG"/>
  <p:tag name="IGUANATEXVERSION" val="162"/>
  <p:tag name="LATEXADDIN" val="\documentclass{article}&#10;\usepackage{proof}&#10;\usepackage{turnstile}&#10;&#10;\pagestyle{empty}&#10;\begin{document}&#10;\newcommand{\cseqt}[3]{#1\vdash#2|#3}&#10;\newcommand{\cSeqt}[4]{#1\vdash#2:#3|#4}&#10;\newcommand{\cseql}[3]{#1;#2\vdash#3}&#10;\newcommand{\cSeql}[4]{#1;#3:#2\vdash#4}&#10;%\newcommand{\cseqc}[2]{#1\vdash}#2}&#10;\newcommand{\cSeqc}[3]{#1\sststile{}{#2}#3}&#10;\newcommand{\imp}{\supset}&#10;\newcommand{\cons}[2]{#1::#2}&#10;\newcommand{\lb}{\lambda}&#10;\newcommand{\cmd}[2]{\langle #1\,|\,#2\rangle}&#10;&#10;$\infer[L\imp]{\cSeql{\Gamma}{A\imp B}{\cons{u}{l}}{\Delta}}{\cSeqt{\Gamma}{u}{A}{\Delta}&amp;\cSeql{\Gamma}{B}{l}{\Delta}}$&#10;&#10;&#10;&#10;\end{document}"/>
  <p:tag name="IGUANATEXSIZE" val="12"/>
  <p:tag name="IGUANATEXCURSOR" val="48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3"/>
  <p:tag name="ORIGINALWIDTH" val=" 994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infer[AX]{\cseql{\Gamma}{p}{a:p,\Delta}}{}$&#10;&#10;&#10;&#10;\end{document}"/>
  <p:tag name="IGUANATEXSIZE" val="12"/>
  <p:tag name="IGUANATEXCURSOR" val="3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77"/>
  <p:tag name="ORIGINALWIDTH" val=" 716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infer[L\bot]{\cseql{\Gamma}{\bot}{\Delta}}{}$&#10;&#10;&#10;&#10;\end{document}"/>
  <p:tag name="IGUANATEXSIZE" val="12"/>
  <p:tag name="IGUANATEXCURSOR" val="33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1065"/>
  <p:tag name="OUTPUTTYPE" val="PNG"/>
  <p:tag name="IGUANATEXVERSION" val="162"/>
  <p:tag name="LATEXADDIN" val="\documentclass{article}&#10;\usepackage{proof}&#10;\pagestyle{empty}&#10;\begin{document}&#10;\newcommand{\cseqt}[3]{#1\vdash#2|#3}&#10;\newcommand{\cseql}[3]{#1;#2\vdash#3}&#10;%\newcommand{\cseqc}[2]{#1\vdash}#2}&#10;\newcommand{\imp}{\supset}&#10;&#10;$\infer[R\imp]{\cseqt{\Gamma}{A\imp B}{\Delta}}{\cseqt{\Gamma,x:A}{B}{\Delta}} $&#10;&#10;&#10;&#10;\end{document}"/>
  <p:tag name="IGUANATEXSIZE" val="12"/>
  <p:tag name="IGUANATEXCURSOR" val="23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0"/>
  <p:tag name="ORIGINALWIDTH" val=" 1016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infer[ACT]{\cseqt{\Gamma}{A}{\Delta}}{\cseqc{\Gamma}{a:A,\Delta}}$&#10;&#10;&#10;&#10;\end{document}"/>
  <p:tag name="IGUANATEXSIZE" val="12"/>
  <p:tag name="IGUANATEXCURSOR" val="3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0"/>
  <p:tag name="ORIGINALWIDTH" val=" 1811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infer[RCTR]{\cseqc{\Gamma}{a:A\imp B,\Delta}}{\cseqt{\Gamma,x:A}{B}{a:A\imp B,\Delta}}$&#10;&#10;&#10;&#10;\end{document}"/>
  <p:tag name="IGUANATEXSIZE" val="12"/>
  <p:tag name="IGUANATEXCURSOR" val="310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8"/>
  <p:tag name="ORIGINALWIDTH" val=" 1095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t,u ::= \lb x^A.t \,|\, \mu a^A.c $&#10;&#10;&#10;\end{document}"/>
  <p:tag name="IGUANATEXSIZE" val="20"/>
  <p:tag name="IGUANATEXCURSOR" val="24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1003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l ::= a \,|\, \mathsf{abort} \,|\, \cons{u}{l}$&#10;&#10;&#10;\end{document}"/>
  <p:tag name="IGUANATEXSIZE" val="20"/>
  <p:tag name="IGUANATEXCURSOR" val="25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8"/>
  <p:tag name="ORIGINALWIDTH" val=" 1174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c ::= \cmd xl \,|\,\cmd{\lb x^A.t}a $&#10;&#10;\end{document}"/>
  <p:tag name="IGUANATEXSIZE" val="20"/>
  <p:tag name="IGUANATEXCURSOR" val="24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455"/>
  <p:tag name="OUTPUTTYPE" val="PNG"/>
  <p:tag name="IGUANATEXVERSION" val="162"/>
  <p:tag name="LATEXADDIN" val="\documentclass{article}&#10;\usepackage{proof}&#10;\pagestyle{empty}&#10;\begin{document}&#10;\newcommand{\cseqt}[3]{#1\vdash#2|#3}&#10;\newcommand{\imp}{\supset}&#10;&#10;$\underline{\cseqt{\Gamma}{A}{\Delta}}$&#10;&#10;&#10;&#10;\end{document}"/>
  <p:tag name="IGUANATEXSIZE" val="12"/>
  <p:tag name="IGUANATEXCURSOR" val="18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3"/>
  <p:tag name="ORIGINALWIDTH" val=" 476"/>
  <p:tag name="OUTPUTTYPE" val="PNG"/>
  <p:tag name="IGUANATEXVERSION" val="162"/>
  <p:tag name="LATEXADDIN" val="\documentclass{article}&#10;\usepackage{proof}&#10;\pagestyle{empty}&#10;\begin{document}&#10;\newcommand{\cseqt}[3]{#1\vdash#2|#3}&#10;\newcommand{\cseql}[3]{#1;#2\vdash#3}&#10;%\newcommand{\cseqc}[2]{#1\vdash}#2}&#10;\newcommand{\imp}{\supset}&#10;&#10;$\underline{\cseql{\Gamma}{A}{\Delta}}$&#10;&#10;&#10;&#10;\end{document}"/>
  <p:tag name="IGUANATEXSIZE" val="12"/>
  <p:tag name="IGUANATEXCURSOR" val="25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357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underline{\cseqc{\Gamma}{\Delta}}$&#10;&#10;&#10;&#10;\end{document}"/>
  <p:tag name="IGUANATEXSIZE" val="12"/>
  <p:tag name="IGUANATEXCURSOR" val="33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8"/>
  <p:tag name="ORIGINALWIDTH" val=" 1247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t,u ::= \lb x^A.t \,|\, \mu a^A.c \,|\, \underline{\sigma}$&#10;&#10;&#10;\end{document}"/>
  <p:tag name="IGUANATEXSIZE" val="20"/>
  <p:tag name="IGUANATEXCURSOR" val="24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1155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l ::= a \,|\, \mathsf{abort} \,|\, \cons{u}{l} \,|\, \underline{\tau}$&#10;&#10;&#10;\end{document}"/>
  <p:tag name="IGUANATEXSIZE" val="20"/>
  <p:tag name="IGUANATEXCURSOR" val="27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1"/>
  <p:tag name="ORIGINALWIDTH" val=" 1327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c ::= \cmd xl \,|\,\cmd{\lb x^A.t}a \,|\, \underline{\zeta}$&#10;&#10;\end{document}"/>
  <p:tag name="IGUANATEXSIZE" val="20"/>
  <p:tag name="IGUANATEXCURSOR" val="26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8"/>
  <p:tag name="ORIGINALWIDTH" val=" 457"/>
  <p:tag name="OUTPUTTYPE" val="PNG"/>
  <p:tag name="IGUANATEXVERSION" val="162"/>
  <p:tag name="LATEXADDIN" val="\documentclass{article}&#10;\usepackage{amsmath, amssymb}&#10;\usepackage[T1]{fontenc}&#10;\pagestyle{empty}&#10;\begin{document}&#10;&#10;\newcommand{\cons}[2]{#1::#2}&#10;\newcommand{\lb}{\lambda}&#10;\newcommand{\cmd}[2]{\langle #1\,|\,#2\rangle}&#10;\newcommand{\pseqt}[3]{#1\Vdash#2:#3}&#10;\newcommand{\pseql}[3]{#1\Vdash#2:#3}&#10;\newcommand{\pseqc}[3]{#1\Vdash#2:#3}&#10;&#10;&#10;$\pseqt{\Xi}{t}{\sigma}$ &#10;&#10;&#10;\end{document}"/>
  <p:tag name="IGUANATEXSIZE" val="20"/>
  <p:tag name="IGUANATEXCURSOR" val="35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2"/>
  <p:tag name="ORIGINALWIDTH" val=" 454"/>
  <p:tag name="OUTPUTTYPE" val="PNG"/>
  <p:tag name="IGUANATEXVERSION" val="162"/>
  <p:tag name="LATEXADDIN" val="\documentclass{article}&#10;\usepackage{amsmath, amssymb}&#10;\usepackage[T1]{fontenc}&#10;\pagestyle{empty}&#10;\begin{document}&#10;&#10;\newcommand{\cons}[2]{#1::#2}&#10;\newcommand{\lb}{\lambda}&#10;\newcommand{\cmd}[2]{\langle #1\,|\,#2\rangle}&#10;\newcommand{\pseqt}[3]{#1\Vdash#2:#3}&#10;\newcommand{\pseql}[3]{#1\Vdash#2:#3}&#10;\newcommand{\pseqc}[3]{#1\Vdash#2:#3}&#10;&#10;&#10;$\pseqt{\Xi}{c}{\zeta}$ &#10;&#10;&#10;\end{document}"/>
  <p:tag name="IGUANATEXSIZE" val="20"/>
  <p:tag name="IGUANATEXCURSOR" val="35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8"/>
  <p:tag name="ORIGINALWIDTH" val=" 444"/>
  <p:tag name="OUTPUTTYPE" val="PNG"/>
  <p:tag name="IGUANATEXVERSION" val="162"/>
  <p:tag name="LATEXADDIN" val="\documentclass{article}&#10;\usepackage{amsmath, amssymb}&#10;\usepackage[T1]{fontenc}&#10;\pagestyle{empty}&#10;\begin{document}&#10;&#10;\newcommand{\cons}[2]{#1::#2}&#10;\newcommand{\lb}{\lambda}&#10;\newcommand{\cmd}[2]{\langle #1\,|\,#2\rangle}&#10;\newcommand{\pseqt}[3]{#1\Vdash#2:#3}&#10;\newcommand{\pseql}[3]{#1\Vdash#2:#3}&#10;\newcommand{\pseqc}[3]{#1\Vdash#2:#3}&#10;&#10;&#10;$\pseqt{\Xi}{l}{\tau}$ &#10;&#10;&#10;\end{document}"/>
  <p:tag name="IGUANATEXSIZE" val="20"/>
  <p:tag name="IGUANATEXCURSOR" val="35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8"/>
  <p:tag name="ORIGINALWIDTH" val=" 1247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t,u ::= \lb x^A.t \,|\, \mu a^A.c \,|\, \underline{\sigma}$&#10;&#10;&#10;\end{document}"/>
  <p:tag name="IGUANATEXSIZE" val="20"/>
  <p:tag name="IGUANATEXCURSOR" val="24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1155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l ::= a \,|\, \mathsf{abort} \,|\, \cons{u}{l} \,|\, \underline{\tau}$&#10;&#10;&#10;\end{document}"/>
  <p:tag name="IGUANATEXSIZE" val="20"/>
  <p:tag name="IGUANATEXCURSOR" val="27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1"/>
  <p:tag name="ORIGINALWIDTH" val=" 1327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c ::= \cmd xl \,|\,\cmd{\lb x^A.t}a \,|\, \underline{\zeta}$&#10;&#10;\end{document}"/>
  <p:tag name="IGUANATEXSIZE" val="20"/>
  <p:tag name="IGUANATEXCURSOR" val="26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3"/>
  <p:tag name="ORIGINALWIDTH" val=" 1164"/>
  <p:tag name="OUTPUTTYPE" val="PNG"/>
  <p:tag name="IGUANATEXVERSION" val="162"/>
  <p:tag name="LATEXADDIN" val="\documentclass{article}&#10;\usepackage{proof}&#10;\usepackage{turnstile}&#10;&#10;\pagestyle{empty}&#10;\begin{document}&#10;\newcommand{\cseqt}[3]{#1\vdash#2|#3}&#10;\newcommand{\cSeqt}[4]{#1\vdash#2:#3|#4}&#10;\newcommand{\cseql}[3]{#1;#2\vdash#3}&#10;\newcommand{\cSeql}[4]{#1;#3:#2\vdash#4}&#10;%\newcommand{\cseqc}[2]{#1\vdash}#2}&#10;\newcommand{\cSeqc}[3]{#1\sststile{}{#2}#3}&#10;\newcommand{\imp}{\supset}&#10;\newcommand{\cons}[2]{#1::#2}&#10;\newcommand{\lb}{\lambda}&#10;\newcommand{\cmd}[2]{\langle #1\,|\,#2\rangle}&#10;&#10;$\infer[AX]{\cSeql{\Gamma}{p}{a}{a:p,\Delta}}{}$&#10;&#10;&#10;&#10;\end{document}"/>
  <p:tag name="IGUANATEXSIZE" val="12"/>
  <p:tag name="IGUANATEXCURSOR" val="480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5"/>
  <p:tag name="ORIGINALWIDTH" val=" 1470"/>
  <p:tag name="OUTPUTTYPE" val="PNG"/>
  <p:tag name="IGUANATEXVERSION" val="162"/>
  <p:tag name="LATEXADDIN" val="\documentclass{article}&#10;\usepackage{amsmath, amssymb}&#10;\usepackage{proof}&#10;\usepackage[T1]{fontenc}&#10;\pagestyle{empty}&#10;\begin{document}&#10;&#10;\newcommand{\cons}[2]{#1::#2}&#10;\newcommand{\lb}{\lambda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&#10;&#10;$\infer[AX]{\cpseql{\elst}{a}{(\cseql{\Gamma}{p}{a:p, \Delta})}}{}$ &#10;&#10;&#10;\end{document}"/>
  <p:tag name="IGUANATEXSIZE" val="20"/>
  <p:tag name="IGUANATEXCURSOR" val="5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2439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&#10;&#10;$\infer[L\imp]{\cpseql{\ap{\Xi_1}{\Xi_2}}{\cons{u}{l}}{(\cseql{\Gamma}{A\imp B}{\Delta})}}{\cpseqt{\Xi_1}{u}{(\cseqt{\Gamma}{A}{\Delta})}&amp;\cpseql{\Xi_2}{l}{(\cseql{\Gamma}{B}{\Delta})}}$ &#10;&#10;&#10;\end{document}"/>
  <p:tag name="IGUANATEXSIZE" val="20"/>
  <p:tag name="IGUANATEXCURSOR" val="71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90"/>
  <p:tag name="ORIGINALWIDTH" val=" 1649"/>
  <p:tag name="OUTPUTTYPE" val="PNG"/>
  <p:tag name="IGUANATEXVERSION" val="162"/>
  <p:tag name="LATEXADDIN" val="\documentclass{article}&#10;\usepackage{proof}&#10;\usepackage{turnstile}&#10;&#10;\pagestyle{empty}&#10;\begin{document}&#10;\newcommand{\cseqt}[3]{#1\vdash#2|#3}&#10;\newcommand{\cSeqt}[4]{#1\vdash#2:#3|#4}&#10;\newcommand{\cseql}[3]{#1;#2\vdash#3}&#10;\newcommand{\cSeql}[4]{#1;#3:#2\vdash#4}&#10;%\newcommand{\cseqc}[2]{#1\vdash}#2}&#10;\newcommand{\cSeqc}[3]{#1\sststile{}{#2}#3}&#10;\newcommand{\imp}{\supset}&#10;\newcommand{\cons}[2]{#1::#2}&#10;\newcommand{\lb}{\lambda}&#10;\newcommand{\cmd}[2]{\langle #1\,|\,#2\rangle}&#10;&#10;$\infer[L\imp]{\cSeql{\Gamma}{A\imp B}{\cons{u}{l}}{\Delta}}{\cSeqt{\Gamma}{u}{A}{\Delta}&amp;\cSeql{\Gamma}{B}{l}{\Delta}}$&#10;&#10;&#10;&#10;\end{document}"/>
  <p:tag name="IGUANATEXSIZE" val="12"/>
  <p:tag name="IGUANATEXCURSOR" val="48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5"/>
  <p:tag name="ORIGINALWIDTH" val=" 692"/>
  <p:tag name="OUTPUTTYPE" val="PNG"/>
  <p:tag name="IGUANATEXVERSION" val="162"/>
  <p:tag name="LATEXADDIN" val="\documentclass{article}&#10;\usepackage{amsmath, amssymb}&#10;\usepackage{proof}&#10;\usepackage[T1]{fontenc}&#10;\pagestyle{empty}&#10;\begin{document}&#10;&#10;\newcommand{\cons}[2]{#1::#2}&#10;\newcommand{\lb}{\lambda}&#10;\newcommand{\cmd}[2]{\langle #1\,|\,#2\rangle}&#10;\newcommand{\cpseqt}[3]{#1\Vdash#2:#3}&#10;\newcommand{\cpseql}[3]{#1\Vdash#2:#3}&#10;\newcommand{\cpseqc}[3]{#1\Vdash#2:#3}&#10;\newcommand{\lst}[1]{[#1]}%{\langle#1\rangle}&#10;\newcommand{\elst}{\epsilon}&#10;&#10;&#10;$\infer[\partial]{\cpseqt{\lst{\underline{\sigma}}}{\underline{\sigma}}{\sigma}}{}$ &#10;&#10;&#10;\end{document}"/>
  <p:tag name="IGUANATEXSIZE" val="20"/>
  <p:tag name="IGUANATEXCURSOR" val="7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08"/>
  <p:tag name="ORIGINALWIDTH" val=" 656"/>
  <p:tag name="OUTPUTTYPE" val="PNG"/>
  <p:tag name="IGUANATEXVERSION" val="162"/>
  <p:tag name="LATEXADDIN" val="\documentclass{article}&#10;\usepackage{amsmath, amssymb}&#10;\usepackage{proof}&#10;\usepackage[T1]{fontenc}&#10;\pagestyle{empty}&#10;\begin{document}&#10;&#10;\newcommand{\cons}[2]{#1::#2}&#10;\newcommand{\lb}{\lambda}&#10;\newcommand{\cmd}[2]{\langle #1\,|\,#2\rangle}&#10;\newcommand{\cpseqt}[3]{#1\Vdash#2:#3}&#10;\newcommand{\cpseql}[3]{#1\Vdash#2:#3}&#10;\newcommand{\cpseqc}[3]{#1\Vdash#2:#3}&#10;\newcommand{\lst}[1]{[#1]}%{\langle#1\rangle}&#10;\newcommand{\elst}{\epsilon}&#10;&#10;&#10;$\infer[\partial]{\cpseqt{\lst{\underline{\zeta}}}{\underline{\zeta}}{\zeta}}{}$ &#10;&#10;&#10;\end{document}"/>
  <p:tag name="IGUANATEXSIZE" val="20"/>
  <p:tag name="IGUANATEXCURSOR" val="5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5"/>
  <p:tag name="ORIGINALWIDTH" val=" 671"/>
  <p:tag name="OUTPUTTYPE" val="PNG"/>
  <p:tag name="IGUANATEXVERSION" val="162"/>
  <p:tag name="LATEXADDIN" val="\documentclass{article}&#10;\usepackage{amsmath, amssymb}&#10;\usepackage{proof}&#10;\usepackage[T1]{fontenc}&#10;\pagestyle{empty}&#10;\begin{document}&#10;&#10;\newcommand{\cons}[2]{#1::#2}&#10;\newcommand{\lb}{\lambda}&#10;\newcommand{\cmd}[2]{\langle #1\,|\,#2\rangle}&#10;\newcommand{\cpseqt}[3]{#1\Vdash#2:#3}&#10;\newcommand{\cpseql}[3]{#1\Vdash#2:#3}&#10;\newcommand{\cpseqc}[3]{#1\Vdash#2:#3}&#10;\newcommand{\lst}[1]{[#1]}%{\langle#1\rangle}&#10;\newcommand{\elst}{\epsilon}&#10;&#10;&#10;$\infer[\partial]{\cpseqt{\lst{\underline{\tau}}}{\underline{\tau}}{\tau}}{}$ &#10;&#10;&#10;\end{document}"/>
  <p:tag name="IGUANATEXSIZE" val="20"/>
  <p:tag name="IGUANATEXCURSOR" val="50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5"/>
  <p:tag name="ORIGINALWIDTH" val=" 692"/>
  <p:tag name="OUTPUTTYPE" val="PNG"/>
  <p:tag name="IGUANATEXVERSION" val="162"/>
  <p:tag name="LATEXADDIN" val="\documentclass{article}&#10;\usepackage{amsmath, amssymb}&#10;\usepackage{proof}&#10;\usepackage[T1]{fontenc}&#10;\pagestyle{empty}&#10;\begin{document}&#10;&#10;\newcommand{\cons}[2]{#1::#2}&#10;\newcommand{\lb}{\lambda}&#10;\newcommand{\cmd}[2]{\langle #1\,|\,#2\rangle}&#10;\newcommand{\cpseqt}[3]{#1\Vdash#2:#3}&#10;\newcommand{\cpseql}[3]{#1\Vdash#2:#3}&#10;\newcommand{\cpseqc}[3]{#1\Vdash#2:#3}&#10;\newcommand{\lst}[1]{[#1]}%{\langle#1\rangle}&#10;\newcommand{\elst}{\epsilon}&#10;&#10;&#10;$\infer[\partial]{\cpseqt{\lst{\underline{\sigma}}}{\underline{\sigma}}{\sigma}}{}$ &#10;&#10;&#10;\end{document}"/>
  <p:tag name="IGUANATEXSIZE" val="20"/>
  <p:tag name="IGUANATEXCURSOR" val="7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08"/>
  <p:tag name="ORIGINALWIDTH" val=" 656"/>
  <p:tag name="OUTPUTTYPE" val="PNG"/>
  <p:tag name="IGUANATEXVERSION" val="162"/>
  <p:tag name="LATEXADDIN" val="\documentclass{article}&#10;\usepackage{amsmath, amssymb}&#10;\usepackage{proof}&#10;\usepackage[T1]{fontenc}&#10;\pagestyle{empty}&#10;\begin{document}&#10;&#10;\newcommand{\cons}[2]{#1::#2}&#10;\newcommand{\lb}{\lambda}&#10;\newcommand{\cmd}[2]{\langle #1\,|\,#2\rangle}&#10;\newcommand{\cpseqt}[3]{#1\Vdash#2:#3}&#10;\newcommand{\cpseql}[3]{#1\Vdash#2:#3}&#10;\newcommand{\cpseqc}[3]{#1\Vdash#2:#3}&#10;\newcommand{\lst}[1]{[#1]}%{\langle#1\rangle}&#10;\newcommand{\elst}{\epsilon}&#10;&#10;&#10;$\infer[\partial]{\cpseqt{\lst{\underline{\zeta}}}{\underline{\zeta}}{\zeta}}{}$ &#10;&#10;&#10;\end{document}"/>
  <p:tag name="IGUANATEXSIZE" val="20"/>
  <p:tag name="IGUANATEXCURSOR" val="5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5"/>
  <p:tag name="ORIGINALWIDTH" val=" 671"/>
  <p:tag name="OUTPUTTYPE" val="PNG"/>
  <p:tag name="IGUANATEXVERSION" val="162"/>
  <p:tag name="LATEXADDIN" val="\documentclass{article}&#10;\usepackage{amsmath, amssymb}&#10;\usepackage{proof}&#10;\usepackage[T1]{fontenc}&#10;\pagestyle{empty}&#10;\begin{document}&#10;&#10;\newcommand{\cons}[2]{#1::#2}&#10;\newcommand{\lb}{\lambda}&#10;\newcommand{\cmd}[2]{\langle #1\,|\,#2\rangle}&#10;\newcommand{\cpseqt}[3]{#1\Vdash#2:#3}&#10;\newcommand{\cpseql}[3]{#1\Vdash#2:#3}&#10;\newcommand{\cpseqc}[3]{#1\Vdash#2:#3}&#10;\newcommand{\lst}[1]{[#1]}%{\langle#1\rangle}&#10;\newcommand{\elst}{\epsilon}&#10;&#10;&#10;$\infer[\partial]{\cpseqt{\lst{\underline{\tau}}}{\underline{\tau}}{\tau}}{}$ &#10;&#10;&#10;\end{document}"/>
  <p:tag name="IGUANATEXSIZE" val="20"/>
  <p:tag name="IGUANATEXCURSOR" val="50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5"/>
  <p:tag name="ORIGINALWIDTH" val=" 1470"/>
  <p:tag name="OUTPUTTYPE" val="PNG"/>
  <p:tag name="IGUANATEXVERSION" val="162"/>
  <p:tag name="LATEXADDIN" val="\documentclass{article}&#10;\usepackage{amsmath, amssymb}&#10;\usepackage{proof}&#10;\usepackage[T1]{fontenc}&#10;\pagestyle{empty}&#10;\begin{document}&#10;&#10;\newcommand{\cons}[2]{#1::#2}&#10;\newcommand{\lb}{\lambda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&#10;&#10;$\infer[AX]{\cpseql{\elst}{a}{(\cseql{\Gamma}{p}{a:p, \Delta})}}{}$ &#10;&#10;&#10;\end{document}"/>
  <p:tag name="IGUANATEXSIZE" val="20"/>
  <p:tag name="IGUANATEXCURSOR" val="5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0"/>
  <p:tag name="ORIGINALWIDTH" val=" 1380"/>
  <p:tag name="OUTPUTTYPE" val="PNG"/>
  <p:tag name="IGUANATEXVERSION" val="162"/>
  <p:tag name="LATEXADDIN" val="\documentclass{article}&#10;\usepackage{amsmath, amssymb}&#10;\usepackage{proof}&#10;\usepackage[T1]{fontenc}&#10;\pagestyle{empty}&#10;\begin{document}&#10;&#10;\newcommand{\cons}[2]{#1::#2}&#10;\newcommand{\lb}{\lambda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$\infer[E\bot]{\cpseql{\elst}{\ab}{(\cseql{\Gamma}{\abs}{\Delta})}}{}$ &#10;&#10;&#10;\end{document}"/>
  <p:tag name="IGUANATEXSIZE" val="20"/>
  <p:tag name="IGUANATEXCURSOR" val="65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51"/>
  <p:tag name="ORIGINALWIDTH" val=" 1549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$\infer[ACT]{\cpseqt{\Xi}{\mu a^A.c}{(\cseqt{\Gamma}{A}{\Delta})}}{\cpseqc{\Xi}{c}{(\cseqc{\Gamma}{a:A, \Delta})}}$ &#10;&#10;&#10;\end{document}"/>
  <p:tag name="IGUANATEXSIZE" val="20"/>
  <p:tag name="IGUANATEXCURSOR" val="66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0"/>
  <p:tag name="ORIGINALWIDTH" val=" 2367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$\infer[RCTR]{\cpseqc{\Xi}{\cmd{\lb x^A. t}{a}}{(\cseqc{\Gamma}{a: A\imp B, \Delta})}}{\cpseqt{\Xi}{t}{(\cseqt{\Gamma, x:A}{B}{a: A \imp B, \Delta})}} $ &#10;&#10;&#10;\end{document}"/>
  <p:tag name="IGUANATEXSIZE" val="20"/>
  <p:tag name="IGUANATEXCURSOR" val="23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39"/>
  <p:tag name="ORIGINALWIDTH" val=" 183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$\infer[LCTR]{\cpseqc{\Xi}{\cmd xl}{(\cseqc{\Gamma, x:A}{\Delta})}}{\cpseql{\Xi}{l}{(\cseql{\Gamma, x:A}{A}{\Delta})}}$ &#10;&#10;&#10;\end{document}"/>
  <p:tag name="IGUANATEXSIZE" val="20"/>
  <p:tag name="IGUANATEXCURSOR" val="69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15"/>
  <p:tag name="ORIGINALWIDTH" val=" 174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$\infer[R\imp]{\cpseqt{\Xi}{\lb x^A.t}{(\cseqt{\Gamma}{A\imp B}{\Delta})}}{\cpseqt{\Xi}{t}{(\cseqt{\Gamma,x:A}{B}{\Delta})}}$ &#10;&#10;&#10;\end{document}"/>
  <p:tag name="IGUANATEXSIZE" val="20"/>
  <p:tag name="IGUANATEXCURSOR" val="76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2439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&#10;&#10;$\infer[L\imp]{\cpseql{\ap{\Xi_1}{\Xi_2}}{\cons{u}{l}}{(\cseql{\Gamma}{A\imp B}{\Delta})}}{\cpseqt{\Xi_1}{u}{(\cseqt{\Gamma}{A}{\Delta})}&amp;\cpseql{\Xi_2}{l}{(\cseql{\Gamma}{B}{\Delta})}}$ &#10;&#10;&#10;\end{document}"/>
  <p:tag name="IGUANATEXSIZE" val="20"/>
  <p:tag name="IGUANATEXCURSOR" val="71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315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&#10;$\udl{\cseqc{\Gamma}{a: A \imp B, \Delta}} \; \to \; \cmd{\lb x^A . (\udl{\cseqt{\Gamma, x:A}{B}{a: A\imp B, \Delta}})}a$ &#10;&#10;&#10;\end{document}"/>
  <p:tag name="IGUANATEXSIZE" val="20"/>
  <p:tag name="IGUANATEXCURSOR" val="80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8"/>
  <p:tag name="ORIGINALWIDTH" val=" 2114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&#10;$\udl{\cseqt{\Gamma}{A\imp B}{\Delta}} \; \to \; \lb x^A.(\udl{\cseqt{\Gamma,x:A}{B}{\Delta}})$ &#10;&#10;&#10;\end{document}"/>
  <p:tag name="IGUANATEXSIZE" val="20"/>
  <p:tag name="IGUANATEXCURSOR" val="79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1733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&#10;$\udl{\cseqt{\Gamma}{A}{\Delta}} \; \to \; \mu a^A.(\udl{\cseqc{\Gamma}{a:A, \Delta}})$ &#10;&#10;&#10;\end{document}"/>
  <p:tag name="IGUANATEXSIZE" val="20"/>
  <p:tag name="IGUANATEXCURSOR" val="79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207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&#10;$\udl{\cseqc{\Gamma,x:A}{\Delta}} \; \to \; \cmd x{(\udl{\cseql{\Gamma, x:A}{A}{\Delta}})}$ &#10;&#10;&#10;\end{document}"/>
  <p:tag name="IGUANATEXSIZE" val="20"/>
  <p:tag name="IGUANATEXCURSOR" val="79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2262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&#10;$\udl{\cseql{\Gamma}{A\imp B}{\Delta}} \; \to \; \cons{(\udl{\cseqt{\Gamma}{A}{\Delta}})}{(\udl{\cseql{\Gamma}{B}{\Delta}})}$ &#10;&#10;&#10;\end{document}"/>
  <p:tag name="IGUANATEXSIZE" val="20"/>
  <p:tag name="IGUANATEXCURSOR" val="79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3"/>
  <p:tag name="ORIGINALWIDTH" val=" 1057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&#10;$\udl{\cseql{\Gamma}{p}{a:p, \Delta}} \; \to \; a$ &#10;&#10;&#10;\end{document}"/>
  <p:tag name="IGUANATEXSIZE" val="20"/>
  <p:tag name="IGUANATEXCURSOR" val="79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3"/>
  <p:tag name="ORIGINALWIDTH" val=" 97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&#10;$\udl{\cseql{\Gamma}{\abs}{\Delta}} \; \to \; \ab$ &#10;&#10;&#10;\end{document}"/>
  <p:tag name="IGUANATEXSIZE" val="20"/>
  <p:tag name="IGUANATEXCURSOR" val="79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15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IR)$ &#10;&#10;&#10;\end{document}"/>
  <p:tag name="IGUANATEXSIZE" val="20"/>
  <p:tag name="IGUANATEXCURSOR" val="16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47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KIR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IR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FL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69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KFL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53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FL_{atm})$ &#10;&#10;&#10;\end{document}"/>
  <p:tag name="IGUANATEXSIZE" val="20"/>
  <p:tag name="IGUANATEXCURSOR" val="16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45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FL_{ab})$ &#10;&#10;&#10;\end{document}"/>
  <p:tag name="IGUANATEXSIZE" val="20"/>
  <p:tag name="IGUANATEXCURSOR" val="16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15"/>
  <p:tag name="ORIGINALWIDTH" val=" 174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$\infer[R\imp]{\cpseqt{\Xi}{\lb x^A.t}{(\cseqt{\Gamma}{A\imp B}{\Delta})}}{\cpseqt{\Xi}{t}{(\cseqt{\Gamma,x:A}{B}{\Delta})}}$ &#10;&#10;&#10;\end{document}"/>
  <p:tag name="IGUANATEXSIZE" val="20"/>
  <p:tag name="IGUANATEXCURSOR" val="76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2439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&#10;&#10;$\infer[L\imp]{\cpseql{\ap{\Xi_1}{\Xi_2}}{\cons{u}{l}}{(\cseql{\Gamma}{A\imp B}{\Delta})}}{\cpseqt{\Xi_1}{u}{(\cseqt{\Gamma}{A}{\Delta})}&amp;\cpseql{\Xi_2}{l}{(\cseql{\Gamma}{B}{\Delta})}}$ &#10;&#10;&#10;\end{document}"/>
  <p:tag name="IGUANATEXSIZE" val="20"/>
  <p:tag name="IGUANATEXCURSOR" val="71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1064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$\cseqt{}{((p \imp q) \imp p) \imp p}{}$ &#10;&#10;&#10;\end{document}"/>
  <p:tag name="IGUANATEXSIZE" val="20"/>
  <p:tag name="IGUANATEXCURSOR" val="72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1085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udl{\cseqt{}{((p \imp q) \imp p) \imp p}{}}$ &#10;&#10;&#10;\end{document}"/>
  <p:tag name="IGUANATEXSIZE" val="20"/>
  <p:tag name="IGUANATEXCURSOR" val="75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0"/>
  <p:tag name="ORIGINALWIDTH" val=" 159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&#10;$\infer[ACT]{\cseqt{}{((p \imp q) \imp p) \imp p}{}}{&#10;\cseqc{}{a: ((p \imp q) \imp p) \imp p}&#10;}$&#10;&#10;&#10;\end{document}"/>
  <p:tag name="IGUANATEXSIZE" val="20"/>
  <p:tag name="IGUANATEXCURSOR" val="780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1085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udl{\cseqt{}{((p \imp q) \imp p) \imp p}{}}$ &#10;&#10;&#10;\end{document}"/>
  <p:tag name="IGUANATEXSIZE" val="20"/>
  <p:tag name="IGUANATEXCURSOR" val="75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1703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(\udl{\cseqc{}{a: ((p \imp q) \imp p) \imp p}})$ &#10;&#10;&#10;\end{document}"/>
  <p:tag name="IGUANATEXSIZE" val="20"/>
  <p:tag name="IGUANATEXCURSOR" val="76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IR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519"/>
  <p:tag name="ORIGINALWIDTH" val=" 258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&#10;$\infer[ACT]{\cseqt{}{((p \imp q) \imp p) \imp p}{}}{&#10;\infer[RCTR]{\cseqc{}{a: ((p \imp q) \imp p) \imp p}}{&#10;\cseqt{x:(p \imp q) \imp p}{p}{a: ((p \imp q) \imp p) \imp p}&#10;}&#10;}$&#10;&#10;&#10;\end{document}"/>
  <p:tag name="IGUANATEXSIZE" val="20"/>
  <p:tag name="IGUANATEXCURSOR" val="75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1085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udl{\cseqt{}{((p \imp q) \imp p) \imp p}{}}$ &#10;&#10;&#10;\end{document}"/>
  <p:tag name="IGUANATEXSIZE" val="20"/>
  <p:tag name="IGUANATEXCURSOR" val="75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1703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(\udl{\cseqc{}{a: ((p \imp q) \imp p) \imp p}})$ &#10;&#10;&#10;\end{document}"/>
  <p:tag name="IGUANATEXSIZE" val="20"/>
  <p:tag name="IGUANATEXCURSOR" val="76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IR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3031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(\udl{\cseqt{x:(p \imp q) \imp p}{p}{a: ((p \imp q) \imp p) \imp p}})}{a}$ &#10;&#10;&#10;\end{document}"/>
  <p:tag name="IGUANATEXSIZE" val="20"/>
  <p:tag name="IGUANATEXCURSOR" val="81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15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IR)$ &#10;&#10;&#10;\end{document}"/>
  <p:tag name="IGUANATEXSIZE" val="20"/>
  <p:tag name="IGUANATEXCURSOR" val="16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00"/>
  <p:tag name="ORIGINALWIDTH" val=" 258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&#10;$&#10;\infer[RCTR]{}{&#10;\cseqt{x:(p \imp q) \imp p}{p}{a: ((p \imp q) \imp p) \imp p}&#10;}{}&#10;$&#10;&#10;&#10;\end{document}"/>
  <p:tag name="IGUANATEXSIZE" val="20"/>
  <p:tag name="IGUANATEXCURSOR" val="73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3031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(\udl{\cseqt{x:(p \imp q) \imp p}{p}{a: ((p \imp q) \imp p) \imp p}})}{a}$ &#10;&#10;&#10;\end{document}"/>
  <p:tag name="IGUANATEXSIZE" val="20"/>
  <p:tag name="IGUANATEXCURSOR" val="81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15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IR)$ &#10;&#10;&#10;\end{document}"/>
  <p:tag name="IGUANATEXSIZE" val="20"/>
  <p:tag name="IGUANATEXCURSOR" val="16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1085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udl{\cseqt{}{((p \imp q) \imp p) \imp p}{}}$ &#10;&#10;&#10;\end{document}"/>
  <p:tag name="IGUANATEXSIZE" val="20"/>
  <p:tag name="IGUANATEXCURSOR" val="75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1703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(\udl{\cseqc{}{a: ((p \imp q) \imp p) \imp p}})$ &#10;&#10;&#10;\end{document}"/>
  <p:tag name="IGUANATEXSIZE" val="20"/>
  <p:tag name="IGUANATEXCURSOR" val="76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IR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3031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(\udl{\cseqt{x:(p \imp q) \imp p}{p}{a: ((p \imp q) \imp p) \imp p}})}{a}$ &#10;&#10;&#10;\end{document}"/>
  <p:tag name="IGUANATEXSIZE" val="20"/>
  <p:tag name="IGUANATEXCURSOR" val="81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15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IR)$ &#10;&#10;&#10;\end{document}"/>
  <p:tag name="IGUANATEXSIZE" val="20"/>
  <p:tag name="IGUANATEXCURSOR" val="16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16"/>
  <p:tag name="ORIGINALWIDTH" val=" 2689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&#10;$&#10;\infer[RCTR]{}{&#10;\infer[ACT]{\cseqt{x:(p \imp q) \imp p}{p}{a: ((p \imp q) \imp p) \imp p}}{&#10;\cseqc{x:(p \imp q) \imp p}{b: p, a: ((p \imp q) \imp p) \imp p}&#10;}&#10;}&#10;$&#10;&#10;&#10;\end{document}"/>
  <p:tag name="IGUANATEXSIZE" val="20"/>
  <p:tag name="IGUANATEXCURSOR" val="74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3031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(\udl{\cseqt{x:(p \imp q) \imp p}{p}{a: ((p \imp q) \imp p) \imp p}})}{a}$ &#10;&#10;&#10;\end{document}"/>
  <p:tag name="IGUANATEXSIZE" val="20"/>
  <p:tag name="IGUANATEXCURSOR" val="81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3423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(\udl{\cseqc{x:(p \imp q) \imp p}{b: p, a: ((p \imp q) \imp p) \imp p}})}{a}$ &#10;&#10;&#10;\end{document}"/>
  <p:tag name="IGUANATEXSIZE" val="20"/>
  <p:tag name="IGUANATEXCURSOR" val="82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IR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15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IR)$ &#10;&#10;&#10;\end{document}"/>
  <p:tag name="IGUANATEXSIZE" val="20"/>
  <p:tag name="IGUANATEXCURSOR" val="16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3031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(\udl{\cseqt{x:(p \imp q) \imp p}{p}{a: ((p \imp q) \imp p) \imp p}})}{a}$ &#10;&#10;&#10;\end{document}"/>
  <p:tag name="IGUANATEXSIZE" val="20"/>
  <p:tag name="IGUANATEXCURSOR" val="81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594"/>
  <p:tag name="ORIGINALWIDTH" val=" 2777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&#10;$&#10;\infer[RCTR]{}{&#10;\infer[ACT]{\cseqt{x:(p \imp q) \imp p}{p}{a: ((p \imp q) \imp p) \imp p}}{&#10;\infer[LCTR]{\cseqc{x:(p \imp q) \imp p}{b: p, a: ((p \imp q) \imp p) \imp p}}{&#10;\cseql{x:(p \imp q) \imp p}{(p \imp q) \imp p}{\Delta}&#10;}&#10;}&#10;}&#10;$&#10;&#10;&#10;\end{document}"/>
  <p:tag name="IGUANATEXSIZE" val="20"/>
  <p:tag name="IGUANATEXCURSOR" val="90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3423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(\udl{\cseqc{x:(p \imp q) \imp p}{b: p, a: ((p \imp q) \imp p) \imp p}})}{a}$ &#10;&#10;&#10;\end{document}"/>
  <p:tag name="IGUANATEXSIZE" val="20"/>
  <p:tag name="IGUANATEXCURSOR" val="82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IR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302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udl{\cseql{x:(p \imp q) \imp p}{(p \imp q) \imp p}{\Delta}})}}{a}$ &#10;&#10;&#10;\end{document}"/>
  <p:tag name="IGUANATEXSIZE" val="20"/>
  <p:tag name="IGUANATEXCURSOR" val="85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FL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15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IR)$ &#10;&#10;&#10;\end{document}"/>
  <p:tag name="IGUANATEXSIZE" val="20"/>
  <p:tag name="IGUANATEXCURSOR" val="16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302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udl{\cseql{x:(p \imp q) \imp p}{(p \imp q) \imp p}{\Delta}})}}{a}$ &#10;&#10;&#10;\end{document}"/>
  <p:tag name="IGUANATEXSIZE" val="20"/>
  <p:tag name="IGUANATEXCURSOR" val="83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9"/>
  <p:tag name="ORIGINALWIDTH" val=" 213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&#10;$\infer[LCTR]{}{&#10;\cseql{x:(p \imp q) \imp p}{(p \imp q) \imp p}{\Delta}&#10;}&#10;$&#10;&#10;&#10;\end{document}"/>
  <p:tag name="IGUANATEXSIZE" val="20"/>
  <p:tag name="IGUANATEXCURSOR" val="73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FL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3031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(\udl{\cseqt{x:(p \imp q) \imp p}{p}{a: ((p \imp q) \imp p) \imp p}})}{a}$ &#10;&#10;&#10;\end{document}"/>
  <p:tag name="IGUANATEXSIZE" val="20"/>
  <p:tag name="IGUANATEXCURSOR" val="81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3423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(\udl{\cseqc{x:(p \imp q) \imp p}{b: p, a: ((p \imp q) \imp p) \imp p}})}{a}$ &#10;&#10;&#10;\end{document}"/>
  <p:tag name="IGUANATEXSIZE" val="20"/>
  <p:tag name="IGUANATEXCURSOR" val="82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IR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302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udl{\cseql{x:(p \imp q) \imp p}{(p \imp q) \imp p}{\Delta}})}}{a}$ &#10;&#10;&#10;\end{document}"/>
  <p:tag name="IGUANATEXSIZE" val="20"/>
  <p:tag name="IGUANATEXCURSOR" val="85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FL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15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IR)$ &#10;&#10;&#10;\end{document}"/>
  <p:tag name="IGUANATEXSIZE" val="20"/>
  <p:tag name="IGUANATEXCURSOR" val="16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79"/>
  <p:tag name="ORIGINALWIDTH" val=" 291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&#10;$\infer[LCTR]{}{&#10;\infer[L\imp]{\cseql{x:(p \imp q) \imp p}{(p \imp q) \imp p}{\Delta}}{&#10;\cseqt{x:(p \imp q) \imp p}{p \imp q}{\Delta}&#10;&amp;&#10;\cseql{x:(p \imp q) \imp p}{p}{\Delta}&#10;}&#10;}&#10;$&#10;&#10;&#10;\end{document}"/>
  <p:tag name="IGUANATEXSIZE" val="20"/>
  <p:tag name="IGUANATEXCURSOR" val="820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302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udl{\cseql{x:(p \imp q) \imp p}{(p \imp q) \imp p}{\Delta}})}}{a}$ &#10;&#10;&#10;\end{document}"/>
  <p:tag name="IGUANATEXSIZE" val="20"/>
  <p:tag name="IGUANATEXCURSOR" val="83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FL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69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KFL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416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&#10;&#10;$\to \, \mu a . \, \cmd{\lb x . \, \mu b. \, \cmd{x}{(\cons{(\udl{\cseqt{x:(p \imp q) \imp p}{p \imp q}{\Delta}})}{(\udl{\cseql{x:(p \imp q) \imp p}{p}{\Delta}})})}}{a}$ &#10;&#10;&#10;\end{document}"/>
  <p:tag name="IGUANATEXSIZE" val="20"/>
  <p:tag name="IGUANATEXCURSOR" val="91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50"/>
  <p:tag name="ORIGINALWIDTH" val=" 291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&#10;$\infer[LCTR]{}{&#10;\infer[L\imp]{\cseql{x:(p \imp q) \imp p}{(p \imp q) \imp p}{\Delta}}{&#10;\cseqt{x:(p \imp q) \imp p}{p \imp q}{\Delta}&#10;&amp;&#10;\infer[AX]{\cseql{x:(p \imp q) \imp p}{p}{\Delta}}{}&#10;}&#10;}&#10;$&#10;&#10;&#10;\end{document}"/>
  <p:tag name="IGUANATEXSIZE" val="20"/>
  <p:tag name="IGUANATEXCURSOR" val="83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302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udl{\cseql{x:(p \imp q) \imp p}{(p \imp q) \imp p}{\Delta}})}}{a}$ &#10;&#10;&#10;\end{document}"/>
  <p:tag name="IGUANATEXSIZE" val="20"/>
  <p:tag name="IGUANATEXCURSOR" val="83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FL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69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KFL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416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&#10;&#10;$\to \, \mu a . \, \cmd{\lb x . \, \mu b. \, \cmd{x}{(\cons{(\udl{\cseqt{x:(p \imp q) \imp p}{p \imp q}{\Delta}})}{(\udl{\cseql{x:(p \imp q) \imp p}{p}{\Delta}})})}}{a}$ &#10;&#10;&#10;\end{document}"/>
  <p:tag name="IGUANATEXSIZE" val="20"/>
  <p:tag name="IGUANATEXCURSOR" val="91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296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cons{(\udl{\cseqt{x:(p \imp q) \imp p}{p \imp q}{\Delta}})}{b})}}{a}$ &#10;&#10;&#10;\end{document}"/>
  <p:tag name="IGUANATEXSIZE" val="20"/>
  <p:tag name="IGUANATEXCURSOR" val="86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51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FL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00"/>
  <p:tag name="ORIGINALWIDTH" val=" 187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&#10;$\infer[L\imp]{}{&#10;\cseqt{x:(p \imp q) \imp p}{p \imp q}{\Delta}&#10;&amp;&#10;{\quad}&#10;}&#10;$&#10;&#10;&#10;\end{document}"/>
  <p:tag name="IGUANATEXSIZE" val="20"/>
  <p:tag name="IGUANATEXCURSOR" val="75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296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cons{(\udl{\cseqt{x:(p \imp q) \imp p}{p \imp q}{\Delta}})}{b})}}{a}$ &#10;&#10;&#10;\end{document}"/>
  <p:tag name="IGUANATEXSIZE" val="20"/>
  <p:tag name="IGUANATEXCURSOR" val="86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51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FL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302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udl{\cseql{x:(p \imp q) \imp p}{(p \imp q) \imp p}{\Delta}})}}{a}$ &#10;&#10;&#10;\end{document}"/>
  <p:tag name="IGUANATEXSIZE" val="20"/>
  <p:tag name="IGUANATEXCURSOR" val="83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FL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69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KFL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416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&#10;&#10;$\to \, \mu a . \, \cmd{\lb x . \, \mu b. \, \cmd{x}{(\cons{(\udl{\cseqt{x:(p \imp q) \imp p}{p \imp q}{\Delta}})}{(\udl{\cseql{x:(p \imp q) \imp p}{p}{\Delta}})})}}{a}$ &#10;&#10;&#10;\end{document}"/>
  <p:tag name="IGUANATEXSIZE" val="20"/>
  <p:tag name="IGUANATEXCURSOR" val="91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296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cons{(\udl{\cseqt{x:(p \imp q) \imp p}{p \imp q}{\Delta}})}{b})}}{a}$ &#10;&#10;&#10;\end{document}"/>
  <p:tag name="IGUANATEXSIZE" val="20"/>
  <p:tag name="IGUANATEXCURSOR" val="86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51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FL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79"/>
  <p:tag name="ORIGINALWIDTH" val=" 222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&#10;$\infer[L\imp]{}{&#10;\infer[R\imp]{\cseqt{x:(p \imp q) \imp p}{p \imp q}{\Delta}}{&#10;\cseqt{x:(p \imp q) \imp p, y: p}{q}{\Delta}&#10;}&#10;&amp;&#10;{\quad}&#10;}&#10;$&#10;&#10;&#10;\end{document}"/>
  <p:tag name="IGUANATEXSIZE" val="20"/>
  <p:tag name="IGUANATEXCURSOR" val="81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296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cons{(\udl{\cseqt{x:(p \imp q) \imp p}{p \imp q}{\Delta}})}{b})}}{a}$ &#10;&#10;&#10;\end{document}"/>
  <p:tag name="IGUANATEXSIZE" val="20"/>
  <p:tag name="IGUANATEXCURSOR" val="86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51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FL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331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&#10;$\to \, \mu a . \, \cmd{\lb x . \, \mu b. \, \cmd{x}{(\cons{(\lb y . \, (\udl{\cseqt{x:(p \imp q) \imp p, y: p}{q}{\Delta}}))}{b})}}{a}$ &#10;&#10;&#10;\end{document}"/>
  <p:tag name="IGUANATEXSIZE" val="20"/>
  <p:tag name="IGUANATEXCURSOR" val="87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47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KIR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595"/>
  <p:tag name="ORIGINALWIDTH" val=" 2489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&#10;$\infer[L\imp]{}{&#10;\infer[R\imp]{\cseqt{x:(p \imp q) \imp p}{p \imp q}{\Delta}}{&#10;\infer[ACT]{\cseqt{x:(p \imp q) \imp p, y: p}{q}{\Delta}}&#10;{&#10;\cseqc{x:(p \imp q) \imp p, y: p}{c: q, \Delta}&#10;}&#10;}&#10;&amp;&#10;{\quad}&#10;}&#10;$&#10;&#10;&#10;\end{document}"/>
  <p:tag name="IGUANATEXSIZE" val="20"/>
  <p:tag name="IGUANATEXCURSOR" val="87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296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cons{(\udl{\cseqt{x:(p \imp q) \imp p}{p \imp q}{\Delta}})}{b})}}{a}$ &#10;&#10;&#10;\end{document}"/>
  <p:tag name="IGUANATEXSIZE" val="20"/>
  <p:tag name="IGUANATEXCURSOR" val="86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51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FL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331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&#10;$\to \, \mu a . \, \cmd{\lb x . \, \mu b. \, \cmd{x}{(\cons{(\lb y . \, (\udl{\cseqt{x:(p \imp q) \imp p, y: p}{q}{\Delta}}))}{b})}}{a}$ &#10;&#10;&#10;\end{document}"/>
  <p:tag name="IGUANATEXSIZE" val="20"/>
  <p:tag name="IGUANATEXCURSOR" val="87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47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KIR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380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cons{(\lb y . \, (\mu c . \, (\udl{\cseqc{x:(p \imp q) \imp p, y: p}{c: q, \Delta}}) ))}{b})}}{a}$ &#10;&#10;&#10;\end{document}"/>
  <p:tag name="IGUANATEXSIZE" val="20"/>
  <p:tag name="IGUANATEXCURSOR" val="88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IR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380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cons{(\lb y . \, (\mu c . \, (\udl{\cseqc{x:(p \imp q) \imp p, y: p}{c: q, \Delta}}) ))}{b})}}{a}$ &#10;&#10;&#10;\end{document}"/>
  <p:tag name="IGUANATEXSIZE" val="20"/>
  <p:tag name="IGUANATEXCURSOR" val="88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IR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7"/>
  <p:tag name="ORIGINALWIDTH" val=" 196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&#10;$&#10;\infer[ACT]{}&#10;{&#10;\cseqc{x:(p \imp q) \imp p, y: p}{c: q, \Delta}&#10;}&#10;$&#10;&#10;&#10;\end{document}"/>
  <p:tag name="IGUANATEXSIZE" val="20"/>
  <p:tag name="IGUANATEXCURSOR" val="70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296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cons{(\udl{\cseqt{x:(p \imp q) \imp p}{p \imp q}{\Delta}})}{b})}}{a}$ &#10;&#10;&#10;\end{document}"/>
  <p:tag name="IGUANATEXSIZE" val="20"/>
  <p:tag name="IGUANATEXCURSOR" val="86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51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FL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331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&#10;$\to \, \mu a . \, \cmd{\lb x . \, \mu b. \, \cmd{x}{(\cons{(\lb y . \, (\udl{\cseqt{x:(p \imp q) \imp p, y: p}{q}{\Delta}}))}{b})}}{a}$ &#10;&#10;&#10;\end{document}"/>
  <p:tag name="IGUANATEXSIZE" val="20"/>
  <p:tag name="IGUANATEXCURSOR" val="87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47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KIR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380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cons{(\lb y . \, (\mu c . \, (\udl{\cseqc{x:(p \imp q) \imp p, y: p}{c: q, \Delta}}) ))}{b})}}{a}$ &#10;&#10;&#10;\end{document}"/>
  <p:tag name="IGUANATEXSIZE" val="20"/>
  <p:tag name="IGUANATEXCURSOR" val="88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IR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380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cons{(\lb y . \, (\mu c . \, (\udl{\cseqc{x:(p \imp q) \imp p, y: p}{c: q, \Delta}}) ))}{b})}}{a}$ &#10;&#10;&#10;\end{document}"/>
  <p:tag name="IGUANATEXSIZE" val="20"/>
  <p:tag name="IGUANATEXCURSOR" val="88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IR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15"/>
  <p:tag name="ORIGINALWIDTH" val=" 2145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&#10;$&#10;\infer[ACT]{}&#10;{&#10;\infer[LCTR]{\cseqc{x:(p \imp q) \imp p, y: p}{c: q, \Delta}}{&#10;\cseql{x:(p \imp q) \imp p, y: p}{p}{c: q, \Delta}&#10;}&#10;}&#10;$&#10;&#10;&#10;\end{document}"/>
  <p:tag name="IGUANATEXSIZE" val="20"/>
  <p:tag name="IGUANATEXCURSOR" val="81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4133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&#10;$\to \, \mu a . \, \cmd{\lb x . \, \mu b. \, \cmd{x}{(\cons{(\lb y . \, (\mu c . \, \cmd{y}{(\udl{\cseql{x:(p \imp q) \imp p, y: p}{p}{c: q, \Delta}})} ))}{b})}}{a}$&#10;&#10;&#10;\end{document}"/>
  <p:tag name="IGUANATEXSIZE" val="20"/>
  <p:tag name="IGUANATEXCURSOR" val="89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FL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380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cons{(\lb y . \, (\mu c . \, (\udl{\cseqc{x:(p \imp q) \imp p, y: p}{c: q, \Delta}}) ))}{b})}}{a}$ &#10;&#10;&#10;\end{document}"/>
  <p:tag name="IGUANATEXSIZE" val="20"/>
  <p:tag name="IGUANATEXCURSOR" val="88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IR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87"/>
  <p:tag name="ORIGINALWIDTH" val=" 2145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&#10;$&#10;\infer[ACT]{}&#10;{&#10;\infer[LCTR]{\cseqc{x:(p \imp q) \imp p, y: p}{c: q, \Delta}}{&#10;\infer[AX]{\cseql{x:(p \imp q) \imp p, y: p}{p}{c: q, \Delta}}{}&#10;}&#10;}&#10;$&#10;&#10;&#10;\end{document}"/>
  <p:tag name="IGUANATEXSIZE" val="20"/>
  <p:tag name="IGUANATEXCURSOR" val="77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4133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&#10;$\to \, \mu a . \, \cmd{\lb x . \, \mu b. \, \cmd{x}{(\cons{(\lb y . \, (\mu c . \, \cmd{y}{(\udl{\cseql{x:(p \imp q) \imp p, y: p}{p}{c: q, \Delta}})} ))}{b})}}{a}$&#10;&#10;&#10;\end{document}"/>
  <p:tag name="IGUANATEXSIZE" val="20"/>
  <p:tag name="IGUANATEXCURSOR" val="89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FL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"/>
  <p:tag name="ORIGINALWIDTH" val=" 2373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to \, \mu a . \, \cmd{\lb x . \, \mu b. \, \cmd{x}{(\cons{(\lb y . \, (\mu c . \, \cmd{y}{b} ))}{b})}}{a}$ &#10;&#10;&#10;\end{document}"/>
  <p:tag name="IGUANATEXSIZE" val="20"/>
  <p:tag name="IGUANATEXCURSOR" val="84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51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FL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"/>
  <p:tag name="ORIGINALWIDTH" val=" 2197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mu a . \, \cmd{\lb x . \, \mu b. \, \cmd{x}{(\cons{(\lb y . \, (\mu c . \, \cmd{y}{b} ))}{b})}}{a}$ &#10;&#10;&#10;\end{document}"/>
  <p:tag name="IGUANATEXSIZE" val="20"/>
  <p:tag name="IGUANATEXCURSOR" val="83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739"/>
  <p:tag name="ORIGINALWIDTH" val=" 369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&#10;&#10;&#10;$\infer[ACT]{\cseqt{}{((p \imp q) \imp p) \imp p}{}}{&#10;\infer[RTCR]{\cseqc{}{a: ((p \imp q) \imp p) \imp p}}{&#10;\infer[ACT]{\cseqt{x:(p \imp q) \imp p)}{p}{a: ((p \imp q) \imp p) \imp p}}{&#10;\infer[LCTR]{\cseqc{x:(p \imp q) \imp p)}{b: p, a: ((p \imp q) \imp p) \imp p}}&#10;{&#10;\infer[L\imp]{\cseql{x:(p \imp q) \imp p}{(p \imp q) \imp p}{\Delta}}{&#10;\infer[R\imp]{\cseqt{x:(p \imp q) \imp p}{p \imp q}{\Delta}}{&#10;\infer[ACT]{\cseqt{x:(p \imp q) \imp p, y: p}{q}{\Delta}}&#10;{&#10;{&#10;\infer[LCTR]{\cseqc{x:(p \imp q) \imp p, y: p}{c: q, \Delta}}{&#10;\infer[AX]{\cseql{x:(p \imp q) \imp p, y: p}{p}{c: q, \Delta}}{}&#10;}&#10;}&#10;}&#10;}&#10;&amp;&#10;\infer[AX]{\cseql{x:(p \imp q) \imp p}{p}{\Delta}}{}&#10;}&#10;}&#10;}&#10;}&#10;}$&#10;&#10;&#10;\end{document}"/>
  <p:tag name="IGUANATEXSIZE" val="20"/>
  <p:tag name="IGUANATEXCURSOR" val="128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594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cseqt{\Gamma}{t:A}{\Delta}$ &#10;&#10;&#10;\end{document}"/>
  <p:tag name="IGUANATEXSIZE" val="20"/>
  <p:tag name="IGUANATEXCURSOR" val="770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92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cpseqt{\elst}{t}{(\cseqt{\Gamma}{A}{\Delta})}$.&#10;&#10;&#10;\end{document}"/>
  <p:tag name="IGUANATEXSIZE" val="20"/>
  <p:tag name="IGUANATEXCURSOR" val="79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8"/>
  <p:tag name="ORIGINALWIDTH" val=" 457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cpseqt{\Xi}{t}{\sigma}$ &#10;&#10;&#10;\end{document}"/>
  <p:tag name="IGUANATEXSIZE" val="20"/>
  <p:tag name="IGUANATEXCURSOR" val="77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96"/>
  <p:tag name="ORIGINALWIDTH" val=" 33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\newcommand{\too}{\twoheadrightarrow}&#10;&#10;$\udl{\sigma} \too t$.&#10;&#10;&#10;\end{document}"/>
  <p:tag name="IGUANATEXSIZE" val="20"/>
  <p:tag name="IGUANATEXCURSOR" val="79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8"/>
  <p:tag name="ORIGINALWIDTH" val=" 457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cpseqt{\Xi}{t}{\sigma}$&#10;&#10;&#10;\end{document}"/>
  <p:tag name="IGUANATEXSIZE" val="20"/>
  <p:tag name="IGUANATEXCURSOR" val="77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95"/>
  <p:tag name="ORIGINALWIDTH" val=" 381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\newcommand{\too}{\twoheadrightarrow}&#10;&#10;$\Xi\to\Xi'$&#10;&#10;&#10;\end{document}"/>
  <p:tag name="IGUANATEXSIZE" val="20"/>
  <p:tag name="IGUANATEXCURSOR" val="800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95"/>
  <p:tag name="ORIGINALWIDTH" val=" 307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t\to t'$&#10;&#10;&#10;\end{document}"/>
  <p:tag name="IGUANATEXSIZE" val="20"/>
  <p:tag name="IGUANATEXCURSOR" val="75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93"/>
  <p:tag name="ORIGINALWIDTH" val=" 105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Xi'$&#10;&#10;&#10;\end{document}"/>
  <p:tag name="IGUANATEXSIZE" val="20"/>
  <p:tag name="IGUANATEXCURSOR" val="75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95"/>
  <p:tag name="ORIGINALWIDTH" val=" 555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\newcommand{\too}{\twoheadrightarrow}&#10;&#10;$\cpseqt{\Xi'}{t'}{\sigma}$.&#10;&#10;&#10;\end{document}"/>
  <p:tag name="IGUANATEXSIZE" val="20"/>
  <p:tag name="IGUANATEXCURSOR" val="79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594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cseqt{\Gamma}{t:A}{\Delta}$ &#10;&#10;&#10;\end{document}"/>
  <p:tag name="IGUANATEXSIZE" val="20"/>
  <p:tag name="IGUANATEXCURSOR" val="770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759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\newcommand{\too}{\twoheadrightarrow}&#10;&#10;$\udl{\cseqt{\Gamma}{A}{\Delta}} \too t$ .&#10;&#10;&#10;\end{document}"/>
  <p:tag name="IGUANATEXSIZE" val="20"/>
  <p:tag name="IGUANATEXCURSOR" val="82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1590"/>
  <p:tag name="OUTPUTTYPE" val="PNG"/>
  <p:tag name="IGUANATEXVERSION" val="162"/>
  <p:tag name="LATEXADDIN" val="\documentclass{article}&#10;\usepackage{amsmath, amssymb, amsfonts}&#10;\usepackage{proof}&#10;\usepackage[T1]{fontenc}&#10;\pagestyle{empty}&#10;\begin{document}&#10;&#10;\newcommand{\imp}{\supset}&#10;\newcommand{\cons}[2]{#1::#2}&#10;\newcommand{\lb}{\lambda}&#10;\newcommand{\cmd}[2]{\langle #1\,|\,#2\rangle}&#10;\newcommand{\cpseqm}[3]{#1\Vdash#2:#3}&#10;\newcommand{\cpseql}[3]{#1\Vdash#2:#3}&#10;\newcommand{\cpseqs}[3]{#1\Vdash#2:#3}&#10;\newcommand{\lst}[1]{[#1]}%{\langle#1\rangle}&#10;\newcommand{\elst}{\epsilon}&#10;\newcommand{\cseqm}[3]{#1\vdash#2|#3}&#10;\newcommand{\cseql}[3]{#1;#2\vdash#3}&#10;\newcommand{\cseqs}[2]{#1\sststile{}{}#2}&#10;\newcommand{\cseqh}[3]{#1\rhd#2|#3} &#10;\newcommand{\cpseqh}[3]{#1\Vdash#2:#3}&#10;&#10;$\infer[E\imp]{\cseqh{\Gamma}{B}{\Delta}}{\cseqh{\Gamma}{A\imp B}{\Delta}&amp;\cseqm{\Gamma}{A}{\Delta}}$ &#10;&#10;&#10;\end{document}"/>
  <p:tag name="IGUANATEXSIZE" val="20"/>
  <p:tag name="IGUANATEXCURSOR" val="67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1034"/>
  <p:tag name="OUTPUTTYPE" val="PNG"/>
  <p:tag name="IGUANATEXVERSION" val="162"/>
  <p:tag name="LATEXADDIN" val="\documentclass{article}&#10;\usepackage{amsmath, amssymb, amsfonts}&#10;\usepackage{proof}&#10;\usepackage[T1]{fontenc}&#10;\pagestyle{empty}&#10;\begin{document}&#10;&#10;\newcommand{\imp}{\supset}&#10;\newcommand{\cons}[2]{#1::#2}&#10;\newcommand{\lb}{\lambda}&#10;\newcommand{\cmd}[2]{\langle #1\,|\,#2\rangle}&#10;\newcommand{\cpseqm}[3]{#1\Vdash#2:#3}&#10;\newcommand{\cpseql}[3]{#1\Vdash#2:#3}&#10;\newcommand{\cpseqs}[3]{#1\Vdash#2:#3}&#10;\newcommand{\lst}[1]{[#1]}%{\langle#1\rangle}&#10;\newcommand{\elst}{\epsilon}&#10;\newcommand{\cseqm}[3]{#1\vdash#2|#3}&#10;\newcommand{\cseql}[3]{#1;#2\vdash#3}&#10;\newcommand{\cseqs}[2]{#1\sststile{}{}#2}&#10;\newcommand{\cseqh}[3]{#1\rhd#2|#3} &#10;\newcommand{\cpseqh}[3]{#1\Vdash#2:#3}&#10;&#10;$\infer[I\imp]{\cseqm{\Gamma}{A\imp B}{\Delta}}{\cseqm{\Gamma,x:A}{B}{\Delta}}$ &#10;&#10;&#10;\end{document}"/>
  <p:tag name="IGUANATEXSIZE" val="20"/>
  <p:tag name="IGUANATEXCURSOR" val="170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0"/>
  <p:tag name="ORIGINALWIDTH" val=" 1016"/>
  <p:tag name="OUTPUTTYPE" val="PNG"/>
  <p:tag name="IGUANATEXVERSION" val="162"/>
  <p:tag name="LATEXADDIN" val="\documentclass{article}&#10;\usepackage{amsmath, amssymb, amsfonts}&#10;\usepackage{turnstile}&#10;\usepackage{proof}&#10;\usepackage[T1]{fontenc}&#10;\pagestyle{empty}&#10;\begin{document}&#10;&#10;\newcommand{\imp}{\supset}&#10;\newcommand{\cons}[2]{#1::#2}&#10;\newcommand{\lb}{\lambda}&#10;\newcommand{\cmd}[2]{\langle #1\,|\,#2\rangle}&#10;\newcommand{\cpseqm}[3]{#1\Vdash#2:#3}&#10;\newcommand{\cpseql}[3]{#1\Vdash#2:#3}&#10;\newcommand{\cpseqs}[3]{#1\Vdash#2:#3}&#10;\newcommand{\lst}[1]{[#1]}%{\langle#1\rangle}&#10;\newcommand{\elst}{\epsilon}&#10;\newcommand{\cseqm}[3]{#1\vdash#2|#3}&#10;\newcommand{\cseql}[3]{#1;#2\vdash#3}&#10;\newcommand{\cseqs}[2]{#1\sststile{}{}#2}&#10;\newcommand{\cseqh}[3]{#1\rhd#2|#3} &#10;\newcommand{\cpseqh}[3]{#1\Vdash#2:#3}&#10;&#10;$\infer[ACT]{\cseqm{\Gamma}{A}{\Delta}}{\cseqs{\Gamma}{a:A,\Delta}}$ &#10;&#10;&#10;\end{document}"/>
  <p:tag name="IGUANATEXSIZE" val="20"/>
  <p:tag name="IGUANATEXCURSOR" val="69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445"/>
  <p:tag name="OUTPUTTYPE" val="PNG"/>
  <p:tag name="IGUANATEXVERSION" val="162"/>
  <p:tag name="LATEXADDIN" val="\documentclass{article}&#10;\usepackage{proof}&#10;\pagestyle{empty}&#10;\begin{document}&#10;\newcommand{\cseqt}[3]{#1\vdash#2|#3}&#10;\newcommand{\imp}{\supset}&#10;&#10;$\cseqt{\Gamma}{A}{\Delta}$&#10;&#10;&#10;&#10;\end{document}"/>
  <p:tag name="IGUANATEXSIZE" val="12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452"/>
  <p:tag name="OUTPUTTYPE" val="PNG"/>
  <p:tag name="IGUANATEXVERSION" val="162"/>
  <p:tag name="LATEXADDIN" val="\documentclass{article}&#10;\usepackage{proof}&#10;\usepackage{turnstile, amsfonts}&#10;\pagestyle{empty}&#10;\begin{document}&#10;\newcommand{\cseqt}[3]{#1\vdash#2|#3}&#10;\newcommand{\cseql}[3]{#1;#2\vdash#3}&#10;%\newcommand{\cseqc}[2]{#1\vdash}#2}&#10;\newcommand{\cseqh}[3]{#1\rhd#2|#3} &#10;\newcommand{\imp}{\supset}&#10;&#10;$\cseqh{\Gamma}{A}{\Delta}$&#10;&#10;&#10;&#10;\end{document}"/>
  <p:tag name="IGUANATEXSIZE" val="12"/>
  <p:tag name="IGUANATEXCURSOR" val="7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1"/>
  <p:tag name="ORIGINALWIDTH" val=" 347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cseqc{\Gamma}{\Delta}$&#10;&#10;&#10;&#10;\end{document}"/>
  <p:tag name="IGUANATEXSIZE" val="12"/>
  <p:tag name="IGUANATEXCURSOR" val="11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0"/>
  <p:tag name="ORIGINALWIDTH" val=" 1041"/>
  <p:tag name="OUTPUTTYPE" val="PNG"/>
  <p:tag name="IGUANATEXVERSION" val="162"/>
  <p:tag name="LATEXADDIN" val="\documentclass{article}&#10;\usepackage{amsmath, amssymb, amsfonts}&#10;\usepackage{turnstile}&#10;\usepackage{proof}&#10;\usepackage[T1]{fontenc}&#10;\pagestyle{empty}&#10;\begin{document}&#10;&#10;\newcommand{\imp}{\supset}&#10;\newcommand{\cons}[2]{#1::#2}&#10;\newcommand{\lb}{\lambda}&#10;\newcommand{\cmd}[2]{\langle #1\,|\,#2\rangle}&#10;\newcommand{\cpseqm}[3]{#1\Vdash#2:#3}&#10;\newcommand{\cpseql}[3]{#1\Vdash#2:#3}&#10;\newcommand{\cpseqs}[3]{#1\Vdash#2:#3}&#10;\newcommand{\lst}[1]{[#1]}%{\langle#1\rangle}&#10;\newcommand{\elst}{\epsilon}&#10;\newcommand{\cseqm}[3]{#1\vdash#2|#3}&#10;\newcommand{\cseql}[3]{#1;#2\vdash#3}&#10;\newcommand{\cseqs}[2]{#1\sststile{}{}#2}&#10;\newcommand{\cseqh}[3]{#1\rhd#2|#3} &#10;\newcommand{\cpseqh}[3]{#1\Vdash#2:#3}&#10;&#10;$\infer[PSS]{\cseqs{\Gamma}{a:p,\Delta}}{\cseqh{\Gamma}{p}{a:p,\Delta}}$ &#10;&#10;&#10;\end{document}"/>
  <p:tag name="IGUANATEXSIZE" val="20"/>
  <p:tag name="IGUANATEXCURSOR" val="69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683"/>
  <p:tag name="OUTPUTTYPE" val="PNG"/>
  <p:tag name="IGUANATEXVERSION" val="162"/>
  <p:tag name="LATEXADDIN" val="\documentclass{article}&#10;\usepackage{proof}&#10;\pagestyle{empty}&#10;\begin{document}&#10;\newcommand{\cseqt}[3]{#1\vdash#2|#3}&#10;\newcommand{\imp}{\supset}&#10;&#10;$\cseqt{\Gamma}{M: A}{\Delta}$&#10;&#10;&#10;&#10;\end{document}"/>
  <p:tag name="IGUANATEXSIZE" val="12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669"/>
  <p:tag name="OUTPUTTYPE" val="PNG"/>
  <p:tag name="IGUANATEXVERSION" val="162"/>
  <p:tag name="LATEXADDIN" val="\documentclass{article}&#10;\usepackage{proof}&#10;\usepackage{turnstile, amsfonts}&#10;\pagestyle{empty}&#10;\begin{document}&#10;\newcommand{\cseqt}[3]{#1\vdash#2|#3}&#10;\newcommand{\cseql}[3]{#1;#2\vdash#3}&#10;%\newcommand{\cseqc}[2]{#1\vdash}#2}&#10;\newcommand{\cseqh}[3]{#1\rhd#2|#3} &#10;\newcommand{\imp}{\supset}&#10;&#10;$\cseqh{\Gamma}{H: A}{\Delta}$&#10;&#10;&#10;&#10;\end{document}"/>
  <p:tag name="IGUANATEXSIZE" val="12"/>
  <p:tag name="IGUANATEXCURSOR" val="30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6"/>
  <p:tag name="ORIGINALWIDTH" val=" 363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\newcommand{\cSeqs}[3]{#1\sststile{}{#2}#3}&#10;&#10;$\cSeqs{\Gamma}{S}{\Delta}$&#10;&#10;&#10;&#10;\end{document}"/>
  <p:tag name="IGUANATEXSIZE" val="12"/>
  <p:tag name="IGUANATEXCURSOR" val="34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8"/>
  <p:tag name="ORIGINALWIDTH" val=" 1333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M,N  ::= \lb x^A.M \,|\, \mu a^A.S$&#10;&#10;&#10;\end{document}"/>
  <p:tag name="IGUANATEXSIZE" val="20"/>
  <p:tag name="IGUANATEXCURSOR" val="24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715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H ::=  x \,|\, HN$&#10;&#10;&#10;\end{document}"/>
  <p:tag name="IGUANATEXSIZE" val="20"/>
  <p:tag name="IGUANATEXCURSOR" val="22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8"/>
  <p:tag name="ORIGINALWIDTH" val=" 1769"/>
  <p:tag name="OUTPUTTYPE" val="PNG"/>
  <p:tag name="IGUANATEXVERSION" val="162"/>
  <p:tag name="LATEXADDIN" val="\documentclass{article}&#10;\usepackage{amsmath}&#10;\usepackage[T1]{fontenc}&#10;\pagestyle{empty}&#10;\begin{document}&#10;&#10;\newcommand{\absymb}{\mathsf{abort}}&#10;\newcommand{\lb}{\lambda}&#10;\newcommand{\abt}[1]{\absymb(#1)}&#10;\newcommand{\pass}[2]{#1(#2)}&#10;&#10;$S ::=  \abt{H} \,|\,\pass{a}{H} \,|\,\pass{a}{\lb x^A.M}$&#10;&#10;\end{document}"/>
  <p:tag name="IGUANATEXSIZE" val="20"/>
  <p:tag name="IGUANATEXCURSOR" val="14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1034"/>
  <p:tag name="OUTPUTTYPE" val="PNG"/>
  <p:tag name="IGUANATEXVERSION" val="162"/>
  <p:tag name="LATEXADDIN" val="\documentclass{article}&#10;\usepackage{amsmath, amssymb, amsfonts}&#10;\usepackage{proof}&#10;\usepackage[T1]{fontenc}&#10;\pagestyle{empty}&#10;\begin{document}&#10;&#10;\newcommand{\imp}{\supset}&#10;\newcommand{\cons}[2]{#1::#2}&#10;\newcommand{\lb}{\lambda}&#10;\newcommand{\cmd}[2]{\langle #1\,|\,#2\rangle}&#10;\newcommand{\cpseqm}[3]{#1\Vdash#2:#3}&#10;\newcommand{\cpseql}[3]{#1\Vdash#2:#3}&#10;\newcommand{\cpseqs}[3]{#1\Vdash#2:#3}&#10;\newcommand{\lst}[1]{[#1]}%{\langle#1\rangle}&#10;\newcommand{\elst}{\epsilon}&#10;\newcommand{\cseqm}[3]{#1\vdash#2|#3}&#10;\newcommand{\cseql}[3]{#1;#2\vdash#3}&#10;\newcommand{\cseqs}[2]{#1\sststile{}{}#2}&#10;\newcommand{\cseqh}[3]{#1\rhd#2|#3} &#10;\newcommand{\cpseqh}[3]{#1\Vdash#2:#3}&#10;&#10;$\infer[I\imp]{\cseqm{\Gamma}{A\imp B}{\Delta}}{\cseqm{\Gamma,x:A}{B}{\Delta}}$ &#10;&#10;&#10;\end{document}"/>
  <p:tag name="IGUANATEXSIZE" val="20"/>
  <p:tag name="IGUANATEXCURSOR" val="170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0"/>
  <p:tag name="ORIGINALWIDTH" val=" 1016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infer[ACT]{\cseqt{\Gamma}{A}{\Delta}}{\cseqc{\Gamma}{a:A,\Delta}}$&#10;&#10;&#10;&#10;\end{document}"/>
  <p:tag name="IGUANATEXSIZE" val="12"/>
  <p:tag name="IGUANATEXCURSOR" val="3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1034"/>
  <p:tag name="OUTPUTTYPE" val="PNG"/>
  <p:tag name="IGUANATEXVERSION" val="162"/>
  <p:tag name="LATEXADDIN" val="\documentclass{article}&#10;\usepackage{amsmath, amssymb, amsfonts}&#10;\usepackage{proof}&#10;\usepackage[T1]{fontenc}&#10;\pagestyle{empty}&#10;\begin{document}&#10;&#10;\newcommand{\imp}{\supset}&#10;\newcommand{\cons}[2]{#1::#2}&#10;\newcommand{\lb}{\lambda}&#10;\newcommand{\cmd}[2]{\langle #1\,|\,#2\rangle}&#10;\newcommand{\cpseqm}[3]{#1\Vdash#2:#3}&#10;\newcommand{\cpseql}[3]{#1\Vdash#2:#3}&#10;\newcommand{\cpseqs}[3]{#1\Vdash#2:#3}&#10;\newcommand{\lst}[1]{[#1]}%{\langle#1\rangle}&#10;\newcommand{\elst}{\epsilon}&#10;\newcommand{\cseqm}[3]{#1\vdash#2|#3}&#10;\newcommand{\cseql}[3]{#1;#2\vdash#3}&#10;\newcommand{\cseqs}[2]{#1\sststile{}{}#2}&#10;\newcommand{\cseqh}[3]{#1\rhd#2|#3} &#10;\newcommand{\cpseqh}[3]{#1\Vdash#2:#3}&#10;&#10;$\infer[I\imp]{\cseqm{\Gamma}{A\imp B}{\Delta}}{\cseqm{\Gamma,x:A}{B}{\Delta}}$ &#10;&#10;&#10;\end{document}"/>
  <p:tag name="IGUANATEXSIZE" val="20"/>
  <p:tag name="IGUANATEXCURSOR" val="170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0"/>
  <p:tag name="ORIGINALWIDTH" val=" 1016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infer[ACT]{\cseqt{\Gamma}{A}{\Delta}}{\cseqc{\Gamma}{a:A,\Delta}}$&#10;&#10;&#10;&#10;\end{document}"/>
  <p:tag name="IGUANATEXSIZE" val="12"/>
  <p:tag name="IGUANATEXCURSOR" val="3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1590"/>
  <p:tag name="OUTPUTTYPE" val="PNG"/>
  <p:tag name="IGUANATEXVERSION" val="162"/>
  <p:tag name="LATEXADDIN" val="\documentclass{article}&#10;\usepackage{amsmath, amssymb, amsfonts}&#10;\usepackage{proof}&#10;\usepackage[T1]{fontenc}&#10;\pagestyle{empty}&#10;\begin{document}&#10;&#10;\newcommand{\imp}{\supset}&#10;\newcommand{\cons}[2]{#1::#2}&#10;\newcommand{\lb}{\lambda}&#10;\newcommand{\cmd}[2]{\langle #1\,|\,#2\rangle}&#10;\newcommand{\cpseqm}[3]{#1\Vdash#2:#3}&#10;\newcommand{\cpseql}[3]{#1\Vdash#2:#3}&#10;\newcommand{\cpseqs}[3]{#1\Vdash#2:#3}&#10;\newcommand{\lst}[1]{[#1]}%{\langle#1\rangle}&#10;\newcommand{\elst}{\epsilon}&#10;\newcommand{\cseqm}[3]{#1\vdash#2|#3}&#10;\newcommand{\cseql}[3]{#1;#2\vdash#3}&#10;\newcommand{\cseqs}[2]{#1\sststile{}{}#2}&#10;\newcommand{\cseqh}[3]{#1\rhd#2|#3} &#10;\newcommand{\cpseqh}[3]{#1\Vdash#2:#3}&#10;&#10;$\infer[E\imp]{\cseqh{\Gamma}{B}{\Delta}}{\cseqh{\Gamma}{A\imp B}{\Delta}&amp;\cseqm{\Gamma}{A}{\Delta}}$ &#10;&#10;&#10;\end{document}"/>
  <p:tag name="IGUANATEXSIZE" val="20"/>
  <p:tag name="IGUANATEXCURSOR" val="67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5"/>
  <p:tag name="ORIGINALWIDTH" val=" 937"/>
  <p:tag name="OUTPUTTYPE" val="PNG"/>
  <p:tag name="IGUANATEXVERSION" val="162"/>
  <p:tag name="LATEXADDIN" val="\documentclass{article}&#10;\usepackage{amsmath, amssymb, amsfonts}&#10;\usepackage{proof}&#10;\usepackage[T1]{fontenc}&#10;\pagestyle{empty}&#10;\begin{document}&#10;&#10;\newcommand{\imp}{\supset}&#10;\newcommand{\cons}[2]{#1::#2}&#10;\newcommand{\lb}{\lambda}&#10;\newcommand{\cmd}[2]{\langle #1\,|\,#2\rangle}&#10;\newcommand{\cpseqm}[3]{#1\Vdash#2:#3}&#10;\newcommand{\cpseql}[3]{#1\Vdash#2:#3}&#10;\newcommand{\cpseqs}[3]{#1\Vdash#2:#3}&#10;\newcommand{\lst}[1]{[#1]}%{\langle#1\rangle}&#10;\newcommand{\elst}{\epsilon}&#10;\newcommand{\cseqm}[3]{#1\vdash#2|#3}&#10;\newcommand{\cseql}[3]{#1;#2\vdash#3}&#10;\newcommand{\cseqs}[2]{#1\sststile{}{}#2}&#10;\newcommand{\cseqh}[3]{#1\rhd#2|#3} &#10;\newcommand{\cpseqh}[3]{#1\Vdash#2:#3}&#10;&#10;$\infer[A]{\cseqh{\Gamma,x:A}{A}{\Delta}}{}$ &#10;&#10;&#10;\end{document}"/>
  <p:tag name="IGUANATEXSIZE" val="20"/>
  <p:tag name="IGUANATEXCURSOR" val="66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0"/>
  <p:tag name="ORIGINALWIDTH" val=" 1041"/>
  <p:tag name="OUTPUTTYPE" val="PNG"/>
  <p:tag name="IGUANATEXVERSION" val="162"/>
  <p:tag name="LATEXADDIN" val="\documentclass{article}&#10;\usepackage{amsmath, amssymb, amsfonts, turnstile}&#10;\usepackage{proof}&#10;\usepackage[T1]{fontenc}&#10;\pagestyle{empty}&#10;\begin{document}&#10;&#10;\newcommand{\imp}{\supset}&#10;\newcommand{\cons}[2]{#1::#2}&#10;\newcommand{\lb}{\lambda}&#10;\newcommand{\cmd}[2]{\langle #1\,|\,#2\rangle}&#10;\newcommand{\cpseqm}[3]{#1\Vdash#2:#3}&#10;\newcommand{\cpseql}[3]{#1\Vdash#2:#3}&#10;\newcommand{\cpseqs}[3]{#1\Vdash#2:#3}&#10;\newcommand{\lst}[1]{[#1]}%{\langle#1\rangle}&#10;\newcommand{\elst}{\epsilon}&#10;\newcommand{\cseqm}[3]{#1\vdash#2|#3}&#10;\newcommand{\cseql}[3]{#1;#2\vdash#3}&#10;\newcommand{\cseqs}[2]{#1\sststile{}{}#2}&#10;\newcommand{\cseqh}[3]{#1\rhd#2|#3} &#10;\newcommand{\cpseqh}[3]{#1\Vdash#2:#3}&#10;&#10;$\infer[PSS]{\cseqs{\Gamma}{a:p,\Delta}}{\cseqh{\Gamma}{p}{a:p,\Delta}}$ &#10;&#10;&#10;\end{document}"/>
  <p:tag name="IGUANATEXSIZE" val="20"/>
  <p:tag name="IGUANATEXCURSOR" val="7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0"/>
  <p:tag name="ORIGINALWIDTH" val=" 730"/>
  <p:tag name="OUTPUTTYPE" val="PNG"/>
  <p:tag name="IGUANATEXVERSION" val="162"/>
  <p:tag name="LATEXADDIN" val="\documentclass{article}&#10;\usepackage{amsmath, amssymb, amsfonts, turnstile}&#10;\usepackage{proof}&#10;\usepackage[T1]{fontenc}&#10;\pagestyle{empty}&#10;\begin{document}&#10;&#10;\newcommand{\imp}{\supset}&#10;\newcommand{\cons}[2]{#1::#2}&#10;\newcommand{\lb}{\lambda}&#10;\newcommand{\cmd}[2]{\langle #1\,|\,#2\rangle}&#10;\newcommand{\cpseqm}[3]{#1\Vdash#2:#3}&#10;\newcommand{\cpseql}[3]{#1\Vdash#2:#3}&#10;\newcommand{\cpseqs}[3]{#1\Vdash#2:#3}&#10;\newcommand{\lst}[1]{[#1]}%{\langle#1\rangle}&#10;\newcommand{\elst}{\epsilon}&#10;\newcommand{\cseqm}[3]{#1\vdash#2|#3}&#10;\newcommand{\cseql}[3]{#1;#2\vdash#3}&#10;\newcommand{\cseqs}[2]{#1\sststile{}{}#2}&#10;\newcommand{\cseqh}[3]{#1\rhd#2|#3} &#10;\newcommand{\cpseqh}[3]{#1\Vdash#2:#3}&#10;\newcommand{\abs}{\perp}&#10;&#10;$\infer[E\bot]{\cseqs{\Gamma}{\Delta}}{\cseqh{\Gamma}{\abs}{\Delta}}$ &#10;&#10;&#10;\end{document}"/>
  <p:tag name="IGUANATEXSIZE" val="20"/>
  <p:tag name="IGUANATEXCURSOR" val="69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3"/>
  <p:tag name="ORIGINALWIDTH" val=" 1034"/>
  <p:tag name="OUTPUTTYPE" val="PNG"/>
  <p:tag name="IGUANATEXVERSION" val="162"/>
  <p:tag name="LATEXADDIN" val="\documentclass{article}&#10;\usepackage{amsmath, amssymb, amsfonts}&#10;\usepackage{proof}&#10;\usepackage[T1]{fontenc}&#10;\pagestyle{empty}&#10;\begin{document}&#10;&#10;\newcommand{\imp}{\supset}&#10;\newcommand{\cons}[2]{#1::#2}&#10;\newcommand{\lb}{\lambda}&#10;\newcommand{\cmd}[2]{\langle #1\,|\,#2\rangle}&#10;\newcommand{\cpseqm}[3]{#1\Vdash#2:#3}&#10;\newcommand{\cpseql}[3]{#1\Vdash#2:#3}&#10;\newcommand{\cpseqs}[3]{#1\Vdash#2:#3}&#10;\newcommand{\lst}[1]{[#1]}%{\langle#1\rangle}&#10;\newcommand{\elst}{\epsilon}&#10;\newcommand{\cseqm}[3]{#1\vdash#2|#3}&#10;\newcommand{\cseql}[3]{#1;#2\vdash#3}&#10;\newcommand{\cseqs}[2]{#1\sststile{}{}#2}&#10;\newcommand{\cseqh}[3]{#1\rhd#2|#3} &#10;\newcommand{\cpseqh}[3]{#1\Vdash#2:#3}&#10;&#10;$\infer[I\imp]{\cseqm{\Gamma}{A\imp B}{\Delta}}{\cseqm{\Gamma,x:A}{B}{\Delta}}$ &#10;&#10;&#10;\end{document}"/>
  <p:tag name="IGUANATEXSIZE" val="20"/>
  <p:tag name="IGUANATEXCURSOR" val="170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0"/>
  <p:tag name="ORIGINALWIDTH" val=" 1016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infer[ACT]{\cseqt{\Gamma}{A}{\Delta}}{\cseqc{\Gamma}{a:A,\Delta}}$&#10;&#10;&#10;&#10;\end{document}"/>
  <p:tag name="IGUANATEXSIZE" val="12"/>
  <p:tag name="IGUANATEXCURSOR" val="3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0"/>
  <p:tag name="ORIGINALWIDTH" val=" 1715"/>
  <p:tag name="OUTPUTTYPE" val="PNG"/>
  <p:tag name="IGUANATEXVERSION" val="162"/>
  <p:tag name="LATEXADDIN" val="\documentclass{article}&#10;\usepackage{amsmath, amssymb, amsfonts, turnstile}&#10;\usepackage{proof}&#10;\usepackage[T1]{fontenc}&#10;\pagestyle{empty}&#10;\begin{document}&#10;&#10;\newcommand{\imp}{\supset}&#10;\newcommand{\cons}[2]{#1::#2}&#10;\newcommand{\lb}{\lambda}&#10;\newcommand{\cmd}[2]{\langle #1\,|\,#2\rangle}&#10;\newcommand{\cpseqm}[3]{#1\Vdash#2:#3}&#10;\newcommand{\cpseql}[3]{#1\Vdash#2:#3}&#10;\newcommand{\cpseqs}[3]{#1\Vdash#2:#3}&#10;\newcommand{\lst}[1]{[#1]}%{\langle#1\rangle}&#10;\newcommand{\elst}{\epsilon}&#10;\newcommand{\cseqm}[3]{#1\vdash#2|#3}&#10;\newcommand{\cseql}[3]{#1;#2\vdash#3}&#10;\newcommand{\cseqs}[2]{#1\sststile{}{}#2}&#10;\newcommand{\cseqh}[3]{#1\rhd#2|#3} &#10;\newcommand{\cpseqh}[3]{#1\Vdash#2:#3}&#10;&#10;$\infer[CTR]{\cseqs{\Gamma}{a:A\imp B,\Delta}}{\cseqm{\Gamma,x:A}{B}{a:A\imp B,\Delta}}$ &#10;&#10;&#10;\end{document}"/>
  <p:tag name="IGUANATEXSIZE" val="20"/>
  <p:tag name="IGUANATEXCURSOR" val="7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8"/>
  <p:tag name="ORIGINALWIDTH" val=" 1333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M,N  ::= \lb x^A.M \,|\, \mu a^A.S$&#10;&#10;&#10;\end{document}"/>
  <p:tag name="IGUANATEXSIZE" val="20"/>
  <p:tag name="IGUANATEXCURSOR" val="24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715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H ::=  x \,|\, HN$&#10;&#10;&#10;\end{document}"/>
  <p:tag name="IGUANATEXSIZE" val="20"/>
  <p:tag name="IGUANATEXCURSOR" val="22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8"/>
  <p:tag name="ORIGINALWIDTH" val=" 1769"/>
  <p:tag name="OUTPUTTYPE" val="PNG"/>
  <p:tag name="IGUANATEXVERSION" val="162"/>
  <p:tag name="LATEXADDIN" val="\documentclass{article}&#10;\usepackage{amsmath}&#10;\usepackage[T1]{fontenc}&#10;\pagestyle{empty}&#10;\begin{document}&#10;&#10;\newcommand{\absymb}{\mathsf{abort}}&#10;\newcommand{\lb}{\lambda}&#10;\newcommand{\abt}[1]{\absymb(#1)}&#10;\newcommand{\pass}[2]{#1(#2)}&#10;&#10;$S ::=  \abt{H} \,|\,\pass{a}{H} \,|\,\pass{a}{\lb x^A.M}$&#10;&#10;\end{document}"/>
  <p:tag name="IGUANATEXSIZE" val="20"/>
  <p:tag name="IGUANATEXCURSOR" val="14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8"/>
  <p:tag name="ORIGINALWIDTH" val=" 1488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M,N  ::= \lb x^A.M \,|\, \mu a^A.S \,|\, \underline{\sigma}$&#10;&#10;&#10;\end{document}"/>
  <p:tag name="IGUANATEXSIZE" val="20"/>
  <p:tag name="IGUANATEXCURSOR" val="25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715"/>
  <p:tag name="OUTPUTTYPE" val="PNG"/>
  <p:tag name="IGUANATEXVERSION" val="162"/>
  <p:tag name="LATEXADDIN" val="\documentclass{article}&#10;\usepackage{amsmath}&#10;\usepackage[T1]{fontenc}&#10;\pagestyle{empty}&#10;\begin{document}&#10;&#10;\newcommand{\cons}[2]{#1::#2}&#10;\newcommand{\lb}{\lambda}&#10;\newcommand{\cmd}[2]{\langle #1\,|\,#2\rangle}&#10;&#10;$H ::=  x \,|\, HN$&#10;&#10;&#10;\end{document}"/>
  <p:tag name="IGUANATEXSIZE" val="20"/>
  <p:tag name="IGUANATEXCURSOR" val="22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1"/>
  <p:tag name="ORIGINALWIDTH" val=" 2433"/>
  <p:tag name="OUTPUTTYPE" val="PNG"/>
  <p:tag name="IGUANATEXVERSION" val="162"/>
  <p:tag name="LATEXADDIN" val="\documentclass{article}&#10;\usepackage{amsmath}&#10;\usepackage[T1]{fontenc}&#10;\pagestyle{empty}&#10;\begin{document}&#10;&#10;\newcommand{\absymb}{\mathsf{abort}}&#10;\newcommand{\lb}{\lambda}&#10;\newcommand{\abt}[1]{\absymb(#1)}&#10;\newcommand{\pass}[2]{#1(#2)}&#10;\newcommand{\Pass}[2]{\mathsf{ab}(#1, #2)}&#10;&#10;$S ::=  \abt{H} \,|\,\pass{a}{H} \,|\,\pass{a}{\lb x^A.M} \,|\, \underline{\zeta} \,|\, \Pass{H}{\underline{\rho}}$&#10;&#10;\end{document}"/>
  <p:tag name="IGUANATEXSIZE" val="20"/>
  <p:tag name="IGUANATEXCURSOR" val="27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766"/>
  <p:tag name="OUTPUTTYPE" val="PNG"/>
  <p:tag name="IGUANATEXVERSION" val="162"/>
  <p:tag name="LATEXADDIN" val="\documentclass{article}&#10;\usepackage{proof}&#10;\pagestyle{empty}&#10;\begin{document}&#10;\newcommand{\cseqt}[3]{#1\vdash#2|#3}&#10;\newcommand{\imp}{\supset}&#10;&#10;$\underline{\sigma} ::= \underline{\cseqt{\Gamma}{A}{\Delta}}$&#10;&#10;&#10;&#10;\end{document}"/>
  <p:tag name="IGUANATEXSIZE" val="12"/>
  <p:tag name="IGUANATEXCURSOR" val="16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762"/>
  <p:tag name="OUTPUTTYPE" val="PNG"/>
  <p:tag name="IGUANATEXVERSION" val="162"/>
  <p:tag name="LATEXADDIN" val="\documentclass{article}&#10;\usepackage{proof}&#10;\usepackage{turnstile, amsfonts}&#10;\pagestyle{empty}&#10;\begin{document}&#10;\newcommand{\cseqt}[3]{#1\vdash#2|#3}&#10;\newcommand{\cseql}[3]{#1;#2\vdash#3}&#10;%\newcommand{\cseqc}[2]{#1\vdash}#2}&#10;\newcommand{\cseqh}[3]{#1\rhd#2|#3} &#10;\newcommand{\imp}{\supset}&#10;&#10;$\underline{\rho} ::= \underline{\cseqh{\Gamma}{A}{\Delta}}$&#10;&#10;&#10;&#10;\end{document}"/>
  <p:tag name="IGUANATEXSIZE" val="12"/>
  <p:tag name="IGUANATEXCURSOR" val="34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656"/>
  <p:tag name="OUTPUTTYPE" val="PNG"/>
  <p:tag name="IGUANATEXVERSION" val="162"/>
  <p:tag name="LATEXADDIN" val="\documentclass{article}&#10;\usepackage{proof}&#10;\usepackage{amssymb,amsmath}&#10;\usepackage{latexsym}&#10;\usepackage{turnstile}&#10;\pagestyle{empty}&#10;\begin{document}&#10;\newcommand{\cseqt}[3]{#1\vdash#2|#3}&#10;\newcommand{\cseql}[3]{#1;#2\vdash#3}&#10;\newcommand{\cseqc}[2]{#1\sststile{}{}#2}&#10;\newcommand{\imp}{\supset}&#10;&#10;$\underline{\zeta} ::= \underline{\cseqc{\Gamma}{\Delta}}$&#10;&#10;&#10;&#10;\end{document}"/>
  <p:tag name="IGUANATEXSIZE" val="12"/>
  <p:tag name="IGUANATEXCURSOR" val="35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7"/>
  <p:tag name="ORIGINALWIDTH" val=" 1610"/>
  <p:tag name="OUTPUTTYPE" val="PNG"/>
  <p:tag name="IGUANATEXVERSION" val="162"/>
  <p:tag name="LATEXADDIN" val="\documentclass{article}&#10;\usepackage{amsmath, amssymb, turnstile}&#10;\usepackage{proof}&#10;\usepackage[T1]{fontenc}&#10;\pagestyle{empty}&#10;\begin{document}&#10;&#10;\newcommand{\cons}[2]{#1::#2}&#10;\newcommand{\lb}{\lambda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RHO}{\underline{\rho}}&#10;\newcommand{\cseqh}[3]{#1\rhd#2|#3}&#10;\newcommand{\pseqh}[3]{#1\Vdash#2:#3}&#10;\newcommand{\Pass}[2]{\mathsf{ab}(#1, #2)} &#10;\newcommand{\cseqc}[2]{#1\sststile{}{}#2}&#10;\newcommand{\ap}[2]{#1@#2}&#10;&#10;$\infer[\partial]{\cpseqc{\ap{\Xi}{\lst{\RHO}}}{\Pass{H}{\RHO}}{(\cseqc{\Gamma}{\Delta})}}{\pseqh{\Xi}{H}{\rho} &amp; \rho=(\cseqh{\Gamma}{A}{\Delta})}$ &#10;&#10;&#10;\end{document}"/>
  <p:tag name="IGUANATEXSIZE" val="20"/>
  <p:tag name="IGUANATEXCURSOR" val="662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8"/>
  <p:tag name="ORIGINALWIDTH" val=" 2114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&#10;$\udl{\cseqt{\Gamma}{A\imp B}{\Delta}} \; \to \; \lb x^A.(\udl{\cseqt{\Gamma,x:A}{B}{\Delta}})$ &#10;&#10;&#10;\end{document}"/>
  <p:tag name="IGUANATEXSIZE" val="20"/>
  <p:tag name="IGUANATEXCURSOR" val="79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1733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&#10;$\udl{\cseqt{\Gamma}{A}{\Delta}} \; \to \; \mu a^A.(\udl{\cseqc{\Gamma}{a:A, \Delta}})$ &#10;&#10;&#10;\end{document}"/>
  <p:tag name="IGUANATEXSIZE" val="20"/>
  <p:tag name="IGUANATEXCURSOR" val="79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15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IR)$ &#10;&#10;&#10;\end{document}"/>
  <p:tag name="IGUANATEXSIZE" val="20"/>
  <p:tag name="IGUANATEXCURSOR" val="16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47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KIR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3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IR)$ &#10;&#10;&#10;\end{document}"/>
  <p:tag name="IGUANATEXSIZE" val="20"/>
  <p:tag name="IGUANATEXCURSOR" val="16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6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SFD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390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KFD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556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FD_{atm}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3"/>
  <p:tag name="ORIGINALWIDTH" val=" 474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&#10;$(FFD_{ab})$ &#10;&#10;&#10;\end{document}"/>
  <p:tag name="IGUANATEXSIZE" val="20"/>
  <p:tag name="IGUANATEXCURSOR" val="1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3054"/>
  <p:tag name="OUTPUTTYPE" val="PNG"/>
  <p:tag name="IGUANATEXVERSION" val="162"/>
  <p:tag name="LATEXADDIN" val="\documentclass{article}&#10;\usepackage{amsmath, turnstile}&#10;\usepackage[T1]{fontenc}&#10;\pagestyle{empty}&#10;\begin{document}&#10;&#10;\newcommand{\absymb}{\mathsf{abort}}&#10;\newcommand{\lb}{\lambda}&#10;\newcommand{\abt}[1]{\absymb(#1)}&#10;\newcommand{\pass}[2]{#1(#2)}&#10;\newcommand{\Pass}[2]{\mathsf{ab}(#1, #2)}&#10;\newcommand{\udl}[1]{\underline{#1}}&#10;\newcommand{\cseqs}[2]{#1\sststile{}{}#2}&#10;\newcommand{\cseqm}[3]{#1\vdash#2|#3} &#10;\newcommand{\cseqh}[3]{#1\rhd#2|#3}&#10;\newcommand{\imp}{\supset}&#10;&#10;$\udl{\cseqs{\Gamma}{a: A \imp B, \Delta}} \, \to \, \pass{a}{\lb x^A . (\udl{\cseqm{\Gamma, x:A}{B}{a: A\imp B, \Delta}})}$&#10;&#10;\end{document}"/>
  <p:tag name="IGUANATEXSIZE" val="20"/>
  <p:tag name="IGUANATEXCURSOR" val="54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2133"/>
  <p:tag name="OUTPUTTYPE" val="PNG"/>
  <p:tag name="IGUANATEXVERSION" val="162"/>
  <p:tag name="LATEXADDIN" val="\documentclass{article}&#10;\usepackage{amsmath, turnstile, amssymb}&#10;\usepackage[T1]{fontenc}&#10;\pagestyle{empty}&#10;\begin{document}&#10;&#10;\newcommand{\absymb}{\mathsf{abort}}&#10;\newcommand{\lb}{\lambda}&#10;\newcommand{\abt}[1]{\absymb(#1)}&#10;\newcommand{\pass}[2]{#1(#2)}&#10;\newcommand{\Pass}[2]{\mathsf{ab}(#1, #2)}&#10;\newcommand{\udl}[1]{\underline{#1}}&#10;\newcommand{\cseqs}[2]{#1\sststile{}{}#2}&#10;\newcommand{\cseqm}[3]{#1\vdash#2|#3} &#10;\newcommand{\cseqh}[3]{#1\rhd#2|#3}&#10;\newcommand{\imp}{\supset}&#10;&#10;$\udl{\cseqs{\Gamma, x:A}{\Delta}} \, \to \, \Pass{x}{(\udl{{}\cseqh{\Gamma, x:A}{A}{\Delta}})}$&#10;&#10;\end{document}"/>
  <p:tag name="IGUANATEXSIZE" val="20"/>
  <p:tag name="IGUANATEXCURSOR" val="6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2933"/>
  <p:tag name="OUTPUTTYPE" val="PNG"/>
  <p:tag name="IGUANATEXVERSION" val="162"/>
  <p:tag name="LATEXADDIN" val="\documentclass{article}&#10;\usepackage{amsmath, turnstile, amssymb}&#10;\usepackage[T1]{fontenc}&#10;\pagestyle{empty}&#10;\begin{document}&#10;&#10;\newcommand{\absymb}{\mathsf{abort}}&#10;\newcommand{\lb}{\lambda}&#10;\newcommand{\abt}[1]{\absymb(#1)}&#10;\newcommand{\pass}[2]{#1(#2)}&#10;\newcommand{\Pass}[2]{\mathsf{ab}(#1, #2)}&#10;\newcommand{\udl}[1]{\underline{#1}}&#10;\newcommand{\cseqs}[2]{#1\sststile{}{}#2}&#10;\newcommand{\cseqm}[3]{#1\vdash#2|#3} &#10;\newcommand{\cseqh}[3]{#1\rhd#2|#3}&#10;\newcommand{\imp}{\supset}&#10;&#10;$\Pass{H}{(\udl{\cseqh{\Gamma}{A\imp B}{\Delta}})} \, \to \, \Pass{{H(\udl{\cseqm{\Gamma}{A}{\Delta}})}}{(\udl{\cseqh{\Gamma}{B}{\Delta}})}$&#10;&#10;\end{document}"/>
  <p:tag name="IGUANATEXSIZE" val="20"/>
  <p:tag name="IGUANATEXCURSOR" val="538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1692"/>
  <p:tag name="OUTPUTTYPE" val="PNG"/>
  <p:tag name="IGUANATEXVERSION" val="162"/>
  <p:tag name="LATEXADDIN" val="\documentclass{article}&#10;\usepackage{amsmath, turnstile, amssymb}&#10;\usepackage[T1]{fontenc}&#10;\pagestyle{empty}&#10;\begin{document}&#10;&#10;\newcommand{\absymb}{\mathsf{abort}}&#10;\newcommand{\lb}{\lambda}&#10;\newcommand{\abt}[1]{\absymb(#1)}&#10;\newcommand{\pass}[2]{#1(#2)}&#10;\newcommand{\Pass}[2]{\mathsf{ab}(#1, #2)}&#10;\newcommand{\udl}[1]{\underline{#1}}&#10;\newcommand{\cseqs}[2]{#1\sststile{}{}#2}&#10;\newcommand{\cseqm}[3]{#1\vdash#2|#3} &#10;\newcommand{\cseqh}[3]{#1\rhd#2|#3}&#10;\newcommand{\imp}{\supset}&#10;&#10;$\Pass{H}{(\udl{\cseqh{\Gamma}{p}{a:p, \Delta}})} \, \to \, \pass{a}{H}$&#10;&#10;\end{document}"/>
  <p:tag name="IGUANATEXSIZE" val="20"/>
  <p:tag name="IGUANATEXCURSOR" val="53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1660"/>
  <p:tag name="OUTPUTTYPE" val="PNG"/>
  <p:tag name="IGUANATEXVERSION" val="162"/>
  <p:tag name="LATEXADDIN" val="\documentclass{article}&#10;\usepackage{amsmath, turnstile, amssymb}&#10;\usepackage[T1]{fontenc}&#10;\pagestyle{empty}&#10;\begin{document}&#10;&#10;\newcommand{\absymb}{\mathsf{abort}}&#10;\newcommand{\lb}{\lambda}&#10;\newcommand{\abt}[1]{\absymb(#1)}&#10;\newcommand{\pass}[2]{#1(#2)}&#10;\newcommand{\Pass}[2]{\mathsf{ab}(#1, #2)}&#10;\newcommand{\udl}[1]{\underline{#1}}&#10;\newcommand{\cseqs}[2]{#1\sststile{}{}#2}&#10;\newcommand{\cseqm}[3]{#1\vdash#2|#3} &#10;\newcommand{\cseqh}[3]{#1\rhd#2|#3}&#10;\newcommand{\imp}{\supset}&#10;\newcommand{\abs}{\perp}&#10;&#10;$\Pass{H}{(\udl{\cseqh{\Gamma}{\abs}{\Delta}})} \, \to \, \abt{H}$&#10;&#10;\end{document}"/>
  <p:tag name="IGUANATEXSIZE" val="20"/>
  <p:tag name="IGUANATEXCURSOR" val="501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4"/>
  <p:tag name="ORIGINALWIDTH" val=" 683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&#10;$\cseqt{\Gamma}{M:A}{\Delta}$ &#10;&#10;&#10;\end{document}"/>
  <p:tag name="IGUANATEXSIZE" val="20"/>
  <p:tag name="IGUANATEXCURSOR" val="76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"/>
  <p:tag name="ORIGINALWIDTH" val=" 848"/>
  <p:tag name="OUTPUTTYPE" val="PNG"/>
  <p:tag name="IGUANATEXVERSION" val="162"/>
  <p:tag name="LATEXADDIN" val="\documentclass{article}&#10;\usepackage{amsmath, amssymb}&#10;\usepackage{proof}&#10;\usepackage{turnstile}&#10;\usepackage[T1]{fontenc}&#10;\pagestyle{empty}&#10;\begin{document}&#10;&#10;\newcommand{\cons}[2]{#1::#2}&#10;\newcommand{\lb}{\lambda}&#10;\newcommand{\imp}{\supset}&#10;\newcommand{\cmd}[2]{\langle #1\,|\,#2\rangle}&#10;\newcommand{\cpseqt}[3]{#1\Vdash#2:#3}&#10;\newcommand{\cpseql}[3]{#1\Vdash#2:#3}&#10;\newcommand{\cpseqc}[3]{#1\Vdash#2:#3}&#10;\newcommand{\lst}[1]{[#1]}%{\langle#1\rangle}&#10;\newcommand{\elst}{\epsilon}&#10;\newcommand{\cseqt}[3]{#1\vdash#2|#3}&#10;\newcommand{\cseql}[3]{#1;#2\vdash#3}&#10;\newcommand{\cseqc}[2]{#1\sststile{}{}#2}&#10;\newcommand{\ab}{\absymb}&#10;\newcommand{\absymb}{\mathsf{abort}}&#10;\newcommand{\abs}{\perp}&#10;\newcommand{\ap}[2]{#1@#2}&#10;\newcommand{\udl}[1]{\underline{#1}}&#10;\newcommand{\too}{\twoheadrightarrow}&#10;&#10;$\udl{\cseqt{\Gamma}{A}{\Delta}} \too M$ .&#10;&#10;&#10;\end{document}"/>
  <p:tag name="IGUANATEXSIZE" val="20"/>
  <p:tag name="IGUANATEXCURSOR" val="827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90"/>
  <p:tag name="ORIGINALWIDTH" val=" 993"/>
  <p:tag name="OUTPUTTYPE" val="PNG"/>
  <p:tag name="IGUANATEXVERSION" val="162"/>
  <p:tag name="LATEXADDIN" val="\documentclass{article}&#10;\usepackage{amsmath, turnstile, amssymb}&#10;\usepackage[T1]{fontenc}&#10;\pagestyle{empty}&#10;\begin{document}&#10;&#10;\newcommand{\absymb}{\mathsf{abort}}&#10;\newcommand{\lb}{\lambda}&#10;\newcommand{\abt}[1]{\absymb(#1)}&#10;\newcommand{\pass}[2]{#1(#2)}&#10;\newcommand{\Pass}[2]{\mathsf{ab}(#1, #2)}&#10;\newcommand{\udl}[1]{\underline{#1}}&#10;\newcommand{\cseqs}[2]{#1\sststile{}{}#2}&#10;\newcommand{\cseqm}[3]{#1\vdash#2|#3} &#10;\newcommand{\cseqh}[3]{#1\rhd#2|#3}&#10;\newcommand{\imp}{\supset}&#10;\newcommand{\abs}{\perp}&#10;&#10;$\Theta: LKT \to NKT$&#10;&#10;\end{document}"/>
  <p:tag name="IGUANATEXSIZE" val="20"/>
  <p:tag name="IGUANATEXCURSOR" val="506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1"/>
  <p:tag name="ORIGINALWIDTH" val=" 985"/>
  <p:tag name="OUTPUTTYPE" val="PNG"/>
  <p:tag name="IGUANATEXVERSION" val="162"/>
  <p:tag name="LATEXADDIN" val="\documentclass{article}&#10;\usepackage{amsmath, turnstile, amssymb}&#10;\usepackage[T1]{fontenc}&#10;\pagestyle{empty}&#10;\begin{document}&#10;&#10;\newcommand{\absymb}{\mathsf{abort}}&#10;\newcommand{\lb}{\lambda}&#10;\newcommand{\abt}[1]{\absymb(#1)}&#10;\newcommand{\pass}[2]{#1(#2)}&#10;\newcommand{\Pass}[2]{\mathsf{ab}(#1, #2)}&#10;\newcommand{\udl}[1]{\underline{#1}}&#10;\newcommand{\cseqs}[2]{#1\sststile{}{}#2}&#10;\newcommand{\cseqm}[3]{#1\vdash#2|#3} &#10;\newcommand{\cseqh}[3]{#1\rhd#2|#3}&#10;\newcommand{\imp}{\supset}&#10;\newcommand{\abs}{\perp}&#10;&#10;$\psi: NKT \to LKT$&#10;&#10;\end{document}"/>
  <p:tag name="IGUANATEXSIZE" val="20"/>
  <p:tag name="IGUANATEXCURSOR" val="519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8"/>
  <p:tag name="ORIGINALWIDTH" val=" 1080"/>
  <p:tag name="OUTPUTTYPE" val="PNG"/>
  <p:tag name="IGUANATEXVERSION" val="162"/>
  <p:tag name="LATEXADDIN" val="\documentclass{article}&#10;\usepackage{amsmath, turnstile, amssymb}&#10;\usepackage[T1]{fontenc}&#10;\pagestyle{empty}&#10;\begin{document}&#10;&#10;\newcommand{\absymb}{\mathsf{abort}}&#10;\newcommand{\lb}{\lambda}&#10;\newcommand{\abt}[1]{\absymb(#1)}&#10;\newcommand{\pass}[2]{#1(#2)}&#10;\newcommand{\Pass}[2]{\mathsf{ab}(#1, #2)}&#10;\newcommand{\udl}[1]{\underline{#1}}&#10;\newcommand{\cseqs}[2]{#1\sststile{}{}#2}&#10;\newcommand{\cseqm}[3]{#1\vdash#2|#3} &#10;\newcommand{\cseqh}[3]{#1\rhd#2|#3}&#10;\newcommand{\imp}{\supset}&#10;\newcommand{\abs}{\perp}&#10;&#10;$\Theta: LKT_{\partial} \to NKT_{\partial}$&#10;&#10;\end{document}"/>
  <p:tag name="IGUANATEXSIZE" val="20"/>
  <p:tag name="IGUANATEXCURSOR" val="545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1"/>
  <p:tag name="ORIGINALWIDTH" val=" 1073"/>
  <p:tag name="OUTPUTTYPE" val="PNG"/>
  <p:tag name="IGUANATEXVERSION" val="162"/>
  <p:tag name="LATEXADDIN" val="\documentclass{article}&#10;\usepackage{amsmath, turnstile, amssymb}&#10;\usepackage[T1]{fontenc}&#10;\pagestyle{empty}&#10;\begin{document}&#10;&#10;\newcommand{\absymb}{\mathsf{abort}}&#10;\newcommand{\lb}{\lambda}&#10;\newcommand{\abt}[1]{\absymb(#1)}&#10;\newcommand{\pass}[2]{#1(#2)}&#10;\newcommand{\Pass}[2]{\mathsf{ab}(#1, #2)}&#10;\newcommand{\udl}[1]{\underline{#1}}&#10;\newcommand{\cseqs}[2]{#1\sststile{}{}#2}&#10;\newcommand{\cseqm}[3]{#1\vdash#2|#3} &#10;\newcommand{\cseqh}[3]{#1\rhd#2|#3}&#10;\newcommand{\imp}{\supset}&#10;\newcommand{\abs}{\perp}&#10;&#10;$\psi: NKT_{\partial} \to LKT_{\partial}$&#10;&#10;\end{document}"/>
  <p:tag name="IGUANATEXSIZE" val="20"/>
  <p:tag name="IGUANATEXCURSOR" val="543"/>
  <p:tag name="TRANSPARENCY" val="True"/>
  <p:tag name="CHOOSECOLOR" val="False"/>
  <p:tag name="COLORHEX" val="000000"/>
  <p:tag name="LATEXENGINEID" val="0"/>
  <p:tag name="TEMPFOLDER" val="/private/var/folders/l2/pxzwdksd5sv4f5thntctdl5c0000gn/T/com.microsoft.Powerpoint/TemporaryItems/"/>
  <p:tag name="LATEXFORMHEIGHT" val=" 426.65"/>
  <p:tag name="LATEXFORMWIDTH" val=" 513.35"/>
  <p:tag name="LATEXFORMWRAP" val="True"/>
  <p:tag name="BITMAPVECTOR" val="0"/>
</p:tagLst>
</file>

<file path=ppt/theme/theme1.xml><?xml version="1.0" encoding="utf-8"?>
<a:theme xmlns:a="http://schemas.openxmlformats.org/drawingml/2006/main" name="Minimalist Pitch Deck by Slidesgo">
  <a:themeElements>
    <a:clrScheme name="Simple Light">
      <a:dk1>
        <a:srgbClr val="000000"/>
      </a:dk1>
      <a:lt1>
        <a:srgbClr val="EFEE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FEEE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  <wetp:taskpane dockstate="right" visibility="0" width="350" row="0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8681FBF7-65E4-9F4C-BE9F-421E4BA9CADD}">
  <we:reference id="wa200004052" version="1.0.0.2" store="en-GB" storeType="OMEX"/>
  <we:alternateReferences>
    <we:reference id="wa200004052" version="1.0.0.2" store="WA200004052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F80D071-415C-3B4E-B63E-8B36F4195E59}">
  <we:reference id="wa104381909" version="3.18.2.0" store="en-GB" storeType="OMEX"/>
  <we:alternateReferences>
    <we:reference id="wa104381909" version="3.18.2.0" store="wa104381909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o&gt;\\\\&lt;/mo&gt;&lt;mi&gt;i&lt;/mi&gt;&lt;mi&gt;n&lt;/mi&gt;&lt;mi&gt;f&lt;/mi&gt;&lt;mi&gt;e&lt;/mi&gt;&lt;mi&gt;r&lt;/mi&gt;&lt;mfenced open=\\\&quot;[\\\&quot; close=\\\&quot;]\\\&quot;&gt;&lt;mi&gt;a&lt;/mi&gt;&lt;/mfenced&gt;&lt;mfenced open=\\\&quot;{\\\&quot; close=\\\&quot;}\\\&quot;&gt;&lt;mi&gt;B&lt;/mi&gt;&lt;/mfenced&gt;&lt;mfenced open=\\\&quot;{\\\&quot; close=\\\&quot;}\\\&quot;&gt;&lt;mi&gt;C&lt;/mi&gt;&lt;/mfenced&gt;&lt;/math&gt;\&quot;,\&quot;base64Image\&quot;:\&quot;iVBORw0KGgoAAAANSUhEUgAAAtEAAABjCAYAAABdVFxQAAAACXBIWXMAAA7EAAAOxAGVKw4bAAAABGJhU0UAAABMv06fJQAAIRZJREFUeNrtXQGEVVv3X8YYGYlkjJFEkiSJ5EmSyBhJEnmSJJEkz3giT5IkkiRJJEmSyEhG8kiSJJEkyYjxZGQkkmSMDN//rjf7/jvvds/ea5+zzzlrn/v7sX3P19yz91lr7X1+e+211yICAAD4Ff8roQGQPQAAAAAAAIgciBxkDwAAAAAAACIHIgfZAwAAAAAAACBykD1kDwAAAAAAACIH2UP2AAAAAAAAIHKQPWQPAAAAAAAAIgciB9kDAAAAAACAyIHIQfYAAAAA0YOURfZLo3VBPAAAIgcSBv0BAAAAv2KfZaEdhHgAg02NdrbR/jYbrOlG+9Fo3xvtVaNdb7St2HiBhAHQnxDzG217o51utNs069D5ZNYUXl9moMZKMGPkz3r4bNZ81s+ZRtvRaH01fGfYImw0l/HMpCy0V6GrjgYT4j8a7R+SHxN/MGQaAAkDoL9W9DTagUZ7ahnb60Y70mjLocZKsNzI/7VFRy8a7ZDRZ6yALcJGg+EhxRvSsdbsQqZMG2201bCx3Pit0cZa7GHcGOVAYhH6K8V2/oIIQcIA6C+BoUabsIzpSaOtVyqvEK3Ve8bfXfaeXWy0XY22SqEdrTN6SXsn1meMJ9aabbEs9DbaFkNGbzTafWOXTe/7/8z/Thku+LzRRhL2usxT3vz8S3W10QOWAWxWbATbLYvV7/iO5rKH1tOJm402p83fdltsZyNECRIGQH8NHLaMhcPC9lcsr1vGATNO6SezZbTvhljzkbQmB9Z+o6e0ce+LaG5ot8UiwRu1k4YQh7DzyUa73GgbLH320+wJ9f+MbdfSRvsovpAODkP5ZhEY76BwBOOP421kec3y939adPAA4gQJAzpef5scY9miUH4rGm2Y/ELZQrdJsx7PUSKTIcd4Y/DcxmiLIbgSf6ffFGyvHwxf3EOzDs4dhrB/SvzN0Trb6COKK6TjkECp1/At9cJwGxm+pFlvcxrGLfKfgkhBwoCO1h9/O95bxnFWuRznNtpbTzLxmGZP4XrayGKeIWrsDb1PMm+gppCJM5ZxvlOuy9ht0ReLG+0C2b2zZbetdbbRgxRXSMcNgcI+41sqxiC1D4tZkeNjDRINEgZ0tv52kP3ofF4EsjzoQRKYpPl4jvmo+6Lw2ceUbCqmKU5Pbh1sUQKOLLhEfuEar8xvOAyWY4x7W57Za3ggz4VRyh4K0ldnG40tpOM2oahASN1/aiO7C4Lf2jzRoxAtSBjQ0fq7YxnD7Uhkud2DJBzO2AcTlG+C559S/u3VrNM62KIN7GnncInvQlvl8A7OvjWQkTOccpDV1vatE2z0MaV7dLWFdEh27xP4lopwL2Vn3i/47TClx6SvgGhBwoCO1p/tI7s7Elnu8CAKC3P0MyTso+pL87vIfjFSK+pgi2lYQ/KwI+Z5GwL1u4RmU8lJ+h3tBBu1HVttUmY0gwKlncO31IltKbK74vGM8y2//ajQXgCQaOivXP0tc4whllSke4Uk4XWAvq6RLExxfoXyWOkY32KFOqyLLbYDX96ThFdwPHARobk9hiC7+r/UCTbab+n0ikLjeU52L/QCfEut4NOF8UCLChvlTpqNN+qGaEHCgI7XnysMIpbqphJiG+pi2lJhXycqlEc3VX95rFNtMQk+9XhGsvzkxwt+R7aJJ6TnBKVSG00L6fik0Ij6UhT3UuluWBvSTh7eQDQgYSDR0F9O7KF6XDp+LCS2obx8L0mW/q5K2DI+7FKow7rYYhObqP09pnZp59aUNCZ2wn4hPd7+ymzUljpO6xE93yblRNqcbBsFPmToop8J0FvbUYgHJAwkGvrLCVsRr2+RyLGLZCnCpiicp++qkLSvq1AutkuQGguv1MEWm2D5SsI3uJJz2WE/+yk9+0lXp9joAMUV0gFkgy3wfgnEAxIGEg39FeiQiYW4bBAS2rsB+9wj7HNYKYn+U6Ee62CLjBNC26iyRsYYtU+h11E2mhbb8omAuiAtluotRAOAREN/IC7/4qSQtBwM2Kc0G8gNpST6kkI91sEWzwrt4kLF4zyoxFYrtdE/KL6QDkAO283V8xAPABIN/YG4/Atp+q5FAfuU5qW+BxLdMbZ4TmgTGmTPhVlaQ6AOdZqNDkQ2QQA/nKc4K04BINEASHRZmEfyKoUhISXR90GiO8IWh4X2oKlgzG0FvKJyG0077kdIR9zg4P5JSg/+R3o6ACQa+gOJnk3JVcXx+S6QaNiiwU6hLfCJyRxF497XMr6eTrRR2+4HIR3xYrNFr08hHgAkGvoDif4XN4QEZihwv8eF/Y6ARNfaFlfRbNYXlx1wWrmFysaeLG4z2ak2upAQ0lFHXCFUeARAoqE/EBcXJgVyLCJ11x0hia7y/gpIdLHgUKJ/hHawXen8ma54s6fCRhHSUT98jnAyAiDRAEh0mVgtJDCjJa/RWtZrkOhiId1I3VI8h5pFik53so3+aRkEiprEh42OCdkHEQEg0dAfSDQdEZKY0FkHNgn75WP+ngrlAxJdHKRx0F8bbYHiOXSr4s2eChtdZBnERXynooMtKwdOFwCQaOgPJHoWj4REZnngfkeF/VYdegcSXQyYFEtPIv6MYB3qr5Doq7HRlymDmFSgoAGzy+Ey1ZxS5R0Vc+lxKc0mwD9Ds5WpWDlzPZ+xotFO0ewRB//+h/EmcMjM8ZIMzRZjNUKdCY7959vw12m2TCpf0phO6GfCyOYwFe+pZ88SX1Lim81cceqh8TZIwRdRLpsx/zBzlD+2WUq/dgKJXm3WDj46HTP6bur9jZHlbylzea9ZiG8a4vPB/G5IybuBRGcHZyiSlFUeD9zvepJ7IKs+NQSJLgZXhDbA3/IuAqKwUdux1oaSxsALxpYWcvG9zXhmKF+t+B5Dwpv9PKafwfHJ9szjmVzY5IFgUnxK+WCHwhpH/yc6aHL1Gbt+LVywmo1t4ViA/nnxW0uzKbTOm43Zp5Q+Hwm9Fzct4x7LsEmrK4leYHQ47qH3Oy3ryj3L3y4GiY6eREvzNF8O2Cc7Zd4L+90NglJLW1zlsSbtB0eOx0YXU3khHU1P2k3zoXqXQmLT2nNPIrXdkMc7xpMk7eeo0JtxWujRSKaq6c8gN5+xh2iLI51US8xOv7WaEpe535Ugmj1mkUqbhFc8+11Hs6cNzdMSH5twbW42WAh4ng9+3Ug065ZPkqbabLxHzIZmYcK7s8hstD4nNs7NHOppaadeK3pfkOjsuETlXuxju/pb2OdZEJTa2qI0hGiC4IWOzkbLCunYk5PcnRL2szNnP644OA4zeZHx2b6L5EDJBPp7pATqfBvyyt5I2wXZPyxyGPTo/24OedvCk3Z5EHLfVFx1ItEHzQa19R2ukju/6iLz0WpuaNZEQHBAovPhvXA+hShMxSccDyMj0CDR4bEusBMPUGajZYV08Eeej7U4RyIfdw8ZYi1dZKQZQzhsgr3d7IHmqk9fPQzYVeJ1pdAzmNbeesrsdyqXRN+LbCLtTNHHCLnj2vvJfsTvs0AOmedxn5yIfq/gY20jvlk2nD6XoOpAogdSvDsTnutWM6vNl4AbK5BonVgqnEsPAvTFdiXJBTxl1gsQlPra4gOSO0OQRStCG11C1WfpeCxYaPIccSwzhDrPrejfWjxe42byDph/ZxLzhtxxt6HhKiN7tYYTiDditwJMoCIX3gH6NbRE8qHemnEDtLaDSPRgyubpacaPUDN+/jOF8fSDROvEAeFcGs7Rxxqyx9W3rgFLQFBqbYvLPdbwu+DG8droK6o2S8d1h3HdDtBHj4PUcFuf8lsmKEmPNoeWdKcQ7bJJ9GVHn7/XbPLwhmgs0OSxeQRC4Imlj79S7CwZk8ubywvkPv2YIb+8sjGT6DRvMZ9ozcn4zGsOedxXJgOQ6GyQhl6tyECU+ET3pfD5fIKiuRYDSHQ4XPAg0TvAjeO10aNUbZYO1+J2oATBf7aQtiaJ4ZjhrZbndzneo4gJ/YzqeVGwHdgWv1CYUJSFZD/5CAFbqNK6lr8doJ+liJnEJ2/pu2LqnkRIwrLgnOX95xS0/uX1THYiif6q0Ha6BE4Ubh9pNiyrtXEo32az/u8xtjhiWY9aGxNsvoC8hPSjTiT6a8U2Jw0nnaYwcfgg0RXZqC1W7EIJ/bsSkC8KZNC2i1rX2vyGj4Y/JCbjOkEfrlR3oSfpTIaNQYwYovTMCW/JP7e3Ld78VaAxfyFZeBL/93OyZwa4HHCjGyOJTsuqwKcS83M++4RDHqtAor2Ii8Z1R1otMETjNfmFsVm+t6G58pzv9zg2El2lLW7zsJlOreVQKxt9ZdmZF4lllO+ynxSuUItW4sLH408TpEdCVFzZNELL0uWhvFOTCTNk8SJNGxvyxQgVexegm+QXOJMe1iMpz2NPa2t4CJ+MZMkrGxuJPmfxMoXw7F2OjBBq0J8tVdwLhTI7XSKJ5tPBwxGS5yZeR0aitdriTQ+bOUBA9DZ6jKoJ6Rh2GFeoy402b1O7lEbJOO0twj62ON4ldIy566LMcA0myzpK90DbSKcNC8nuwQ9h75tJVtJ1s6c3go+T9+f0cMVEooc9Nr5ZcYOKvY9RRxJtq76m8YLUKyo301Hzu8LfkeUUF2zlya8oHK9WW/TJDLaCgOht1OYRLjKkw5WEfFugfmwZQFo9tvszEtHDVO7FwluO/jZEPlE4ntt2bJO1AMbFAp7ZiuPkzqTBYQgf6WdqtrI8V7GQaNum9HrAfmzZFPaARLfFbYonI1C/kMjwd6DHND75mWsI8KDZvP5uNsA3zHfLp1jYNYrHMx3bplKjLa71sI0Y6zPARlOQlqKtqJAOXqhmqPik972OfpIfylWJxfGmZz+u45v3geU3RuEKcGgD6+ytQ55rMjx3pcMWNhe8OZxK8aAMdRgJc4HvaaRdHpmk/HHQSdjy+S5UODc06O+5pX9teY93kYzM7PN8bpdZL6QVCT+RrnzjadhPcYXqaLTFw4TUdh1pozbv2boC+tvhMK6HJfQzk/gg9yaI6Vvyv/HvyhMdMu92r6Ovx5FPElfaw1sZntnj0NG1QGPvthD1ZsjG+sT/d6MDSZiLnLymcrzDNl29Vzo3qtZft2MjulSZvG4LyUyeC+w7yZ4xINn+UL72Lnd8LzVlkdBqi1Kb43YGnLg+Nmob2PkC+nPlZz0SqJ+rJEsP1vw7Pl7xvazWK5gsWwPKzlWU41zEE8RVun0m4+JoOwJ6SfnSpCVhu5V9uGXDxRk8yj7m1U6iz1jG9jxwXxsprvhPDfrbS/ZLddogSUMXYsPkur8R00UyWwz5bkXj1GqL7zxIdN1qOXS8jaZ56iYK6GuSykktZSvB3Ix53p7T07Wd3JdMQu6OjlM5seRlY77ALrLEPJ10fED7A77DBYdNJ4+iDnYgCbNhtWNsvwXuz1bqW2vxg6r1Zzsl2KRMVtLY1MuB+tvjQZ4031mxOWleKxqnRlt0pZ4tKoSw06DWRk+U9AFzLW6hciovdfTDKbL66GdBlaxB6RepnNCUJlwFauZHOjEuChYd31hoW3qrt4EJNCMtVv2L2UhNVDzRNZNo20exiMqBdyOcQ1Xqz3ZKcFKhrI4Jicz2gH0+EvbJsfg9pBdnLWM/q2B8Wm1xgPyyuPSCD9fLRssK6XAVOAgVJ3pAsFtp5gzmC5RZj9bHqJzQlCZs6XPeRzohlgt28D7H+RyeYbvsyVkZ5gZ+B1slRN6gDSvwlGgl0Yco/EVSl8doOgJvmwb98VxKC7/jWOD9SmX1WCCvGQoXyiVxEBX5XQgNPin7TunhTnMqGJN2Wxzy0P8MeHAtbTQ1nidkSMcLKidOyFZU4xT9t3Jd1pvTkp3nyoCyW+To62akk+GuQI7SBZIJV1p2D55whwt6B9ut4YP0MxPEvQrlrJFEszfGFsZTxEXZQaq2UmsM+uONxl5qn8GEQ9QumfVPI1xZmdrdiwmF10ISNUH6MWAcaO2ICtvFPionE1QstuhTqRDp7eplo/+PokM65gt2Z/MDTbrvln44D20zD3GemLh9VG65b9fFu70RToLlggXnh2BXucAQoLSPJ5PXxQW+h23TdjJh31UWYNBIoo9Q+XGDtgvHmu8UlKE/jk3nMKiPbdbmR2ZDqD1kbAfJiMyJkr+hrW1jJGs0h55wukA+UfvWZjNw2thNaMRmi7976P4TAXWw0V+wgooN6XDl7XwZ6D02kL0E963ETiXPsb4rnU3oFGYXqH7Vjy4LFhybh51j2zkjSdrt+OdU/EUe26aNN2vN28RVF6PQRqK76eedhLLCk7jPr5ZNvOZY1TL0x56do/Trpewps97tVi4j1yap6At+Pkf6JykOzKPZkKvHbZwUY8ZeivAEx2aLuz10/5CAOthoW6TF+H4I8GwX6TwV6B1sGRk+ULhCF67ynqFT2Nji/KYi3T1KUkO1htuw92GfQx4PqLxb8LZN22SCoC2uWN7aSPR+Kj9u1LaRf6Z8vpStP16/xqn9UfQ50hvOMS6Q1RQVc8zb40GktBfb4HsefOH7R5uxj1O5KdpisMVdHrq/T0DdbFREQPOEdLhCLEIebz0VGPFIzj5cl0hChaYk5fejwPepAnsFempWzeQwiMNmB58WsjFu7HexojmjKfewNhL9zDF/+gvo8wnpzjygTX899N8Km9ovFkrCw4peL38Ix6D5EusBsl/aqsIDrN0WdxJIdKfb6L9YRcWEdGwqyTMwl9yXSn4EIFp/OfoIXYJyjaO/YxFOgnsku4DzgewhQCcpfAYHH7wQvMdyBfLWRKKXOcbyqIA+XbmotyqfL1pT3J1QJCNp2eUi87RLKxh+UWpntrhuDVX2tNriVpKT6FfgwLW20UJCOs6V5BmQXCoJUdXPlRP0VGCduC4xDkY2CVye9XaN05KxJ/GS0fM8Be8xTzDuv0HCvBZBbocK6NOW9lBbWWON+rNVCtNSOGJUuJYUuamNmURvjIT4abTFdR7fsi8E1NpGbUUq1mZ85lsqpxyqq6Q4E7e8x8Td5PZ2h755HTsB8JkIzcYx55xfmQsiLKOSU9UIIbmRreUWviYS/dIxlkWB+3N5vp9FMGeq1p+tKt9zBfLpFm7Mi04vJy0BrjHN3XPLeHcpGqdGW/SJh4/xDhNs1AO2Y88sXtyFAqMK9dH8x9HPpQB9bKPyL628ofJCR8rAMMURR+zCdcc7aCqAo4VEu7z34wX0eYeKP52qu/5czoOlFctHmhnjRoFj6PIgUqPK7GtJRI4arbb41UP/PQTU2UZ/SSuTTGDti4MlEY1lVM4xnivV3J0Cdri2BeNyhJPhtkBXOyJ4j0nHO/wFEvYLXCFXoYsGrRa8+7YIbE2D/mxeoKrz1J8Xkpcib+xLLzYWTeazwJaiTeNJjUZbvOuh//XgxPW20ZAhHa4LZJcCjdlVPjhU9bOyQlOkHpYdEU6GJxTHZTwbVpE7Q8tCkLBfcIrCVKeU4pVAT70g0bk3v9crls8bIXkpskCHT8GNg8rsy3aqdisyR0xVtnjUQ/+7CKi1jdqyQfjcfpTEqW0vaRe4L0AfklLfoeM5XVXdBiKcDJJjL+1x3n9SXAn1tZBo1zwdCtjXH/SzQliazb2JZM5o0N8VS/9VlrSXrMtlXDy6RnIStUqZfdmcXRpD6zTa4hoP/V8DJ669jaYmrfcJ6XB5UX8EIkscizZN9swOcwL046pKVEQMrK2k9MdIJ8M06brolgV/U1xl2LXI+zWV4ynkuMhmpoRDFHfsvRb9XSKddzP2kYy4FJkLnL9Bn4Xj+EehfdlObC4pHK9WW/xHaAPvFa81fVRRoZKa2ei/C07ekA5XnFqofLCuPNShXP2uWN6LBehhkuI6ZpNghuIm0a4Tlh+BNm11JNGuokshLuX2JMg6x57aCiHsBIkWw7YZ+VyhbCR3LEKfcrTCp2LdcYX29TkygqLVFo972MEKpQT6Hem8cB2bjVqr8klDOlyprI46fr+FZDdtT1M5ISOTOfvheE+fctT9VH4+3TIQuyfalaFFY0lfLfKeLmEc1xPeHi7AZDv6dcWtz4X+RMTla0Vy4U2XJDdzqFPPNEhjsnkTuUDh+vCtRiT6a4Xj6id5DQRtJJXDopJ1QvbDRvMj7WhCchzFnjiXx3G15fdLzWSQpLx6UcLiOTfnIr0pMcGlXkpXJoO1FCckMdH9BfW9gPJnY7joGPtukOjKxtGMVWeyvspBcD4JNr0cMrUM+nMSl28VyWW9kLA8rEgusVSXrROJ/lbx2C4KbeGrok06860J0plZKmoSfS4HgXOVwZx0ENbmkYLrFqsr72yolHOu97GFpnCZ8eZRhE/2DluJ02nSWYBEgvtUTYq7FYmNYZ4iKGMUVyiHJhLtKkaRx0uXzI7QnGe9GdeG5gaWx7sG+lNLXE6QjLAUVRKa15TvwjG8Vbxmg0SHQz/JK1eeUCBLPh3/QspKZ9eFROcJ6TjpMJ6rlt8+IHk5cFdaoVBeQVc2huOWDcHbjIT+AekvJx16c1bU7eVtiUnI6Q6znk64igfdUypzLSR6wjGOrTn02zxGvdzy/6f1dSTlWUOJZ+2A/lQTlxdCsrKlgL4HBPacLPW8jPQCJDosDgvtYrpiu+DTtmTEwDnYaHh8oGyVxUYoW/zwVfp51CrxStlyB7JxhLrt77q8Mpjyu/sJec3z7NMWP3oqYhK9iWQxjKHS9yVj5l9l0EProhNTVg5tJNqV4i7L5dxkdgY+EepK0b2EWPEJxRTpuwAGEt2exErDKELnh+bqadJMDN/J7y4MCEr8JJrMWiSxj9dUflhHL/2akvEEbLQY2DJs2GKaXQtMr6OvzcLx2S77PQ4oB9clyXZlPJsXmvij7JsXdGVBHjvtm7Nku52zD/YaP6X/5gTuy/nMkZI2bXUl0ccEhEMaD8+nCRccGyQbaW/9cG1ILNQ3oD/1xOUIyUl0SG8fhxhKSzyzB3pdBOsxSHR49Am/c9weUHmlwDk8rbUq9SHYaHH4zTLw05bf+dzCZ8/RVeFzk3CVWR0OKAdXLGdrrNtlyhdSspsiqhOfAcNU7EWcgy0fuhcBCHQX2eMfnyiWtxYSLSnD/UTgmeELZcnqoWMp+p0QztkdiTn+SOH8Aon+dS6Oe5DovwLZ7gOPPtnDuCSS9Rgkuhiw/j8J7eVpgG+UDfNbnA5NWW2BjRaPtA+RLWG4KzPH7wnvTzKJts8t6j8cfYRcwFzv00zXt5L+W9Y6a4J/W/Wr5xQ/+CMoTQvFXkHphbNN9GtS9lEKc1y2wTHOP0GiRXglGA+fZHFc4eLE7/i/99B/TxeaZKUvw2ae7YrDypIhYa9Iz415kOh0+Hihm6eBWcjCHGNzjz36Yps7QXFd/AaJLg7LSB47/4nCFzqZa/jJl5a+2PGwFDZaDrKEdHzzXOSaH0OfeFVbGch3gWXwNcP75MkMYgsfOUP1wNI2E9t2zM/xsltbSE6PIc5H25DyGXLnIveB67KsZq+TJhK9OcNcsmXFmZ/jvVvXjD7oTz1x4VODHxnthS9k8ynf8haSy//da2yTScw5Y1s+/fwwH/NFEa7FINHFoq/N5t9Vop43b3lOxNaZb+b3FJ3OgY2WB1suztMZCG67Nub5AetyLHChS7yOeL7PgxwToJvsnu9Bqg9+8yDS//NchFYFHusLxwZQM7QVt7kaQMeSzeS08Fkh4uVBootDl1n37hawVuRtHFbCl1AHKF6ARBcPtuETJKvYmzzVYGccn7pvMRu07jZ8Ybn5dz6947tEny2Ogg2w0WrwkfxCOvZ4GEqWWCCXN2tj4Pcf9HifGzl3kLbsFVMUb37oNCwmeaoqV2N7LCJDhisf+WnlMtZGorvJL760Nd+u9LKWxK44/Go+9KeSuHDYxkvK7nkuovFYHhlCtIbqAZDo8rA8x9qXtXGYyHDk3CF6Em2rwpMW0uEylCmzg8+iWFshku8FyeCK431YyQcC9GPLMXmb6gsmv2MZP2p88rGtwEXClY9c+w18rWXWj3sQJCbP+zx1bLs3wR6hU5F8WDqVRN+ncsnGtGlfjddu1Ky5Z8wasKaGTgyQ6GrAtnSH/DzTvm3MyKoHNlo91icWmNZ20kEInxnCPG0EweSaL2EtiFCRu4znaiqx2I6aXd68QH3cobhKSofGWkOu+Oh2IiHrprzfmH9jAsQx0t0ExEqiGZzSjmPXH5r1Ydro/KPR83HK5/Hjufk+8Vwm4xzzugT66zjiAoBEa0OfeZ+/KcyJC69158ldVRo2CtQWabkleYLNhXiAmpFoACQaAEGBLc6ecnA4J6do5bBQdtCNJZwL0wlnAN8l4rCi5kkJX7gdgI0CnY75FkMZhXgAkGjoDyQaAImGLcJGQaKBX7GdOjuUAwCJBkCiARAU2CIAEg1444xlYUDsLwASDf2BRAMg0bBF2ChINNAGT1KM5CJEA4BEQ38g0UDJBOWowvHCFmGj2m0UqAC2IisrIB4AJBr6q1B/+0FcOpKg7Fc4XtgibFS7jQIVIC0e+hFEA4BEQ38V62832fMrA/HCllpN410c2CJsFPfFgF+QVgp5I0QDgERDfxXrb6tjDF1QU5Toduh1q8IxwxZho9ptFCgZPOnb1bt/DtEAINHQnwL9LXaMYTXUFCVWOvS6VOGYYYuwUe02CuTAXPIvijKYYhzrIU4AJBr6U6I/W1wijlTjxC6LTqcUjxu2CBvVbqOAJ5jwvksod8IoX4J2pb5HIFIAJBpQpL9bljHchpqixO1IdQpbhI1C1zXCCrMjyhKvw6U6W7Ny8C57IcQKgEQDivQ3aBkDX/xZAFVFhXlkv7C1XfHYYYuwUe02Cnhg1KLkx47fniWkbAFAooE49PfWMo6zUFVUOGvR5fsIxg9bhI0CNcGURdFfLL9jb/N0y9/fhTgBkGhAqf7WOsayDeqKAlsceowhKxRsETYKdACJvmX53UjL374m/0uJAJCXhIVoQOfIfg/Zj9IPQO2qcYDsR+Qx6Q+2CBsFaoCHFmWvTfnNwZa/G2+0fogSAJGD7COQ/eZG+8cypieE7ELasN7oJU1n40avsQG2CBsFIsdmi9K72/z9vpa/eQkCDYDIQfaRyZ7z2+83H72ZlLHx6dqRRlsFU6gEK4z8X6foh/XG93b2UtxFSmCLsFEgcpxKMYCLjTbHKJ9jeO62/PtV8+8AACIH2ccqew5D4xjUYzQbwsaXrdk7+JVmw91QjrkaTBv5sx7GjV5uNNpRms0cVcdvD2wRNgpECo7PmhR++Lga4SaIDACRg+whewAAAAAg6qHZYwdOAv4hsfPl3M8cO80pW9ZATACIHGQP2QMAAAAAAIDIAZA9AAAAAAAAiByIHGQPAADQCfg/euTj+jaNKVIAAAEsdEVYdE1hdGhNTAA8bWF0aCB4bWxucz0iaHR0cDovL3d3dy53My5vcmcvMTk5OC9NYXRoL01hdGhNTCI+PG1zdHlsZSBtYXRoc2l6ZT0iMTZweCI+PG1vPlw8L21vPjxtaT5pPC9taT48bWk+bjwvbWk+PG1pPmY8L21pPjxtaT5lPC9taT48bWk+cjwvbWk+PG1mZW5jZWQgY2xvc2U9Il0iIG9wZW49IlsiPjxtaT5hPC9taT48L21mZW5jZWQ+PG1mZW5jZWQgY2xvc2U9In0iIG9wZW49InsiPjxtaT5CPC9taT48L21mZW5jZWQ+PG1mZW5jZWQgY2xvc2U9In0iIG9wZW49InsiPjxtaT5DPC9taT48L21mZW5jZWQ+PC9tc3R5bGU+PC9tYXRoPi4YYzEAAAAASUVORK5CYII=\&quot;,\&quot;slideId\&quot;:258,\&quot;accessibleText\&quot;:\&quot;backslash i n f e r open square brackets a close square brackets open curly brackets B close curly brackets open curly brackets C close curly brackets\&quot;,\&quot;imageHeight\&quot;:15.84},{\&quot;mathml\&quot;:\&quot;&lt;math style=\\\&quot;font-family:stix;font-size:16px;\\\&quot; xmlns=\\\&quot;http://www.w3.org/1998/Math/MathML\\\&quot;&gt;&lt;mo&gt;\\\\&lt;/mo&gt;&lt;mi&gt;i&lt;/mi&gt;&lt;mi&gt;n&lt;/mi&gt;&lt;mi&gt;f&lt;/mi&gt;&lt;mi&gt;e&lt;/mi&gt;&lt;mi&gt;r&lt;/mi&gt;&lt;mo&gt;{&lt;/mo&gt;&lt;mo&gt;\\\\&lt;/mo&gt;&lt;mi&gt;G&lt;/mi&gt;&lt;mi&gt;a&lt;/mi&gt;&lt;mi&gt;m&lt;/mi&gt;&lt;mi&gt;m&lt;/mi&gt;&lt;mi&gt;a&lt;/mi&gt;&lt;mo&gt;&amp;#xA0;&lt;/mo&gt;&lt;mo&gt;\\\\&lt;/mo&gt;&lt;mi&gt;v&lt;/mi&gt;&lt;mi&gt;d&lt;/mi&gt;&lt;mi&gt;a&lt;/mi&gt;&lt;mi&gt;s&lt;/mi&gt;&lt;mi&gt;h&lt;/mi&gt;&lt;mo&gt;&amp;#xA0;&lt;/mo&gt;&lt;mi&gt;B&lt;/mi&gt;&lt;mo&gt;}&lt;/mo&gt;&lt;mo&gt;{&lt;/mo&gt;&lt;mo&gt;\\\\&lt;/mo&gt;&lt;mi&gt;G&lt;/mi&gt;&lt;mi&gt;a&lt;/mi&gt;&lt;mi&gt;m&lt;/mi&gt;&lt;mi&gt;m&lt;/mi&gt;&lt;mi&gt;a&lt;/mi&gt;&lt;mo&gt;&amp;#xA0;&lt;/mo&gt;&lt;mo&gt;\\\\&lt;/mo&gt;&lt;mi&gt;v&lt;/mi&gt;&lt;mi&gt;d&lt;/mi&gt;&lt;mi&gt;a&lt;/mi&gt;&lt;mi&gt;s&lt;/mi&gt;&lt;mi&gt;h&lt;/mi&gt;&lt;mo&gt;&amp;#xA0;&lt;/mo&gt;&lt;mi&gt;A&lt;/mi&gt;&lt;mo&gt;&amp;#xA0;&lt;/mo&gt;&lt;mo&gt;&amp;amp;&lt;/mo&gt;&lt;mo&gt;&amp;#xA0;&lt;/mo&gt;&lt;mo&gt;\\\\&lt;/mo&gt;&lt;mi&gt;G&lt;/mi&gt;&lt;mi&gt;a&lt;/mi&gt;&lt;mi&gt;m&lt;/mi&gt;&lt;mi&gt;m&lt;/mi&gt;&lt;mi&gt;a&lt;/mi&gt;&lt;mo&gt;&amp;#xA0;&lt;/mo&gt;&lt;mo&gt;\\\\&lt;/mo&gt;&lt;mi&gt;v&lt;/mi&gt;&lt;mi&gt;d&lt;/mi&gt;&lt;mi&gt;a&lt;/mi&gt;&lt;mi&gt;s&lt;/mi&gt;&lt;mi&gt;h&lt;/mi&gt;&lt;mo&gt;&amp;#xA0;&lt;/mo&gt;&lt;mi&gt;A&lt;/mi&gt;&lt;mo&gt;&amp;#xA0;&lt;/mo&gt;&lt;mo&gt;\\\\&lt;/mo&gt;&lt;mi&gt;r&lt;/mi&gt;&lt;mi&gt;i&lt;/mi&gt;&lt;mi&gt;g&lt;/mi&gt;&lt;mi&gt;h&lt;/mi&gt;&lt;mi&gt;t&lt;/mi&gt;&lt;mi&gt;a&lt;/mi&gt;&lt;mi&gt;r&lt;/mi&gt;&lt;mi&gt;r&lt;/mi&gt;&lt;mi&gt;o&lt;/mi&gt;&lt;mi&gt;w&lt;/mi&gt;&lt;mo&gt;&amp;#xA0;&lt;/mo&gt;&lt;mi&gt;B&lt;/mi&gt;&lt;mo&gt;}&lt;/mo&gt;&lt;/math&gt;\&quot;,\&quot;base64Image\&quot;:\&quot;iVBORw0KGgoAAAANSUhEUgAABcoAAAAnCAYAAAA/6Hu2AAAACXBIWXMAAA7EAAAOxAGVKw4bAAAABGJhU0UAAAAeOiuv/QAAILRJREFUeNrtXQGEVksUPlZW1oqVlSSRZK1kSVaSRLLyZEWykiSykiSRJEkiSfIkkpU8iWetJIkkSZ5I8iSJJCtJrORZay37/vP23Lfnn51778x/7/z3/v//fYze+3fu3LkzZ74zc2bOGSKijZU0K+k+NT/2VtLjSpqspOlKeldJJ1rgu9sraWcl7aukQ5W0zpKn1WQBKDeaTR7bKqmvkvZU0vVKWtzA37KskgYr6WIlrW8ReewR7txfSbsqqQt8DQDga/B1S2CDcP/xSjpYSdtFRjDuAAB6AHoAMtosgJwAWLsb+CyEwYbjzowVGqikr1Lm5hI1FH/XI/nOc6LslimyvNrEhHdX+pa/82HKBD9PWUjCpko6W0mjlfS+kv6Rd3KaFBl6UEm3aG5zY5WatOySei7G+G961EseQ+G0jLkflTSj+OZNg33H4Uq6U0lPZazOqrSyznVho/HtShqrpJ9GXWxpSur8VriQFeaSGt+9WdohKpt1yhrwNfgaAF+DrzNhlXD1wZLVq190B7fdL5GPF/L/48J3rTLuoAcA6AHogWbQA2WT0SJtZ40oJ0DjoaHX7lfUwwcyNsR3VdZ4STqHJ2nPpU5n1O+7VV0nm1AoF8lkNvrGs3WWBROdMgH5rN7xVIS/l+aNQe1qQj4eM4D+Aue0BELKYz3Ai8K1Unctv9ca7Dv4VME2mjtNpxcOHwuu11KaNypHieu3ReVhPtkhC3jN92cyvHdIlfVd6gG+Bl+Dr8HX4OvaMCZ1HClRnQZV+10Xjo7Qo/juaBOPO+gBAHoAeqDZ9EDZZLRI21kjygnQ2Gi4tbt2Q3mYUbmYE6MlJeiQS1KXD8bvA6qer5tQEA+p73tfZ1mw1WWCqnfm+xye44Fy1SJXl8AzLYFQ8lgEptS37Grg7/ihvuP3EtRnwuCGJDm5bOS9meG9T1Q558DX4GsAfA2+rglbVR0fl6ROq2VRlmTg7af5U4krm3DcQQ8A0APQA82oB8oko2WynTWCnADNgYZbu+flhqJPHXwuQUf0qvocsfydT4LwSZHlTSiEf1JtO+F5uiSxArhnCPgN8o/teNEoYwAc0zJodDdOkkmP3jVtb9DvWETVJw6KXji0GfXhdDxlAf/LyF+rm+MRVcYL8DX4GgBfg69r4vB3qo6/SlKvEVWn4YR8HxLWF4067qAHAOgB6IFm1wNlktEy2M4aQU6A5kBDrt3zckNhd0SOJcOxYNaUoDPGmkBZ14rnqk/3FyALHDD/pSHYlzOU90b15SLwTMug0d04GTrM08sG7gvthVOGcbiBFp7E6E15ZtTIX6uL566cJ/XgawB8Db5uZr624YSFw7tKUC8dqzUpDvlDyXOrScYd9AAAPQA90Ap6oEwyWgbbWWg5acYDqUALrd21G8qjJumIVU34TT744TjRDyELHTTnrqqFejTj90SxhZ6AY1oKzcBN+nRaI7sf6xNiZRiH5uT6m2dfZImbupOqLx0BX4OvAfA1+NodHB9ywrJg2llwvUxX+H0JeV9Tdlfgsow76AEAegB6oFX0QDPavcoqJ0dz0CVA86Bh1+6faN7FqKsJOuIcuR3pb1bUanjJQxbuGwL9NQeZityCzoJjWg6Nzk1f1VjY3sD9oBfRJ0tQn4cGz9xxeOa28cz3IpQt+BoAX4OvW4yvTdyk+fuDNP8MF1wv01AeZyRbTvPuw4eaYNxBDwDQA9ADraQHms3uVUY54Qsa+YT6MVAi0Ohrd72bdKgJOkKTbn8LCmIWw0sWWThKC3eGd+f0TV8qaRM4puXQyNzUQ9U3Nrc1aB90UnVMsb6C69NGC2/NduG5MeOZZ0UoW/A1AL4GX7cQX5vok3rx4ud6DYum0Jhx0BHRCSfWQ8safNxBDwDQA9ADraYHms3uVTY5YSP5T3ILrQG0Bhp67a5jxjS6G4pWctMNrOSyIIvhpVZZWEHVsR3zju22pUX7stXRyNx0TNX9QQP3gY7X+L0E9dluWdgvTXlmkShG/czFIpQt+BoAX4OvW4ivTbwS7mEOGjI46GkJ6veeqi/yW2n8/bz6++kGH3fQAwD0APRAK+qBZrJ7lU1O9qn11jcCgCZZu2dxQ+FbSfkygINUfIzBs1TjraZNhCyGl1pl4bZlAGwBLwA5oFFd5B6osXCkRPXqlskRK6gdNHeRTBJuUblO/F00eOaNwzMnjWeiCXohyhZ8DYCvwdctwtfmAnqW5sNxbDY4aLIEdTS5MbrQcnUlPVa/X2mCcQc9AEAPQA+0qh4oWkbLYDvLU074oKp58eIdAoAmWbv7uKFwOBN2PeTj8N+Mj/gt5hk+VbCukgZp7kTGPZo7ubHHyMcxAk9V0luaOxHOhHk/oWE+WiZ6SSlvN0CeVP5Ocxf7/CN1ZvK9JN8ShxXSFheEWDgm2iKLgIyLIWVPHQ0vvi5Jqyzt/KYEg5KV0GGai4n0SwYGx+LaKn+/J3LGMtYZU8Ya6adTMjF5S/aYi0fkm6ek/7clyMszlS9JHot8d6j2pDrI4xoZLxz/jsMwXU3Jf0C+h084+N7OvUkmGh9l7POO/LCMZe1i1FNQOy8SHnkt+actY/VaShkfU/hkWPE1y2FoN7tX5BZHVsv9pPHMYIb3l81QDr4GX4Ovwddl5esInTLPHVdz43bL9xUdymSPUZ8pkZmoL74b8/HtjmuP0IYQ6AHoAegB6AHogXAymtV+U4vtzIZeGR+vlHywzD3wtBXlJSdc988OOvBbHcdRHja2UHa6Phm/tv7bl2BD7RPeuyv5tzm+j+9tHEj4+5CU9z4wDzT82l27oaS5vSyXyeFeqj4SP20RIgbHn/ppGTTThjG5j+IN368cvmF1HSemgzTvonlVlLw5yR6xPHdByMJUfC8NRfKEFu6iuLowZjW8+MiCqWzKshO/W8iL5fM8zW+09MlkczBlcXBAEbX5bTru/TLL4J+Vd5gTn5uWfO9K9u5Q7ZkFrvK4R5TZG0/u0Ap+zGOi8ozmPVe2y/jskXY6osr8XFA7t0vdoluio0n/WoNf9ieUsZLi3aS6VfmhXLdNLLG8b0fC958ydNRXj8lFMGULvgZfg6/B1y3A1xqX5H3mQvBLnQ3KaVhkWZzNyvg+b1mc80nEXTR38tyc10+IDtpJ6S7G9Rp30APQA9AD0APQA/6cmdV+42s7I4uuuWvUeYc82yaGxS9icF3sUF4IOdGy7hvjP49xlIeNLZSdrlc9wweAN0n+DpknzKpx362eOyr5zUtvLzu0KR9QnkkwwJNR7l9YuydDu6G4Tuq0snqSkncNVV8a8FD9bbsYDE7KAO+3GNXToI3UM47E44tumr+1dSKm41w6ggeZ3hSIdlY6ZDDadpA76mR48ZUF205iUaeCuM+ji5a+iyK0TWj1bu6FlDL1jdA6htdaGbw35Xt7Yvp+sSi0t0L4yz3kush3h2rPenDTRYMLkpTXCPm5/B1X49MWo3TYaI/bBbWzDkNl7hIvVm2adJLhYMzEZKWM+3vy38tzNh67cHwkw91SBz5xMCATgjvCz1G+19Jvi3OoQ9kM5eBr8DX4GnxdRr7W8j8Ts7g1L2o6RsXjmcVI7jL/Pq2e+SHfXU9AD0APQA9AD0APhLV75WG/8bGdRbYnbdA8HpNvs+Xd7XWUk9/JfwMrxDjKo4/ytNNdUPbPgzF5rhprVhv/vfZs32gD8nxCnkue+qWl1+5aSR12FG5t+D6Zkr/NyH9AfuddlXFjcLQZjfrBoT7XVP6/A3T0OqlnpJg3WvKsoOrdpSQ8Unkjt4hR+Z0H6Bn19/c1Gl72BJaFHiqP+2aHTC6jtt8Qk890ld2aUu5ry+RpuUx49S6ddh/7qH7n3d37aqBr2f5a4neHas96cFOXwTX9KQr1hVoQk+Pk/IwDGXPaXVA760mVDUcp/Ubye7TwAo1umUSdMPLOOrZhFoyQX6gtnsysybkOAxTOUA6+Bl+Dr8HXzcLXER4m9OslKk9M062ydrDpEpdNzL0eckQFjjvoAegB6AHoAegBfxnNw37jaztj/EXulxlqIyPVWU7ekt9mR0i+ysPGlrUM8+T5/hQbY5qH11Gq9lhLgo7vPZKS90/J9wVr92T0kZ8bym/Gh61Lyb+FqneLWSlynDw2PptGZzN+nkv8qCfktxvsg3VUvcsRJ+znPeoQuehFbjdRTDK9c8I733xpkM9Jj1+WgR1KFvZZBPxmDe/bJkTokvosz/NEUl+0dMBRbtNcg8zNnUEhdlYGQ5ZviPL9oZS/eXP6epXvXonfHaI968VN5mJln8MEfVYUYBz+cGy73QbPLSmonbXs2BRO5HbX5sgl22Rh99oyidJhr0LeIP+JFsY4GxQD837h31Gq3ulnhXguR7lca9Qha7nga/A1+Bp83Yx8rdvhnoNxOQqJUG8sofmLLWdk8fuAFh7WSevDaNH8sCCjM/QA9AD0APQA9EBYGc1qv/G1nem2GafkaAltHsbAvOWky/iu9SnvD81XedjYspTRKQbfqN7XHdpDt98zS57NjuvP1VQdQu7PlHcvlnw3sHZPx0elKLpT8uodwO8OZWsj8mMZlLbJg6m0JhzrPuWhYH3A7aBdPuImwT1KMH+JoFJCXk3OvQ7PuMB00csSfsZFFm5QbSdvTFyTCc0Hit9h4r/xLvPhlHo8T3nXPseJk0lK0yKzd8m+A3xC5Y1usX5OC92eDpNbTMgi3x2qPSmwPGrcIffd1KWU7BJ10ZioJE2i95N7PLeQ7aw39uJimf1IeH6jZWJyK0bZD5Ff3LRasMbCCWsSePClkfc55XdZlT4FnuUkFvgafA2+Bl83I1+T8NknGQ+rYvJsoIWXZ9YTvWoRx/P8fotx0vWEXHQ51yoqDtAD0APQA9AD0APhZDSr/cbXdnaf0j0ibMbA6TrLyV5Pu13IcZSHjS1rGfo0Op/SdwkfMkvJIaXMi283xpTDB4f/JPeNsCiG+Aas3dOhFctwSl4d6N/FTeaVUTYPkrhTDFc9B0Uv+e3Q+UCfVJ+J6eDoZHzkPrIjpczjqsyz0pYncqjrdaPcLHCRhXuWATCQ8b2PLGWeS8hv7s6m7WLqC3LSXK2OUfXmzj6K35nTMdaYbF7HKN27jnUt6t0h2zO0PGocJfeTAoeEQG2x3AbIzyXzFrnFUQvdzncM3rK5aiYpH+22NSaTpbhTHrdV3l2B+v+Q0V7jKfm7jUVHnu6cw5S+cQq+Bl+Dr8HXrcrXjNMO7WqewOW0ok4Gkj6lI77IIk3jT1p4OWecIWVTTjxej3EHPQA9AD0APQA9UJuMZrXf+NrO9Mnvfo910nid5WTEw24XehzlYWPLUsYpT/4hWmgEn3aQh8EYGXih5iTRnSlpa9rHWLu7TxyTjv1HMGMspZ1GWKLy87/sYsG3d8ftsOg4gUMO9dY7XpM5drAZgP6uJc9umt+l4G9yMdJrdxPeFHibsZ6r1WSKd64O5rSISJOFMcvkOOsmxQVKvg1eo4PmNyhcBV+fflmZknfU6Cfu366YvJNKBkaFpGz44iinRbw7dHuGlkcNfUN2Wly1v2MWuB1UfRu7y43Q2nV0a4HtvMUYR+/Ib1f2sbFw+Jzw3veK2zsC9f9oDYrzbAB+isATxjdqQdwLvgZfg6/B1+Dr/8BGZz408s3hO8wTyYN1MI5w/b6r8bU2hqfNC7vijJ5v5DsWUbGAHoAegB6AHoAeCCejWew3vrYzMvKnhYt4Tm7htELIib748lCB/J+Xja3WMnguoSNcuD5nerH9cqiXuXZcJvbIXmlnFw+Ndum7dYHGVzOt3RcI+wzFx+3RF1/MJEwEImiXDFZuXyl+B2mZ0TguNxHfpHxO+CUN/Fk1kWmTb3qhJoXD5BbzZpGafE/KINqWoY4rlNHlvfRN3t8fJwujFmHO6iJhnuJJcvU5Q34XPPQ4TuSjPp408sd5Cmg3Jm6zWw6yPVrCd4dsz3rIY1zdZhMWsHtkEtfh0B5ppy50GyfFUatXOz+h9I2+NI6K5Couflyn54KkFrTJZFt/i8sGaj/5nXLzxTalAx7FGFvA1+Br8DX4upX4mqj6FKxvOlEH2dRtfT4h3wVL/UzdE50i3k7lAPQA9AD0APQA9ED+MprVfuNrOyOqPkGchI2OhsUQcrLCePfqgvg/LxtbljJMmT/g+Jx5MDeO77VH2E2Lbr+q/n/GgUsvGs9g7e4A7YYSFw/tkifJateNaXk+DvtrIPDnjpNeH+wwOolPnwyLkPLA+SpC6jsA9Y45C9DTnOq7XuoUbUbkcUogTRZuWYS5K+M7v5GbS2gbzZ8Icr2t9zK5X160zajHWELeE4Z8L3cgwhMle3fo9qQ6yKOG6cZk2zWMdrb3xihKHc9q3KF+Rx2UXD3b2dzZdr2/wXRbTYrZqO+TuBio321Kc7nDc+2W5/KIx9mtdM5Pqm2jE3wNvgZfg6+bka+jOM2uYUiOGfX/I7BcDngs6tnr9bORnzk/CsG4RtYD96g8gB6AHoAegB6AHshfRrPab3xtZwx9sfSSBPl8Q24blSHkRMcQ/5xiOA09jvKwsdVaxkqjbf8hdy8zUy8fc8h316jzN0NGfqXMc/qlvzoDjatmXLv/v4BPC7CvYyxd8JxE/UjpFL1b4mL0bqPq3bHfcupgU2hfyLfyxCXLZT03yW83zQe7VLmvcygvTRb2WYQ5y6ka8zRB0gV3g0beaylldxqkkRYz6qLDhC2CdoVJujVYX16xqWTvDt2eVAd5NDGZsnC7Ru63sF9zeN9bSo91V+92Pmq8z8UF8orxzAbHvFsD9bt5AuGD43NtFn4ay6E+Yw6TGfA1+Bp8Db5uRb5+61jvuDZ+HVguH5JfqMbtFt5kbyD2dn0lC/+lVB5AD0APQA9AD0AP5C+jWe03vrYzouoNuLj1xgi5eyCEkBNtt7vj0cchxlEeNrZayzhJtRt3Pxs6NM6zQW8oPZDfeKObD17tN/K+TOBSfuYLZYto0apr9/+g4wGZ1n8zxlKaAK0jv+PzPx0nJRH6KF8Xwgh/G+WuzancT1QdhiZPmBdi5FHnJFlYbRHm/RnedcIoK2kX7zb5udedI78TNO9U3icJ+Uw3piSlE+34TlFymJ4i3h26PfNCkjwmKR5TwQ7IWIzboTfdp9I24EwPlFUFyW2acnBxadTxGl+k5H1O6S6rWfHUqL/r6ZwlFn7KeilIu8GxWU6Cg6/B1+Br8HUz8XV0WdJxj2fWGN87FVAezYM1E47PXbNwZ3ThVL1i6UIPQA9AD0APQA8UJ6NZ7De+tjMbx7LR+KCU1SY2sifqby7GvxByog/D7i2Q//OysdVaxgOjvq73T/V7rHH1RncU//xmTF+OJXDpfQrnTdLsa/f/cJ7i3VB0jCUXktWTqLT4TzrG0i/Humqh+ZhjB08anZQH1hplHg8gmBMeJJRVFhivKD/3CHNQJblsmRsZSXK12ph8pRGfuZBIiqk06Ch/epA+LuG7Q7ZnnkiTR41HZHddZIJkl8ykm7bfG+3RnbL41u33qSC5jcNyqt6VT3K16yL3+Gp64jcWqL/NyaXP6ZzfLMo2K+duMfQZ+Bp8Db4GX4Ov5+ryQ9rAx/jSZuH4NYHk0VyATTo+107VJ09d+qZIQA9AD0APQA9AD+Qno1ntN762MxP7pX0+yPMzIh+PpC5djn2Tt5z0eIy50OMoDxtbljJ+Gc9udnxOewRwuJYVjvrjp6xJuZ9sHkx3Yvr6jMwB2gKOp2Zfu1e5obxIIBNzcmXbjdUuZk9S3nvGs2yG3qHKM6aVedu9D9nH4Ri5bxrUCh2fbW9gWSCZEJpul901vKfTMqiSPApcNzK4PzgWmHYhup5Sl2Gq3tVOijGlXXSuOA78cwlyXdS7Q7ZnnkiTRw19adUxtVDmkz97Up712Sg7ZSjImwmcEKqdeRJ2K+Hv5xyNA3uNsdyekFe7BJ425CovBTxoUZiubu43LM+uzlifnZTviRfwNfgafA2+bga+/p1qP538zmjnUKe0l2TQCasMvi7i0jnoAegB6AHoAeiB+stoVvuNr+3MZhs7kvEbQ8jJYZXvnVHGjjryf142tixlmHbDdodnVho6dNhzDfpJxpwNuv2iuPXbZR6zMvB4ava1+3/Qbih6d0Mf5T+sft9nEWTTxeywh4LUO/IHEpSJPhlxKMdO/kDucZwi7EqZBPhsGpTF8JIkCxHMkzY3aniHOXFP23E1CaktQWmzgrpK9l2tIxYyf0DuJ220i852RyW5U37rkrZbXYJ3h2zPvJEmjxH+MJQsXwLErmQul8u4tsc2acc4FycODXW3DnK7L4V71joqCb3xeD+ljU5a5IoXNC8pv5itpsu76+mcVbTwQqQ8NlLLbigHX4Ovwdfg63rzdRQC8UONz5thBs4GkkXbqcXzHs+ftCzgZuX3JHRR8gVrRYw76AHoAegB6IFW1AO1yGhW+42P7UxDx6tflPH7QsjJnzE6ZMjSf6H5Kg8bW5YyaolEMUZ+nl3mnSn/JIzbAyrfbdEbE5TtThKs3WOUtD7y/s1CJBxr6b0otLiKpblZMLSbxXJVNsdpW+ww6d2YYydfNur+ICEvkwfvRrNbWNwujblpMBxIOEMYXuJkQStz0+XkQAZycnEJMzcyNsXUO+q357QwNhErq2Mp/ZTkKqJdjqZTFgj3Vd7FanI9VJJ3h2rPEEiTxwi3DKJlF+ERx3eYLpw7YhTWV5F/zV1divD/NjghVDtfEC5ckvBNcbv+GuNU28amlqtdOfa1ecLktsMzfMrttfHcR8rHeN8IhnLwNfgafA2+rhdftymj68kayxgx2nk0oDw+p4WxcNPWDu2qzz5aFsSzYjCwGQB53fOK6nuCF3oAegB6AHoAeiAfGc3DfuNjO4t7jjlhXYbvCyEnExbu44Olz+rI/3n1UdYy/iI/Q7neaH4aY+c00Uvum0m7Vb7HwiEn6zSWmn3t/h+0G4qOjaUN053SEd/IHh/nGvnF8ps2lBa7nn2i+N3nTeQfa9AV7Ib43egwFrTNanLDuzOn5Pt5gCRdUrKL/DYNymR4We/Qj1st7XWJ3FxPhiyLjqMeCi26ITs6ZcG72o+EZCMFpHeoemSCcjWln9Jck44bspEEfUlth0wIfi/Ru0O1Zwisd+SVG5aFbC0TJk5fpB2ixc416aMBC3d1Sx3fWyYCodr5bsq46aSFLli2hfMsuV928cXQBSxTV3Ls514LL4w4PGMq6L+oNrfyeihb8DX4GnwNvm5kvr6aYphywR8W43VnIHm0xb/kMWe7eIsXrkeUQe2+rE22kD0My4zIxA0xjPN3/SOGuaVUX0APQA9AD0APQA9kl9E87Dc+trO4/tLx9O8IB7teFBtCTswLWHl91C9rsBV15P+8+ihrGaeN53sS8vL3/lK6oMPxHZoTvqUY1wco/5PZWLsbsLmhfDM+hDt6m8Pzpx3e99Uo+wclX9xxiNxPMtSCfssk0kw8CT5D6bG9rpN7jLayGV7iZMFEt5Cpnnxwn14UxbnYyDtI1acmpmUgb3Eki7cJ/XLXeJ/p8nPTYZL2MKUO+jRNmovYlANpFPnuUO0ZCi7yqMfcI/KLv9dBC3c2TW7antDG38i+Wx6qnR/K37/HKJYo7hrv/sdt6OlYcy4XI5t1y5ODF9HC02oR3x5SbdQmk5Eh1QZR+kD5huNqFEM5+Bp8Db4GX4fm63bhCl3mNfKPc7tTeN1s2zvkdsKqFlxKkBNuF3aBfqrajH83T1vzydNXKeuD6NmNVAygB6AHoAegB6AHssloHvYbH9uZxtYU/TIt8rc2pZwQcvKbp74LyVd59FHWMjqkbdPiqm9QtsXrnmOlndy9ApZR9cZPPcZRq6zd/8c5KXCK5l0d9skH82+jFL9jssL4cBd3kT1CHlMyYNJ2vPTuY6hQJl0yoeHBPSkD96d8+zFy3+3Ug+dUAxrKbbKQRBb87tsyACZo/pbmGSnjpxDRPWnfAfKPv8VtzzuUn2j+BuhRUSwmrkjffUqRlU+OMmW66KQpvPOSP4kAinx3qPYMBRd5vK4UXi0KokPa4718K7/rjciruYt/VvLwAvMyJe/yh2jnCckX9XNU1mJpnynJk7SYHfVcQJ2Vcsdz5LQNwv1fHQwQeqL4j/QNf8OZgIaJRjGUg6/B1+Br8HUovt5oMTJpXvzLoYzXCWVobh8JJJN8euzvlPfzvP10yjyfT5x/iXn+CYW/NAt6AHoAegB6AHognIzmYb9xtZ1p8GlrPmX7TGTguPz3TEwbHaqznHSKUXRGdMOIg74LxVd59FEeZayk6hBQvCkfnUznzfUL0q4faN6zxRezYpNMQxvNb3wvCzxuWm3t3jDQk9zlBIQ0vABAo4FvXR+j+rruFYE24cJoks/hoR7IIndKJlqXwZGlVLbgawAAX4OviwOfxGM3+INiaOB/B2VR64NNIsNcxhCln/ADAAB6AHoAsIEjGvAmyS3L39joeYLsG7S70HSlGNs8D2Dj708Zz5My3nkzIetlmm895hfMI33oktY0lLP7QbSr9gwy8D9geAEAAGgMZQu+BgAAAAAAAACAT5KzkTwtLA4bZE9R9Yn8t2g+AAi+dm8I6KD7ByED/0PH1xpCcwAAAJRW2YKvAQAAAAAAAACIwgr3OObnME4z1IJhJQCgoLV7Q+CafDDHT2qDDPyPB0oYjqE5AAAAcsNeqr7wDHwNAAAAAAAAAEBWRJea+iCK7f8dzQcAwdfupQHH4OGLZU4Yv7NhfFw++Cj6vwqXlDDcQ3MAAADkhqs58yv4GgAAAAAAAACA6HS4z0XJ5+WZ62g+AAi+di8N3qkP26F+HyLEYopDD1W74KxAkwAAAGQGXy6lb/QeyKFM8DUAAAAAAAAAAJ9kTTDomJ8vnv5Fc3HNsYYAgPBr99JgUn3YFvltsZAIE8Ia9L8VfNtuZHzhzYZeNAkAAEDN4Inoc6WPLoGvAQAAAAAAAADICWdlPfCxkrpT8q6rpC80F3JlE5oOAOq2di8FLquPW0ZzO2WPhRD60f+J4LA1F6S9JuTfDWgWAAAAZ/Bm7Ggl/aikp5V0pZLWg68BAAAAAAAAAMgRHF74Ps3HUz5Ocwdoovv4+MDob5U0UknT8u8yNBsA1H3tXgqcobldNXZL510zjjOzFDIAAAAAAAAAAAAAAAAANAl20lw8Zb6Tb0oSX/TJYYfvVtIwwUAOALnjXwXpdM2vc+fCAAADZnRFWHRNYXRoTUwAPG1hdGggeG1sbnM9Imh0dHA6Ly93d3cudzMub3JnLzE5OTgvTWF0aC9NYXRoTUwiPjxtc3R5bGUgbWF0aHNpemU9IjE2cHgiPjxtbz5cPC9tbz48bWk+aTwvbWk+PG1pPm48L21pPjxtaT5mPC9taT48bWk+ZTwvbWk+PG1pPnI8L21pPjxtbz57PC9tbz48bW8+XDwvbW8+PG1pPkc8L21pPjxtaT5hPC9taT48bWk+bTwvbWk+PG1pPm08L21pPjxtaT5hPC9taT48bW8+JiN4QTA7PC9tbz48bW8+XDwvbW8+PG1pPnY8L21pPjxtaT5kPC9taT48bWk+YTwvbWk+PG1pPnM8L21pPjxtaT5oPC9taT48bW8+JiN4QTA7PC9tbz48bWk+QjwvbWk+PG1vPn08L21vPjxtbz57PC9tbz48bW8+XDwvbW8+PG1pPkc8L21pPjxtaT5hPC9taT48bWk+bTwvbWk+PG1pPm08L21pPjxtaT5hPC9taT48bW8+JiN4QTA7PC9tbz48bW8+XDwvbW8+PG1pPnY8L21pPjxtaT5kPC9taT48bWk+YTwvbWk+PG1pPnM8L21pPjxtaT5oPC9taT48bW8+JiN4QTA7PC9tbz48bWk+QTwvbWk+PG1vPiYjeEEwOzwvbW8+PG1vPiZhbXA7PC9tbz48bW8+JiN4QTA7PC9tbz48bW8+XDwvbW8+PG1pPkc8L21pPjxtaT5hPC9taT48bWk+bTwvbWk+PG1pPm08L21pPjxtaT5hPC9taT48bW8+JiN4QTA7PC9tbz48bW8+XDwvbW8+PG1pPnY8L21pPjxtaT5kPC9taT48bWk+YTwvbWk+PG1pPnM8L21pPjxtaT5oPC9taT48bW8+JiN4QTA7PC9tbz48bWk+QTwvbWk+PG1vPiYjeEEwOzwvbW8+PG1vPlw8L21vPjxtaT5yPC9taT48bWk+aTwvbWk+PG1pPmc8L21pPjxtaT5oPC9taT48bWk+dDwvbWk+PG1pPmE8L21pPjxtaT5yPC9taT48bWk+cjwvbWk+PG1pPm88L21pPjxtaT53PC9taT48bW8+JiN4QTA7PC9tbz48bWk+QjwvbWk+PG1vPn08L21vPjwvbXN0eWxlPjwvbWF0aD6fMnnhAAAAAElFTkSuQmCC\&quot;,\&quot;slideId\&quot;:258,\&quot;accessibleText\&quot;:\&quot;backslash i n f e r left curly bracket backslash G a m m a space backslash v d a s h space B right curly bracket left curly bracket backslash G a m m a space backslash v d a s h space A space &amp; space backslash G a m m a space backslash v d a s h space A space backslash r i g h t a r r o w space B right curly bracket\&quot;,\&quot;imageHeight\&quot;:14.066},{\&quot;mathml\&quot;:\&quot;&lt;math xmlns=\\\&quot;http://www.w3.org/1998/Math/MathML\\\&quot; xmlns:wrs=\\\&quot;http://www.wiris.com/xml/mathml-extension\\\&quot; style=\\\&quot;font-family:Arial;font-size:16px;\\\&quot;&gt;&lt;mo&gt;\\\\&lt;/mo&gt;&lt;mi&gt;i&lt;/mi&gt;&lt;mi&gt;n&lt;/mi&gt;&lt;mi&gt;f&lt;/mi&gt;&lt;mi&gt;e&lt;/mi&gt;&lt;mi&gt;r&lt;/mi&gt;&lt;mfenced open=\\\&quot;{\\\&quot; close=\\\&quot;}\\\&quot; wrs:valign=\\\&quot;middle-baseline\\\&quot;&gt;&lt;mi&gt;A&lt;/mi&gt;&lt;/mfenced&gt;&lt;mfenced open=\\\&quot;{\\\&quot; close=\\\&quot;}\\\&quot;&gt;&lt;mi&gt;B&lt;/mi&gt;&lt;/mfenced&gt;&lt;/math&gt;\&quot;,\&quot;base64Image\&quot;:\&quot;iVBORw0KGgoAAAANSUhEUgAAAioAAABcCAYAAABA1J5GAAAACXBIWXMAAA7EAAAOxAGVKw4bAAAABGJhU0UAAABOUUD+CQAAGVdJREFUeNrtXQ2EltkXP15jjGQYSUYSGUlGIhnJSiQZyRgyRjISGWsliSQjGZGsJCuSMUYyrIyMJJKsJEtGkpUYWUkSI2OM14j9v+c/992dfXfe5577PPfj3PucH9eu3XrPfc793XO/zgeAQBA/KrW2r9bO19pkrb2otW+1Vq21JfXPhVp7W2tTtXa91vprbaOoTiAQCAQCgSvsqLVbtTZfa3/lbO9r7Yba6AjiwqZaG6i127U2XWufam1R1OIFi0rf00r/A2o8hDPCg02iFoEAoKvWHhTYnDRrPaJa9lhfa+dq7XXGOArco5nucVzOq3ESzggP1ouKBGXEj7D8lGN7k/Idlp+QBDzRXmtXYfkpTzeWgnALVL3hHL2mxk04IzxoF1UJyoJxBxuUlU9AAp44WGufDcZSEH6BqjcctwPCGeFBIB4IBF4x5XCTgm1SVMwS53OMpYDPAlVv54UzwgPXPNigET5cggE5SxyIUeGuddxwvEnBdlnUzA4jOccydvQZfGuoK/U84zIinDFeT6itqtq8ur14pA5f+PR1FJb9+krBg1cZgh+WwGhOEgehT9YXqzhqMAE+qYl5uMGAo+9JZ6311trpWvu11r7KuCWzWKe0UUGuzhp865GINirY+oUzRuuJzYYbmDtg9wmGHQ8uZwhFZ6WWxA3nDHEAtskaYw0dtfaFqHfMjdJq+Ps7a+2C2oRvFXWzwbpamyOM+QdYvkruyTH2XHHO0OBfDdzfVqX/C8QN1pwa37JzZgb8b1QaffKGwV4AARce/L8TZb1JwMH8Trx+E9jDdeKkuyKqKt24X4L0orTQcJvmBHrMzE5eJh4qyswZ6nrio71VB7ZUePB/ZO1YbyVsOLuJg/5K1hhr2ESczDOiqqSwBvTh58cS/fZfIJ9vAjcMavqMScLWlpgz3cBjk7LyReRYAjz4G5OaK7VUQfWTuCvrjDVcI+q8V1SVFAY04z2R6HdvL7DQ7GL4PbpUAoMl5sxR4LVRcTEmIXhAJkSq/hlXiAN9RtYZK8Crw69Ae28WpIW7UM7swU8KLDAnGX7Pbo+Hutg4cwV4blSqasMcKw/+BkZSZF3Hn0vUiFBzeMjp3g4OQxyOhAL7eKUZ80qJ+R7TTW4F/D3ZxsYZ1zmhirTfIubBv/BbhtBniRrPP4mDvEHWGSsYI+p7v6gqOSxAuRJzoSF/B2lmVc7q80KJOfOROK5ZUTFtsOzHdwiWXzrwqfwh2Ckv0hMpD/6Fi5BdL6UtMUPSShzcBRDYAiX19RJIbZ4UoavLsi6x7zUNR+aW+K0Z1hHmbxk5Q11P5gtsfLF8wK8FuHQzUh78CztBEp4J3GEbcTI9E1UliTI9r2KeoDmws1E5wuzbej0uUDFx5gfwF3aO/ibPc3BpJlIeGJ14x8XWCgpgkDiZ7oiqkoTu6vpEQt9qszQEN3+tIfAXVh0TZ44HsG+3IVzIu08e/AdZPgRfxNYKPEyq46KqJKHzNxhL5Dvx5tBm0q/HzL5PF5Y6X1LOUO2b7bwmplFlMfLgP9DVVNgt9laQEw9BHGnLjA+acX9SIp5TnfjrJ1NOPluPQV+Xq4ycodq3fZbldhluVCoR8uA/aNWcBkZAIHBzOqq3VlFVKTeqKTitHyTwG+0r+hgsAX1x4XRAXNT0dbqknAlp354BPVNtjDwwvkp6LvZWkAMdxIn0WVSVLChVZTsi/j48qb4lfOMN9ed/M9ioDEc0jydLyJl24jh+dCT/jmf5vnmwKs5qTgMxGxNBGPQSJ9KUqCpZULJ2xhz58xPh+77BPyG1Jg639yKax1dLyJnQ9m2YKP9+pDxYFbow0kEQCOwbcWzXRFXJYoAw/qci/TY8vFFKQ5xd8Xf6DTYqXEpKnCT0daCEnKHaN1eL9yhR/kikPGiK2ZBXOgJjI4lGDyu0TiuDie+HePtVVae4p7BcBRtTeodwzJsgTqQBpjrGzTuG440rHX9WOl5SbVH9t2k1DlicrD0hjrUpjuEVMzrRzSluIccw++o5Aq/2QLqh6ZRCm+8bdLQezJwgOdxkU54Y9lqUFwtn7hLH8Ghg+Xsi5UFTZJUln4f48ZI4sDuZyqwo0j8C81BIfKc8E0ifLtpORxzZqk5Aszn7heOCV727IuZ3jzqYLFn4rRYCV2N8+ttCnIOrJW4zif7hkHBzisB5mwehWDhDnW/djuS/Icj+FDEPmkJXTGsPxA1K3QTbyrYl85ShgWvWcHJt8PhtLpqLCdED+tA70zapTtCx8Hu72gTbHgdduGmMzvrTkD/b8j0DHXN4Fn0K+rBr24iBM9VAtgqUDff97BSCB013slmnqNGINynUuPM3zGTiVdpbsLuAvrewgHZBuNsUm2O0udYeOOwrPg3tjoDfF8EsdNZkHHQnsbnIbAk1bfr2Jn9/2EDHHHKG6MoC3HcgkztnqPPttSP5FP+Y7+rmL2Ye5DopzEC86AP6Kdi3zHtNNo0/O1xAi9bW6YdwGxVb0RC4YCx46O882K9gaovfHWCe5dJ0ruh4HFsuFcrB4VbG399loGMOid90c+RnBzK5c6YPwkZu/UGQPZYADzKNd1ZnOiPdqFwiEutCAJnnG/7exlp75WEBLZKn4XLAjcq5guPSTjix2W5fwN6Tmy2udRINHpW3zaCrh1KNyI6cIm5Ms24sK2D2bBo68Zuury6c4blz5pLlOWJTN/WN3MYEeNAUmyDNImLUMtl9gWXuVouaj8XzY4HT2v2AG5UilWVx8r4L1O8njPiNm5QPBb+HOld0vm9LkdiQtZBdwNVkcTLxhwqd+E3n2HrIgUzunAmxnoDaAFPWh58S4UHua6VYw5Spi9OmADLrt1QHwc9ThI3ESbMQbqOS91avm7jQ1NtTNeHRJ6Ftxe9gOuwetYCYRj71M+A3PvfY8Huinti2g/4tPQZcJegEN38thN+6Av6fOvMiry9OEXDnzHvLc4SCCugdWl2msQ/Bg0xcz+jMIvAqlkUdYEooYTWAzEX15w8Rr4PR2x0TSB1oWDw71W2X6VX+bQf6bjH8dh/YZnBThfkJthqe/qi//ZoBv58QxgUPJINqc9eyQg6GI+PT2yuD/q1hxIO82AI0Z2NqzowjBnM0dOI3nV1qcyCTM2dCrCc4BynP1Wj/2xPiQSb2azp0ILKNSg/4cTDNI/Op0vei5vSAznldBLlthtfKzxzoe4/Bt/vARuJNytcC15e4sZkjfvfegPzOelvHnAtn1CJh27Dr9M4dlKfOFwa/t9bwQBEy8ds3Td9cbQa4csb3erIeaAUIP4BbH9IQPNCSJGvhvB7ZRmWASKyJADJfaQjwCMxDzDqBHmrqIpHfMaLsMQ9jjwsCJTES+uts9jTmNwLx+13GRviy4xPRXxqOcwY1HHmH4e+a3H6GTPymq2ZcNs4MEsds3IIsHHfKbe0bcB/oEooHmZjUGLyYQC0ENhxAZtYGYqiAfKqzlwuntF+Isk8E5vHKiBxb+QZmCPJmA/G72SnMRxbdmFPoU8Y0z6J012CcQiZ+G2O4UQnJmZvEMTtZcHNMrbT9QB3IUuVBJk6AP6dT16CGovYGkNlsI9hVUP4IUZYLp7RpomzXXuInif3Yb1HmGaLMdQy4hobQx5NCC8RZ64liB+uhoHlOs8eBR8RY0Ru7Ssk442o9QT+6c0C7Aa77wJxOnAda6FL0DkM8+Eoc+DUBZDY29C+x4QxFNYIunNK+EWW3OhzzTepWStcH28+Yu8D/pjgP1x441v9KdGs2yuuY2g20B58IusxbnXa7wXiFTPymK6TYXTLOUH3RVntKrShe4Y1JnzrY3APzVAHos7KlBDwofOU5DXGgFfz7arRCvk3KFNBCGymg+onYjihYQ5Tr2hmOkhYfFyHbV6YV4vcfD8i1hxZ5VvRm6ylj20FJ6vURivn2LBqMW8jEb1lhsadKxJm8tt1Ww7QCh0vEAxKyso8ueTZ2eXHIYJPgW6bLOglDAb4b1E1BCLkrsZ/Yh58cyafkwvklENd+83iTUkfWW3s/U7uxCWjpAo552FBzuMXu03CqLJzphTAblJdM5opvHpCwV6O8w8AfJ4hEuBVApsvbqVGi7JuW5VILrt1wOOa/E+R/BndX6ZSnmLEAXMPbM99X5lkbqT8Y2w1KhePfLcgZMRi/0InfsqKUDpWEM6a2vUj7ptalXczmhi8eGOGbh1OhS4wTSTEYQGZ9F+oiLJQaUWDbKW0ikFzT25TLgeaM7VB4Ktfwlsd35kjMp5P1nn+Qqc2g5smwsYCYnNBDJ37L2kDMgZ38QNw5MwH+NiqYlwd9WDYwmx8+eGCMrPDOWeAPamXYvQFkYnSPq6gLamhbTyJyTXW/2SHnKH4HE56/d8jTfMNnpcOgD2W8x9hmUMKR71nU13egL14dgXWjOwCNqfFvTZQzeSuNF2nID7x138dojrjgQSHoQpK2Md+oVIlEqASQuSWx7w4pF9FFnPjPHeqd6kw7noC+6zA1vFgnpZ2pvaA4oaPObdZweW2gu77A+lkL9Do3WTk2YuVMFcI6086A3YjB0DywhnbNjv8s401KJ1F5swFk/unwuzcaTP4U5NZB9cs551D31M3S7Uj5XXSj8gWK5whyBXyC/Qj+nw3vGOjvGgM9bQHzCu8pcKYTwm5SGiOftiTAA6t4DnGGF/YRlfdr5DLz9mEyEbl1UHf42xno/kIiXDNZdNDJeAdje0EJR8aQdtu1kAYNdPiEia52GC5SKXCmyHyr50/ZrX7nrPpzJtXcV/M7Oxk5D6ziImRfK7cyNTxnicobjVxmI85DGIfSC0S5lxx883bgc9rx5UzMgWsmi84R5revFN8iF2UfthjoMGTit7wL91+JcMbVfEOn7Cs5bie4BLUU4YFV6LJt9jE1PpPg/92XKrM/se8OKdfEiHBpvZHrO8+iM8f4RoUSzfHaofxvBnrczUBfO8AsI3IKnHFt2zEv2emcG5a7kfLAOrKuqMaZGp8ZovK2RS6zEdRaEV2JyEU8gLg2Kp2JcA3A3N9gCzM7sZPYd5dhl/cNdBi6fMlm8O+jwoEzvuYbRnaN5bApIxHywDqyFPeZ4SYFr0cpYX/VyGVy6UPob1+EeDYp1US4lmfRqTtTr2VkK14S+nzfcR9MbgRDhuniuL2D4tEesXEmxHzDMhtLhnrqiYwH1tEP7pMf2UQ3UXGvAsiccXwVR+nD75blUk+lLx1889bIblNeRMpvCtBfDZ+1boOfPDJFMRgZd1xHDOqgeyK7o8a/NTHOhLLtpin7X0fMAyto0+woR4AXjoL/t70QMhsxQOzDRCJyTfTOpY17/OaQxh1Pd1lZRvcHthGtatH/K8IWonrwPsj2JelJmDMDAW37GUNuHEqAB4WQVTnxOfDCFeKgngkg02XumWvEPvyUiFzEJYhrkRmKlN95cBCyK8GGxMVINymhCvO99bQ4cuRMaNv+uwE3JhPhQW5kvaPibUsH8MEU+Iu+CCmTSx9Cfju1/gbXSr2xco2KrLIKocJP0Zl5PuKNiu/Eb1lPEM9KwJnQ822/ATfQX6+SCA9yYRv4K+xXFB/B/xUqVeaGxL47pFwENeInhmrfMejbFFkVZx8H6pNJNliOzXeizawaNydKwBkOtt0kOVx3IjzIjdmAV05UtBIHcyFymXn7MJ+I3DqeRnS7kArXbB1wQtzEUh3OuUeO+Ur81gHZ/ondiXOGy3z71YAfRxLhQW7cyujoNyZ9/IE4mI8DyHSZAntfgO8OKbcOaiw/18SEMfC7CFo0/TzquT/UCt/cmy+nRZ0jaSVxznCw7YjbBtwYSIQHuXFE09k9DPp4nDiYdyKXyaUPob+dmhnxKKQBDlwzRVY/b3nsh0m6b+7tR0860y2QqXOGOt/GAl4S+NiohOJB7p1uVhKaUQZ9pO48jweQOeTwu6nv7scSkVvHW6L8E5AGQvDb5aLz0KPtmiXo7XZAPZ02WIx8JX57yHCj8pDhfBty3I8JCPv0E4oHuTENYZKZ2VKoi5j8EDIb8YjYh32JyDXV/R1IAw8D69sUFdCnSPcBSrFO9KNaH1BX1GdUbB899Ul3Y5kyZ0zsm+scL08NuPFDIjwohGFwX8ekCBaIg9kauUwufQj97dRiYdOJbFQ4cM0Ea0AfTuka64EWjnyewabOJG26j01VVdOHtkQ5w2m+tRjw4rv68ynwoBB0ZcmHAvatgziYnwLIdFkTaV2gU1gouStBTTa3CPGjA3idtinQpTVY8tAHyvv+rCMDbwoTZ18fuYF0NW62JcoZE/vmut6diW/V24R4UBhZBYlChilTayNMRS6zEYcD9YEq12VRN5MU+rsj36hw4JptjrhedLZDXFFhNwz4/DODjcqhBDnDbb6ZPPvcSogHhXEdwmTG04HqjHYtcpl5+3A1Ebkr0Wkwia9B3Dgd4XfqoiZcV3imGHlOJUD6DfjsIxuo7sp/IEHOcJpvJn5LLjcMIXhQGAc0nT4QqF93wX+oagiZXPrA4dsRb4j9QIewNogXXPRtAt3TnMtEWdQbP07JqtYbLEpLHg6FOh+Na4lxJs98c7VI41PvBwM+fHHIhxA8KIyKujlp1unrgfr1kjigOyOX2Qhq0aruROQ2YsRgMo9AvODANVPc1/R1zqGNegdxRoOZVHV2nfhtDvw/64biDKf5thbMkxOOJsYD52QKVeWyCjSv6ErkMhuxFKgPSwy+HbEJ9G+oK58muyLdqFSZ6NsEutwlLxzJPUfQFZ4SNzAc53sGi5PrxG/PNPL/TIgzXObbZlhO9WGySVl0zOUQPLCCk5qOb/Lcny7igL6JXGYjthL78DoRuTaMO26kOyAucOCaKVoIG0gXjojrCCdADuHIzTBswGXXid90lYNtL9ShOJN3vtk8lLcqTi6A2SbFx02xbx5Yg86Jcdhzf6ghXJORy2xEfyCD1s/EkK40LN8NJjZe666HeNDHTN8U9ECYp5ebBLkfgE+umUbsMuCx61B0SubpPQlwJq99s2HbMbT3MphVSG7cLLUkxgOryLqe8p1g6xJxUM9HLpNLHzh8eyNGDSc4GnlXjt94YzOoDNnpRPWtwwChv7YPNNuIG1bOtZ/wZFo14LHLDfcp8OtMGoIzRebbBc3tECav2wjLmWt71QbolFr4p4g3f1kNiwFv9aAP3zzwtjAsgd8EStQy2H2Ry+TSBw7fvppheJ1jsmOa7KIp5zGaCKNMrqnbmu+WdcBR3zpcIfS317JMSsrzF8Afjwz46zLxGyWXyNXIOVNkvoVsuMYe9MRH3zywih8YEKqO98TB3Ri5TC594PDtqwEzJ3/JOfHx6nVC3YQcUKehSsNJd436f33q9mKSoIuNCes7C5TyBussyjtE1NGOCDYqVwx46zLxGyU762TEnCk630K1BfCbZM03D6xfUWbV0PjFYz8o173VyGVy6QOHb89CD9Bqu/ho1RLouxl0BRQXLHPyD4KOxiAOHDHgmOvEb4vgr46WT84UnW+hGkbYhEhB4JMHXk9Nsx4XJt8TuoeBEQnVhx4mBjQL6Ng1x8CoPCuJvleDLlnVE4uyKFlEcZHrhDiwBsyeAFxGXDwBf7XTfHKm6HwL0TAJXaiIRZ88sI5BCF+saJA4yOORy+TSBw7fTgE+A70JbFjGS6TvRix46i8a7q9QzPGRI/4w4JnLxG/jGtnzEXLGxnzz2TC55t7AfPTJA+vQVXQ966EPN4mDfSpymXn7cDIRuXmAIaijAa9yTyXCtTzQRa6csCSHUkGbczhyM0wY8Mxl4rch8Pfk6IszNuab64Y26wEs+4JygE8eOMGLwFd1U8SB741cJpc+cPh2U3Spa9PvHowLpr6+rAxMpaT6Bk/93QrxhyM3wzED3rnMn6OL+FiKjDO25puLhn4g99Whg1ueJ588cIJLms67PslQfRHaIpfJpQ8cvj0vMGMyZnGcAXve9w/Ub6IXfktC41wUuhILNgzxNEEvMYQjr4btBjx0mfhNF/GxFBlnbM23POHEeOswr8YLQ9DRxxMjvDAHSTdzPvrkgRPoMin2gUDAc+JhDgp8OsC8Ca9gOYHSojIoVfXvc2qxw5MWJmoaVqeLdaLCTOj8DQTxwFckjnBGeOAUWel/x2V8BYLSQVdduyIqigIVzTjOCGeEB5Z54AxjkJ1ISyAQlAt3IVykisAedoM+ZFY4Izy4G8NHHNV8xC4ZZ4GgVNDVbZkQFUUBXfTRoHBGeGCZB86ACYqyvO8vyDgLBKUCOvfqslkOiZpY4wToo1TWCGeEB5Z54BTPMj7kuYy1QFA6/Az6aAgM5W4RVbFCRY1LiDpDwhnhgVOchez8Eh0y7gJBqYCRUZSssVi/5CIsZ99sFbUFAep9jxqHPwljNgduIt+EM8IDp9gGCbxhCQQCqzApsCfhqP6Rd2yOCGeEB4554AxZO7BJ4YJAUEpckEUnqQXqonBGeOCJB05wG7KviAQCQTlxVhadJBaoc8IZ4YFnHliH7spuj/BBICgtDkJ2ckhZdPguUDhuB4QzwoNAPLAK9MTOqtcwKnwQCEqN9lq7CvpKubLo8Figqmq82oUzwoPAPLCKrEJhM8IHgUAAywXm8Pr4tSw6LBcoHJcLwKuKr3BGeGANw/BPUbfV2gbhhEAgWIGNsJzd+hYsF3/8AMtJpATusaj0PaX0f1SNh3BGeGCdB/8D0BPuLEQ7newAAAFpdEVYdE1hdGhNTAA8bWF0aCB4bWxucz0iaHR0cDovL3d3dy53My5vcmcvMTk5OC9NYXRoL01hdGhNTCIgeG1sbnM6d3JzPSJodHRwOi8vd3d3LndpcmlzLmNvbS94bWwvbWF0aG1sLWV4dGVuc2lvbiIgc3R5bGU9ImZvbnQtZmFtaWx5OkFyaWFsIj48bXN0eWxlIG1hdGhzaXplPSIxNnB4Ij48bW8+XDwvbW8+PG1pPmk8L21pPjxtaT5uPC9taT48bWk+ZjwvbWk+PG1pPmU8L21pPjxtaT5yPC9taT48bWZlbmNlZCBjbG9zZT0ifSIgb3Blbj0ieyIgd3JzOnZhbGlnbj0ibWlkZGxlLWJhc2VsaW5lIj48bWk+QTwvbWk+PC9tZmVuY2VkPjxtZmVuY2VkIGNsb3NlPSJ9IiBvcGVuPSJ7Ij48bWk+QjwvbWk+PC9tZmVuY2VkPjwvbXN0eWxlPjwvbWF0aD5oMnRNAAAAAElFTkSuQmCC\&quot;,\&quot;slideId\&quot;:258,\&quot;accessibleText\&quot;:\&quot;backslash i n f e r open curly brackets A close curly brackets open curly brackets B close curly brackets\&quot;,\&quot;imageHeight\&quot;:14.72},{\&quot;mathml\&quot;:\&quot;&lt;math style=\\\&quot;font-family:stix;font-size:16px;\\\&quot; xmlns=\\\&quot;http://www.w3.org/1998/Math/MathML\\\&quot;&gt;&lt;mfrac&gt;&lt;mrow&gt;&lt;mi&gt;A&lt;/mi&gt;&lt;mi&gt;a&lt;/mi&gt;&lt;/mrow&gt;&lt;mrow&gt;&lt;mo&gt;\\\\&lt;/mo&gt;&lt;mi&gt;G&lt;/mi&gt;&lt;mi&gt;a&lt;/mi&gt;&lt;mi&gt;m&lt;/mi&gt;&lt;mi&gt;m&lt;/mi&gt;&lt;mi&gt;a&lt;/mi&gt;&lt;/mrow&gt;&lt;/mfrac&gt;&lt;/math&gt;\&quot;,\&quot;base64Image\&quot;:\&quot;iVBORw0KGgoAAAANSUhEUgAAAZQAAADhCAYAAADvXUNmAAAACXBIWXMAAA7EAAAOxAGVKw4bAAAABGJhU0UAAACII0eZjAAAGKhJREFUeNrt3QGEFtvfwPGfZCWJJEkSSa78JVaSZF2SrCSRlStJJEmSyJUkiVy5cmW5VrKSSJIklyS5cl2StXJlSZJkRZKVtaJ3fnfP8zY795lzzsyceZ7Zme+H433df3tm5jwz58z5nTPniAD1cjZK30w6RXEAAPJYHqUvsQblJkUCAMjjZqwx0TRCkQAAsupLNCaavkZpDkUDAPCljcaLNg2KprUUDwDA14mUxkTTbooHAOBjSZQ+WRqU8xQRAMDHVUtjoukWRQQAcFnvaEw0jVFMAACX5x4NCjO9AABWhzwak1baQHEBANpZFKUPGRqUAYoMANDOrxkaE02/UGQAgCT9UPFrrLGY8mhQ7lBsAICkJ7GG4n2Uzng0KG8pNgBA3N5EQ3EgSjvEL+w1l+IDAKj5pqfRaiCemf++yLNB2UIRAgDUhUQDsT72v014NCh7KUIAwCqZOfg+lPjf73s0KIMUIwAg3mDoQpCLE//7oDDTCwDgkBx0P9rm3/zk0aB8pCgBoLl0ZtarWKMwmvLvNonfwHzPLLp2HSM6JdOrJb+M0heZDvt9MeWgvbKNbf5Ov9PZH6UrUboepXtRemP+bju3FICmSn5j0mdpeL56NChVr1A1lHc60Yi6kjY4i2J53LX825XcUgCaaLnMnL11w/HvX3pUvvsr3JBcNL2I5ErJt2V6LTItj9aqySuidFK+r2f2VL5/Z/Ml5dpHuKUANNWNWGU4YSpUm1seDcpQBa/zsEyP77Q7V9c1a8PS+jbnbJR6hfXMAGCGLYnK8JTH35z1aFD+qNA1LovSI2m/TEyWjzD75Pukg2OWa9/GbQWgaTSs8yJWEb4Uvw2ydnk0KJ8rco1auY+3Ob8/o7QkR34j5u/TlvSfEjYZA9BAJ3K+Wa8Uv0HsRV2+vrRexMMozcuZ51XHNd/ntgLQNPp2/rFARTjp0aD0d/H6LqWc05MCjYk65bjm49xaAJpmSGaGaVZl/PtHHg3K4S5d25WU83kZoNfkGj9ax60FoEnWJyrBcznyuObRoAxXqGfyKUej2Y5t6ZkP3FoAmuZ5rBJ8LflCQAc8GpTHHb6u45Zz2RXoGMOWY9zk1gLQJAcTleDunPls92hQJjt4Xf2W87gW8Di2r+P3cXsBaAodP4hPoX1YIK8e8ZvptawD17Vapqcptzv+ewk72+y15VqXc4sBaIr4+IIuNbK2YH7vPRqUHSVfk37zMdKhXoNtHbMxbi8ATbE2URleCpDnHY8G5UTJ13XRcuy/Ah+rz3Ks37nFADTFY5kZBlpQcmXeStdLvKb1jmNvDHw823Iru7nFADTBXiknDLTHo0F5VuJ12UJdZXyxbuuRLeI2A1B38+X7Krmhw0D/k+7N9DriOG5v4OPNkfTVAViuHkAjnBf/DaTKSqtLaCRtEwLK+P5lm+V4l7nNANTdKvFbc6vstCvwdZ10HG9rCWU5ZDneTm41AHV3rwKNiabTAa9Jp+6OW45VxvRdPeanlOPpzLkebjUAddZfkcYk9JIkBx3HOllCWe61HO8ptxqAOtM36lcyczXh1SUd65xHgxJy0Pqp5TjaW1hawjU+Ebb7BdBQpxOV3q8lHmvAo0HRij7ELoZrHMd5VML1ub512cHtBqCudO2sCZm5bPviEo+3QfzCXmsDHMu1F8mREq7vuqOhnMstB6CubiQqvVMlH2+OZ4MS4kvyZ45jrAh8ba4eEeMnAGprS6LC0w8aOzED6a1Hg3Kh4DEWOvJ/VcJ13XIc8xK3HIA60p7Ci0SFd6BDx/ZZJPJWwWPsls6uGbbe45r4/gRALSV3Kxzt4LEHPSrfoj0I1xf/BwNf03NxTzSYz20HoG6WyH8/vNvWwePvk/Jnerl6QdsDXk9rVeFxSf+gcZTbDkAdXZPu7uXu+xFlkeXkRxx5h1rtN777o20BSvY/AVA7m9pUdus6fA7zPRuUgQLHmHDkHeI7l55YwzUs9uX593DrAaiTdgPxw106F1eFX3RWlGuRy5A9PV0PbIHpheTdP34BtyeA2eTnRCWnS6ys7NK5PPRoUO4UyN+Vd1En5Pv+La0e3mjKscYdeekEgXcy/R0LAFSeNhxfpDpx/WGPSv9Dgfy/OPIushpAfPmYQ+a/2cJ4tinQrenNer693KYAZoN2PYL/dfF8fBaJ1LQkZ/6ujyfzrqm10/TsNI/BxH/PuqLx9lhe7DEPYFY43KaSe97lczog5S7B4po2/FvBc9aFJeMD+xcsx+pvk1dfrBd1hlsUwGwQn9YaTxe7fF4+36Joupoz/9OOfHVSgO/S9bqg4+VEY7wwQwOWHHDfEvtNhrlFAcwGGtcfkfIWXyzijGeDMi75pvj6LIXyRNyzqzbLzJlxL6V9GM4WYouf/+5Yz+SRsPowgFnivnRu3/as/hT/HRzzrjH23CPv11E6KjNnu600PajkOY5I+piObZrysCnva4leDlOFAVSeVlSu/eFvdfH8Dkm2LYG1l7I8x3G2SrhtibU3Yfu6Pkte/0j+yQYA0BEaWtlv3rp9KrbbMr3hVafObas5Zp4Kfdz0VLKGiIYCNCY+402TnnmN0pgAqLK5pqJ2fXthG6B+INObbf0U8Jx0iXgdrNZQ0VSgnoLmoxtn3ZTp8Q2f83iQ81g6drLJ83r/Fr8xm0XcrgCqrCdgaOdKBc8pLe3LcD5nMjRqL0xvKMtkgGNiXzn5vIRZPwwAUAE6TVi3ONaPPHXa7qTp1b0zPSltdIp8ra57zIzF8tWGSdcjW0XRAwAAAAAAAAAAAAAAAAAAAAAAAAAAAAAAAAAAAAAAAAAAAAAAAAAAAAAAAAAAAAAAAAAAAAAAAAAAAAAAAAAAAAAAAAAAAAAAAAAAAAAAAAAAAAAAAAAAAACAevpGIpFIpMYlGhQSiUQi0aCQSCQSiQaFRCKRSDQoNCgkEolEokEhkUgk0mxqUAAAAAAAAAAAAAAAAAAAAAAAAAAAAAAAAAAAAAAAAAAAAAAAAAAAAAAAAAAAAAAAAAAAAAAAAAAAAAAAAAAAAAAAAAAAAAAAAAAAAAAAAAAAAAAAAAAAAAAAAAAAAAAAAAAAAAAAAAAAAIBgHkTpW5v0MUpzKB4AgK8DKQ2Kpm0UDwDA16IofU1pUIYoHgBAFg+FsNeaKO2J0i9RuhmlP6L0IUoTUZqM0pT5vxOmXB5H6bZpdLWX1x+lnpzHXhulV1E6wa0IYLY7JOlhr601veZl5rq1Ufhsuf4sSXt6o1G6EqWdUZrrcR6bozRu/v48tyKA2W6JNCPsNc80Ik8CNSCuNGl6O3ujtDJ2HtqT0fGpqw1pvAE0zCOpb9hLK/NLMh2ucjUCX0yv5VSUdsl0KKynTcO0KUoDJt+/AzQ+U8KsOgA1cVjqF/ZaLtPhpylxh6puyPQ4SN5KXUNop6P0NmeD8pBbEEBd1CnspT2Is6a34QpJ/WIag1B6TO/GdexkOs0tCKBOHqdUdh9k9oRjdJB7zKMCvxulFSWex+oojWRoUDZz+wGoE1vY68eKn/sc09twVdw6JrSnQ+e0QNKnZCfHbRg/AVArSy2V3u8VP++/PCruFzJztlUnaPjtqUdvCQBqJy3sNV7R8+2N0juPxkRnsS3sYoM3bjm349x2AOroiMyesJd+y+EzFfiB6Sl0017L+fVy2wGoo2UyO8Je+o3IV4/G5M8KNCYtz9uc3wS3HIA6S/uSvCphr37PxuR1lBZXqFzb9VJucbsBqLNjUt2wV59Mfz/is+zJuoqVq87k+pg4z8PcbgDqzBb2utLF81rTpkJOS1WtqG8kznMttxuAukub6tqtsJfu2+LzwaKm+xUu13jY6wO3GYAmOC7VCnvd9WxMdCn65RUu13Wxc73JbQagCZZLdcJeh8V/CZOjFS/XObFzPcBtBqApqhD2WiV+35poGpkl5dpaOHI1txiApjhhqbz7OnQOjzL0Tn6cJeWqC0EOcHsBaJIVlsr7tw4cf4+wnwgA1MazlAr8fcnH1bGG1xkalA38VJmsl+l9W/TDypcyHYabMv93NEqDUdrY5u90mvN+mR5Hux6le1F6Y/5ue8Dz06nruhrCGXOOei/8lDEPXe1Zt3zWHTg/xa5PFwnVnTZXBrhHtad505TBpDnGmMl/WYm/H+XTjOegdk5aKvEtJR73eIbG5Ak/kxddNUA38nqVoWz1QVsUy8M2225lzkpHH1idTv276WlOFMy/tcGaa+zti6mU85zzCfNS5doqoeg+N5RPM56DxljZhbDXXPFbQbiVdvAzOR+gi/LfXSS/mrdTfYtcLt/3ZFlhXiQ+mH/31PwmIuk7UfpMiNDVnvtNZXPDvAF+9fyNxzyvdUvGnu2kZPu4dJN5k/XN/6P4L/9D+TTjOSDs1eGw16EMN+QYP4/VYWm/usCQuL/X0Qfqrfn3+kbba/kdfvE4l0nJti1y1peXn3Pm7bvF9dmc+Z/3zJ/yacZzQNirw2GvLFvn/szP05bGp9vNkHub8Tfri71J2tZ42+aR12WZjjlfMeGb25Y3vay90KsFKuM3jrx7zLnmzd/3rZXyacZz0HirOhj22pjhRtSu6lJ+nv/Qm7rdhl66lP+SAg38h5TfYUryb2Gscennjt95KhZqaBcevS//jXdvMee0VNxTz6cs5zevzd9r6GOPOfZ8mR6UdY1FCOVTSvnU5TlonOcdCnv9lqFBecTP8h9pb08PJf++MK6326Jrp+0vkP/dxJv05owvRLYKTSvEP2Tmsj77Uir9vBUy5VO8fOryHDTKqQ6FvVwzQ1j6Pd0lSZ8FN6+k3z7EFsZHcuZ/PfFyschyDFv+z1L+Jr4ytM4IWp0z/w+UT6nlU5fnoFFWWwrycqBjbJZssdfl/Cz/70pKGb10VCQ+XIOtRfedGXbk326W0TmZucimLdSw2JH/Ncc1/y32mUg9jvzvUj6llk9dngPCXia9C5R/llkio/wczjeyTyacUdRgyW+XTyTbgHB8C4DrHvnvctxL+xP/fofMHA9Y4Mh/kyP/c5RPqeVTl+egcU6XHPb6I0ODMsjP8S/bB6C7Ah3D9oZcdAl+fXOesuR/NfHv9cvm1syn24FeVOKhGp0i+jH20uLzVnvQkf8Wyqe08qnLc9BIa0oMe+mDk2Ue/m5+jn8/gssSpsjL9lXwvoJ5r3f8zvHKYJF5I2/Fw+d6HuOOJf/XiXvwr1iv23cG4U2xD2jPoXxKK5+6PAeNNVpS2GutZBs/6fTyBvqWNtChtNTzfD5L+sy7RQGv3fZlddFxrJ/EPi18XpsHWj9mzfJ19YTnG/7FWCXXmyH/zyW+uVI+zXgOGuuMpVA3Fcg3y8rCE1247iOS/8OtrGmrR29upENvS3MlffmPEKsU2L5ReBz7d61N1j6bnnKoF5XWG358QkiWRRY3OPI/RPmUVj51eg4a6wfLD/hrgXxdU/K6vVS9xo51MFIHPI+bN7c/xX+tpbSks0+GTYWgYbztHm9VFy35/RX4uvssx/o9QP7/WPI/FXsL/SL54uG2bzh0bEJnIOnHd6+k/ZiEi2s5kxWUT2nlU6fngLCXtF/OIK9rGSrh4QqVhYbeHuRoSLQxWp/jeK6Y+sbA12dbZqLoONZCx7X0mrfQ1lpyecbpbPH7e+bfDMYa96zfKdi+Mh+jfEornzo9B413toQf8laGyvhcxcpjrmRbYfVWgWPZuvhlfKlrG7AtGp/ebcl7PPGGOyr+g8xxtlWr95vwYms8ojfH726bgTVI+ZRWPnV6Dgh7lRD2upehQt5bwTIZ9jz315L/a13XOE5v4GuyzbwLsaDfFUcv9AdTIWVdQj0eprSFc5bFQjl5FhntF/8ZWJRPuPKp23MASY/t5g173c/QoOysYHlc9zz3oznz1zi2bVmaxyVc0zYpd3WEUUv+A7FQzsmc+e9zhHMuy/cvvfP4VewzsHoon+DlU8fnACWEvbI0KFXcYvOOx3nrW9+CnPmflGIzw/IYKrFRX+iobFpLhxQZXL3h6Em3NpBakzP/kRIrNsqnGc8BjLWBw15ZGpStFSyPtx7nfS9n3hqLHpfObjKmx/xU4tv3gNiXE/lsjrO2wDHeWxr2MfP/n8mZ9xLHb32K8glePnV8DhDzUvJtyNNOlg16qtagLPU877yrI7uWrjhZwjXttRzvaYD8fTZ8ulQg/zXiN541N2f+A468N1A+wcunjs8BYs4FDHtl2VGuag3KgOd5/5Az/6fS+U3GbAsShtjm9I249xpfWCD/gx6/x54C+V93nDvlE7586vgcIGZdwLDXUZm9Yyg+M7ze5Mzb9SZZxiZjrjn+Owrm/4NHeZ0ueAzXNPSiq1XbBoZvUj7By6eOzwFKDHv1i3+DUrUPiXw2Bcv7MaZrJdgjJVzPdceb4NyC+R/zePteUPAYn6W8mYKuCv8nyid4+dTxOUAbFyRMnLRH/JcxOVah6+/1POeBnPk/k3KX9sj6JhgibuyagHG+YP4bxb3cTRGu3vQyyid4+dTxOUDGbuGlwDdNGUtSF+W7KdjiHHm7lt54VcL1uEIhlwrm7/p6+muAyuF0yW+ztiniI5RP8PKp43MAizFx76Xg45xn5VyltwOfRjBvJbPbke/1wNeyXsr/qHSnI/8Qy2bY1o/SRRSL7Cs+R74vxFjGh26UTzOeA3Qg7OXzQ1Zp/vcyz/PNOxvkvCPfg4Gv57lHuc8veIzfpdzxMdsy45qGCua/RcqdMEL5NOM5gIVtHOFixrxeeFbSuypw3Qc9z7W/hNBB6NlurYFg/XAs7UOu0QDHsU1g+CjFd+9z7Y9edLtZWy96KsD5Uz7NeA7g8CpQ2Mt3I6sbFbhmn48xpyT/bJARR96hVjmN73pnK/+i+z64JjBcCXAttgUV3wTI/88Sw1GUTzOeA3j4JVDYS+O3Hzwr6qVdvF7X4GmIzcAmHHnPCXAdPbEHVqc223bO3FPwWGdKfjtWY1LOBnBiwhy2cNFxyqeU8qnbcwAPGwKGvVy7vOXNN6QdnudYZE2nSUfeIbQ2NtOKZoHYY/iufbNd30b8Zcn7XYBrcU313FQwf1e4yLWuljYYfZRP5vKp23MAT68Dhb3miXvpidZKqKu6dK1Dng1KkTWdvpX8IJ2IleM689/Slkwfd+R10FR6aSvTLnZcS4hlwI+Le0OqssJF7x1/29pq96O0n1BC+aSXT52eA2RwKWDFulv8KuxHXbjOOZ5huYmCx/ki4b9taYmvP3YoFrLIs8tk67fS803b3Giv41p+DPC7/GHJ/2qA/G0TRmxTVzfHwqMDlE/m8qnTc4Auhb1E/DetOtPh69zueV5F13RyLYmfdy2hnbEHeDDx37Ou5Lo9lpdtSqtt7/IPAX4T15hW0VmBrhWlD6X83Ur5vuT6EOWTq3zq9Bwgo7RQVZ6vWReI/zTifR28xlue53So4HFc0yV/y5HngUTvLj6gafueqN3U577Y2+MZR49uouS3Y1v8vshMu5Y9jt+iXexfZx+1djbVD2DnUT65yqcuzwFysG37uT5HfitMTNKnAj/egetb63ku38zbVxGuJTImxH+mm1YYl2N/qx9vLczw4CYHGnXGUWuKpWvhyx9LesOMs41pPQyQ/6DjGpJxfy3b1iC7voEvp3xyl09dngPkYFt47kLOPNdkaFRuSrh56UmLM/SYQqwv5LNywBNxzyrZnDhvXfxvScbQQvwNbnfsjeyRx9ut7SVjUsJM+3yXI0yRxWPxHxheKt+/tp4Q9/gh5dOM5wA5pf0gRbbo1DeYUc/KXGeUHA30ILb0in0Of3JphhOBjvvc43ivzfXGe0QrTRgw+aHZSMpDJGKfnjlswibXEm93PlMkX0q+Qc5QvcZ1AY7hGhj+wbyFH5LvYwIaStpG+RQun7o8B6hI2KtFZ1/4DtR/Mw2bxjRXF+wlZDnmHcm/M2M7WzMc22dGnK33liWvfywPZNxqKXfvEDFv2GUOaIv4b60Q71n0Uz6Fy6cuzwEK2FxC2EsSXc23GX/4MfNWsd/cyMvadFHnmXPfY2LC/2TI/1agN712hgI8RD6z7CY98xrN8BAdc/TkQoQnH0t5M+1axjOUtVbSfZRPkPKpy3OAkmK2Y4Hyn2d6H58CvrlkTXrsS1J88N1FG74HOc9RY8a+X0D/7RmrzlLJ2b59eBygbFzLfRwI9Btc8yxvHWheQfkEK5+6PAco6LeSwl5JC0yX/mWHGhGN+96T6Q/ROj0Id0b81g9rPUBaWWQZR3K9LZ/PmJ9rqfQQg8Gu6aqhdvKLLxyYthLwCconaPnU5TlAoLDXZEo6V9Ixe82P/TxHTNd2A42aENgu6f5MDp0ho+uDPTQPsJbnF9MjvGMetiJf6R43vchWvi9ML2wVt/S/g9t3YuWukz9umwqrh+LpaPnwHKCjNCTWb24MnZlx1/RiPrVp4D6bm1+70xpT1oXhdGZInzAVEMAs93+a8KX+e8sNoQAAANl0RVh0TWF0aE1MADxtYXRoIHhtbG5zPSJodHRwOi8vd3d3LnczLm9yZy8xOTk4L01hdGgvTWF0aE1MIj48bXN0eWxlIG1hdGhzaXplPSIxNnB4Ij48bWZyYWM+PG1yb3c+PG1pPkE8L21pPjxtaT5hPC9taT48L21yb3c+PG1yb3c+PG1vPlw8L21vPjxtaT5HPC9taT48bWk+YTwvbWk+PG1pPm08L21pPjxtaT5tPC9taT48bWk+YTwvbWk+PC9tcm93PjwvbWZyYWM+PC9tc3R5bGU+PC9tYXRoPmPPzCAAAAAASUVORK5CYII=\&quot;,\&quot;slideId\&quot;:258,\&quot;accessibleText\&quot;:\&quot;fraction numerator A a over denominator backslash G a m m a end fraction\&quot;,\&quot;imageHeight\&quot;:36}]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4F90C846-F93D-E14E-8991-C768684F7846}">
  <we:reference id="wa200005566" version="3.0.0.3" store="en-GB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12342</TotalTime>
  <Words>2286</Words>
  <Application>Microsoft Macintosh PowerPoint</Application>
  <PresentationFormat>On-screen Show (16:9)</PresentationFormat>
  <Paragraphs>823</Paragraphs>
  <Slides>85</Slides>
  <Notes>85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3" baseType="lpstr">
      <vt:lpstr>Arial</vt:lpstr>
      <vt:lpstr>Cambria Math</vt:lpstr>
      <vt:lpstr>Helvetica</vt:lpstr>
      <vt:lpstr>Inter Medium</vt:lpstr>
      <vt:lpstr>Nunito Light</vt:lpstr>
      <vt:lpstr>Open Sans</vt:lpstr>
      <vt:lpstr>Roboto</vt:lpstr>
      <vt:lpstr>Minimalist Pitch Deck by Slidesgo</vt:lpstr>
      <vt:lpstr>Proof Search in  Classical Propositional Logic  with Partial Proof Terms</vt:lpstr>
      <vt:lpstr>Motivation &amp; Partial Proof Terms</vt:lpstr>
      <vt:lpstr>Finished Proof</vt:lpstr>
      <vt:lpstr>Finished Proof</vt:lpstr>
      <vt:lpstr>Finished Proof</vt:lpstr>
      <vt:lpstr>Unfinished Proof</vt:lpstr>
      <vt:lpstr>Unfinished Proof</vt:lpstr>
      <vt:lpstr>Unfinished Proof</vt:lpstr>
      <vt:lpstr>Unfinished Proof</vt:lpstr>
      <vt:lpstr>Unfinished Proof</vt:lpstr>
      <vt:lpstr>Unfinished Proof</vt:lpstr>
      <vt:lpstr>Unfinished Proof</vt:lpstr>
      <vt:lpstr>Unfinished Proof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LKT &amp; Focusing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NKT &amp; Intercalation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Focusing vs Intercalation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Ana Catarina Sousa</cp:lastModifiedBy>
  <cp:revision>20</cp:revision>
  <dcterms:modified xsi:type="dcterms:W3CDTF">2025-07-17T10:11:13Z</dcterms:modified>
</cp:coreProperties>
</file>